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877a3171b084e30" /><Relationship Type="http://schemas.openxmlformats.org/officeDocument/2006/relationships/extended-properties" Target="/docProps/app.xml" Id="Rdbb5d9465efe4971" /><Relationship Type="http://schemas.openxmlformats.org/officeDocument/2006/relationships/officeDocument" Target="/ppt/presentation.xml" Id="Rb8fa0999baf84a7c" /></Relationships>
</file>

<file path=ppt/presentation.xml><?xml version="1.0" encoding="utf-8"?>
<p:presentation xmlns:p="http://schemas.openxmlformats.org/presentationml/2006/main">
  <p:sldMasterIdLst>
    <p:sldMasterId xmlns:r="http://schemas.openxmlformats.org/officeDocument/2006/relationships" id="2147483648" r:id="Rec3c6f57c2894c7f"/>
  </p:sldMasterIdLst>
  <p:notesMasterIdLst>
    <p:notesMasterId xmlns:r="http://schemas.openxmlformats.org/officeDocument/2006/relationships" r:id="Rf28d417a0e4e4f4a"/>
  </p:notesMasterIdLst>
  <p:sldIdLst>
    <p:sldId xmlns:r="http://schemas.openxmlformats.org/officeDocument/2006/relationships" id="256" r:id="R48a1a4e337984396"/>
    <p:sldId xmlns:r="http://schemas.openxmlformats.org/officeDocument/2006/relationships" id="257" r:id="R5b2bb2d9f1124554"/>
    <p:sldId xmlns:r="http://schemas.openxmlformats.org/officeDocument/2006/relationships" id="258" r:id="R53a2a9ddb89b4174"/>
    <p:sldId xmlns:r="http://schemas.openxmlformats.org/officeDocument/2006/relationships" id="259" r:id="R58ae460f56494cd5"/>
    <p:sldId xmlns:r="http://schemas.openxmlformats.org/officeDocument/2006/relationships" id="260" r:id="R1af498c8e38c42e7"/>
    <p:sldId xmlns:r="http://schemas.openxmlformats.org/officeDocument/2006/relationships" id="261" r:id="R86d9691ed15944f6"/>
    <p:sldId xmlns:r="http://schemas.openxmlformats.org/officeDocument/2006/relationships" id="262" r:id="R57fded22e03c486d"/>
    <p:sldId xmlns:r="http://schemas.openxmlformats.org/officeDocument/2006/relationships" id="263" r:id="Rebcba4f516c74d9d"/>
    <p:sldId xmlns:r="http://schemas.openxmlformats.org/officeDocument/2006/relationships" id="264" r:id="R3af478e3e02348d9"/>
    <p:sldId xmlns:r="http://schemas.openxmlformats.org/officeDocument/2006/relationships" id="265" r:id="R026c7eb56a584f77"/>
    <p:sldId xmlns:r="http://schemas.openxmlformats.org/officeDocument/2006/relationships" id="266" r:id="R8260f86a81974f82"/>
    <p:sldId xmlns:r="http://schemas.openxmlformats.org/officeDocument/2006/relationships" id="267" r:id="R94e4af9c36184f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9f42e9652a4b0c" /><Relationship Type="http://schemas.openxmlformats.org/officeDocument/2006/relationships/slideMaster" Target="/ppt/slideMasters/slideMaster1.xml" Id="Rec3c6f57c2894c7f" /><Relationship Type="http://schemas.openxmlformats.org/officeDocument/2006/relationships/notesMaster" Target="/ppt/notesMasters/notesMaster1.xml" Id="Rf28d417a0e4e4f4a" /><Relationship Type="http://schemas.openxmlformats.org/officeDocument/2006/relationships/presProps" Target="/ppt/presProps.xml" Id="R37374c46df994fbc" /><Relationship Type="http://schemas.openxmlformats.org/officeDocument/2006/relationships/tableStyles" Target="/ppt/tableStyles.xml" Id="R81c770f517624b1e" /><Relationship Type="http://schemas.openxmlformats.org/officeDocument/2006/relationships/slide" Target="/ppt/slides/slide1.xml" Id="R48a1a4e337984396" /><Relationship Type="http://schemas.openxmlformats.org/officeDocument/2006/relationships/slide" Target="/ppt/slides/slide2.xml" Id="R5b2bb2d9f1124554" /><Relationship Type="http://schemas.openxmlformats.org/officeDocument/2006/relationships/slide" Target="/ppt/slides/slide3.xml" Id="R53a2a9ddb89b4174" /><Relationship Type="http://schemas.openxmlformats.org/officeDocument/2006/relationships/slide" Target="/ppt/slides/slide4.xml" Id="R58ae460f56494cd5" /><Relationship Type="http://schemas.openxmlformats.org/officeDocument/2006/relationships/slide" Target="/ppt/slides/slide5.xml" Id="R1af498c8e38c42e7" /><Relationship Type="http://schemas.openxmlformats.org/officeDocument/2006/relationships/slide" Target="/ppt/slides/slide6.xml" Id="R86d9691ed15944f6" /><Relationship Type="http://schemas.openxmlformats.org/officeDocument/2006/relationships/slide" Target="/ppt/slides/slide7.xml" Id="R57fded22e03c486d" /><Relationship Type="http://schemas.openxmlformats.org/officeDocument/2006/relationships/slide" Target="/ppt/slides/slide8.xml" Id="Rebcba4f516c74d9d" /><Relationship Type="http://schemas.openxmlformats.org/officeDocument/2006/relationships/slide" Target="/ppt/slides/slide9.xml" Id="R3af478e3e02348d9" /><Relationship Type="http://schemas.openxmlformats.org/officeDocument/2006/relationships/slide" Target="/ppt/slides/slide10.xml" Id="R026c7eb56a584f77" /><Relationship Type="http://schemas.openxmlformats.org/officeDocument/2006/relationships/slide" Target="/ppt/slides/slide11.xml" Id="R8260f86a81974f82" /><Relationship Type="http://schemas.openxmlformats.org/officeDocument/2006/relationships/slide" Target="/ppt/slides/slide12.xml" Id="R94e4af9c36184f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355471e4df4e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766c1ea1a8419d" /><Relationship Type="http://schemas.openxmlformats.org/officeDocument/2006/relationships/notesMaster" Target="/ppt/notesMasters/notesMaster1.xml" Id="R2975b7bec02f45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60c9ffed3c4371" /><Relationship Type="http://schemas.openxmlformats.org/officeDocument/2006/relationships/notesMaster" Target="/ppt/notesMasters/notesMaster1.xml" Id="Rc3cf4e54ecc44f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dacbd13cdd4ef6" /><Relationship Type="http://schemas.openxmlformats.org/officeDocument/2006/relationships/notesMaster" Target="/ppt/notesMasters/notesMaster1.xml" Id="Rfda74d4eee0942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a79a86ea3d4fcd" /><Relationship Type="http://schemas.openxmlformats.org/officeDocument/2006/relationships/notesMaster" Target="/ppt/notesMasters/notesMaster1.xml" Id="Rd14f9ea62e5b4a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60ddfa03a4417d" /><Relationship Type="http://schemas.openxmlformats.org/officeDocument/2006/relationships/notesMaster" Target="/ppt/notesMasters/notesMaster1.xml" Id="Rc8756178c8704e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ba5ccfb5ae44d8" /><Relationship Type="http://schemas.openxmlformats.org/officeDocument/2006/relationships/notesMaster" Target="/ppt/notesMasters/notesMaster1.xml" Id="Rad648624a83241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8b4d9dc8584cc0" /><Relationship Type="http://schemas.openxmlformats.org/officeDocument/2006/relationships/notesMaster" Target="/ppt/notesMasters/notesMaster1.xml" Id="R1749cb4006a541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d4a2d3b66642c4" /><Relationship Type="http://schemas.openxmlformats.org/officeDocument/2006/relationships/notesMaster" Target="/ppt/notesMasters/notesMaster1.xml" Id="R22702b74eeae42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8ea0402dd24b14" /><Relationship Type="http://schemas.openxmlformats.org/officeDocument/2006/relationships/notesMaster" Target="/ppt/notesMasters/notesMaster1.xml" Id="Re77a644a29444e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553d607f2d4343" /><Relationship Type="http://schemas.openxmlformats.org/officeDocument/2006/relationships/notesMaster" Target="/ppt/notesMasters/notesMaster1.xml" Id="R4c917c65d7744a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7683cb1d694339" /><Relationship Type="http://schemas.openxmlformats.org/officeDocument/2006/relationships/notesMaster" Target="/ppt/notesMasters/notesMaster1.xml" Id="Rc511743cd2d54e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7f565ed96a4bb4" /><Relationship Type="http://schemas.openxmlformats.org/officeDocument/2006/relationships/notesMaster" Target="/ppt/notesMasters/notesMaster1.xml" Id="R70bf3343f660453f"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1 — Deep Learning selon la nature des données</a:t>
            </a:r>
            <a:endParaRPr lang="fr-FR" dirty="0"/>
          </a:p>
          <a:p>
            <a:endParaRPr lang="fr-FR" dirty="0"/>
          </a:p>
          <a:p>
            <a:r>
              <a:rPr lang="fr-FR" dirty="0" b="1"/>
              <a:t xml:space="preserve">Durée cible : 30 à 35 secondes</a:t>
            </a:r>
            <a:endParaRPr lang="fr-FR" dirty="0"/>
          </a:p>
          <a:p>
            <a:endParaRPr lang="fr-FR" dirty="0"/>
          </a:p>
          <a:p>
            <a:r>
              <a:rPr lang="fr-FR" dirty="0" b="1"/>
              <a:t xml:space="preserve">Discours</a:t>
            </a:r>
            <a:endParaRPr lang="fr-FR" dirty="0"/>
          </a:p>
          <a:p>
            <a:r>
              <a:rPr lang="fr-FR" dirty="0"/>
              <a:t xml:space="preserve">Bonjour. Dans ce projet, j’ai travaillé sur trois types de données : des données tabulaires avec Titanic, des images avec Fashion-MNIST et du texte avec des poèmes de Victor Hugo. Pour chaque problème, j’ai choisi une architecture adaptée : un MLP, un CNN, puis un SimpleRNN et un LSTM. Mon objectif n’était pas seulement d’entraîner ces modèles, mais aussi de comprendre leurs résultats, leurs erreurs et leurs limites.</a:t>
            </a:r>
            <a:endParaRPr lang="fr-FR" dirty="0"/>
          </a:p>
          <a:p>
            <a:endParaRPr lang="fr-FR" dirty="0"/>
          </a:p>
          <a:p>
            <a:r>
              <a:rPr lang="fr-FR" dirty="0" b="1"/>
              <a:t xml:space="preserve">Transition</a:t>
            </a:r>
            <a:endParaRPr lang="fr-FR" dirty="0"/>
          </a:p>
          <a:p>
            <a:r>
              <a:rPr lang="fr-FR" dirty="0"/>
              <a:t xml:space="preserve">Avant de présenter chaque expérience, je vais expliquer le protocole commun que j’ai utilisé pour obtenir une évaluation honnête.</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2 — Un protocole commun pour trois problèmes</a:t>
            </a:r>
            <a:endParaRPr lang="fr-FR" dirty="0"/>
          </a:p>
          <a:p>
            <a:endParaRPr lang="fr-FR" dirty="0"/>
          </a:p>
          <a:p>
            <a:r>
              <a:rPr lang="fr-FR" dirty="0" b="1"/>
              <a:t xml:space="preserve">Durée cible : 50 à 55 secondes</a:t>
            </a:r>
            <a:endParaRPr lang="fr-FR" dirty="0"/>
          </a:p>
          <a:p>
            <a:endParaRPr lang="fr-FR" dirty="0"/>
          </a:p>
          <a:p>
            <a:r>
              <a:rPr lang="fr-FR" dirty="0" b="1"/>
              <a:t xml:space="preserve">Discours</a:t>
            </a:r>
            <a:endParaRPr lang="fr-FR" dirty="0"/>
          </a:p>
          <a:p>
            <a:r>
              <a:rPr lang="fr-FR" dirty="0"/>
              <a:t xml:space="preserve">Pour les trois expériences, j’ai suivi le même cycle. D’abord, je sépare les données en trois jeux. Le jeu d’entraînement sert à apprendre les paramètres du modèle. Le jeu de validation sert à choisir l’architecture, à suivre le surapprentissage et à décider quand arrêter l’entraînement. Enfin, le jeu de test est conservé jusqu’à l’évaluation finale.</a:t>
            </a:r>
            <a:endParaRPr lang="fr-FR" dirty="0"/>
          </a:p>
          <a:p>
            <a:endParaRPr lang="fr-FR" dirty="0"/>
          </a:p>
          <a:p>
            <a:r>
              <a:rPr lang="fr-FR" dirty="0"/>
              <a:t xml:space="preserve">Une règle importante est que les transformations, comme la standardisation ou la création du vocabulaire, sont ajustées uniquement sur l’entraînement. Sinon, des informations du test pourraient influencer le modèle : ce serait une fuite de données. J’utilise ensuite un MLP pour Titanic, un CNN pour Fashion-MNIST, et des réseaux récurrents pour prédire le mot suivant dans les poèmes.</a:t>
            </a:r>
            <a:endParaRPr lang="fr-FR" dirty="0"/>
          </a:p>
          <a:p>
            <a:endParaRPr lang="fr-FR" dirty="0"/>
          </a:p>
          <a:p>
            <a:r>
              <a:rPr lang="fr-FR" dirty="0" b="1"/>
              <a:t xml:space="preserve">Transition</a:t>
            </a:r>
            <a:endParaRPr lang="fr-FR" dirty="0"/>
          </a:p>
          <a:p>
            <a:r>
              <a:rPr lang="fr-FR" dirty="0"/>
              <a:t xml:space="preserve">Je commence par le premier problème : la prédiction de la survie des passagers du Titanic avec un MLP.</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3 — Titanic : un MLP compact pour les données tabulaires</a:t>
            </a:r>
            <a:endParaRPr lang="fr-FR" dirty="0"/>
          </a:p>
          <a:p>
            <a:endParaRPr lang="fr-FR" dirty="0"/>
          </a:p>
          <a:p>
            <a:r>
              <a:rPr lang="fr-FR" dirty="0" b="1"/>
              <a:t xml:space="preserve">Durée cible : 50 à 55 secondes</a:t>
            </a:r>
            <a:endParaRPr lang="fr-FR" dirty="0"/>
          </a:p>
          <a:p>
            <a:endParaRPr lang="fr-FR" dirty="0"/>
          </a:p>
          <a:p>
            <a:r>
              <a:rPr lang="fr-FR" dirty="0" b="1"/>
              <a:t xml:space="preserve">Discours</a:t>
            </a:r>
            <a:endParaRPr lang="fr-FR" dirty="0"/>
          </a:p>
          <a:p>
            <a:r>
              <a:rPr lang="fr-FR" dirty="0"/>
              <a:t xml:space="preserve">Le jeu Titanic a été séparé en 569 passagers pour l’entraînement, 143 pour la validation et 179 pour le test. L’imputation des valeurs manquantes, la standardisation et l’encodage des catégories ont été appris uniquement sur les 569 passagers d’entraînement. Après cette préparation, chaque passager est représenté par 12 variables numériques.</a:t>
            </a:r>
            <a:endParaRPr lang="fr-FR" dirty="0"/>
          </a:p>
          <a:p>
            <a:endParaRPr lang="fr-FR" dirty="0"/>
          </a:p>
          <a:p>
            <a:r>
              <a:rPr lang="fr-FR" dirty="0"/>
              <a:t xml:space="preserve">Le MLP contient une première couche de 16 neurones avec ReLU, un dropout de 20 %, puis une couche de 8 neurones avec ReLU. Le dernier neurone utilise une sigmoïde et produit une probabilité de survie. Le réseau possède seulement 353 paramètres entraînables. Avec Adam, l’entropie croisée binaire et l’arrêt anticipé, la meilleure époque est la 54, avec une perte de validation de 0,4525.</a:t>
            </a:r>
            <a:endParaRPr lang="fr-FR" dirty="0"/>
          </a:p>
          <a:p>
            <a:endParaRPr lang="fr-FR" dirty="0"/>
          </a:p>
          <a:p>
            <a:r>
              <a:rPr lang="fr-FR" dirty="0" b="1"/>
              <a:t xml:space="preserve">Transition</a:t>
            </a:r>
            <a:endParaRPr lang="fr-FR" dirty="0"/>
          </a:p>
          <a:p>
            <a:r>
              <a:rPr lang="fr-FR" dirty="0"/>
              <a:t xml:space="preserve">Voyons maintenant si ce modèle compact généralise correctement sur les 179 passagers du test.</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4 — MLP : 80,4 % d’accuracy, avec un rappel limité</a:t>
            </a:r>
            <a:endParaRPr lang="fr-FR" dirty="0"/>
          </a:p>
          <a:p>
            <a:endParaRPr lang="fr-FR" dirty="0"/>
          </a:p>
          <a:p>
            <a:r>
              <a:rPr lang="fr-FR" dirty="0" b="1"/>
              <a:t xml:space="preserve">Durée cible : 50 à 55 secondes</a:t>
            </a:r>
            <a:endParaRPr lang="fr-FR" dirty="0"/>
          </a:p>
          <a:p>
            <a:endParaRPr lang="fr-FR" dirty="0"/>
          </a:p>
          <a:p>
            <a:r>
              <a:rPr lang="fr-FR" dirty="0" b="1"/>
              <a:t xml:space="preserve">Discours</a:t>
            </a:r>
            <a:endParaRPr lang="fr-FR" dirty="0"/>
          </a:p>
          <a:p>
            <a:r>
              <a:rPr lang="fr-FR" dirty="0"/>
              <a:t xml:space="preserve">Sur le test, le MLP obtient 80,4 % d’accuracy, contre 61,5 % pour la référence naïve qui prédit toujours la classe majoritaire. La matrice de confusion permet cependant d’aller plus loin que cette moyenne. Le modèle classe correctement 104 non-survivants et 40 survivants. Il commet 6 faux positifs, mais surtout 29 faux négatifs : ce sont des survivants prédits comme non-survivants.</a:t>
            </a:r>
            <a:endParaRPr lang="fr-FR" dirty="0"/>
          </a:p>
          <a:p>
            <a:endParaRPr lang="fr-FR" dirty="0"/>
          </a:p>
          <a:p>
            <a:r>
              <a:rPr lang="fr-FR" dirty="0"/>
              <a:t xml:space="preserve">La précision de la classe « survivant » atteint donc 87 %, ce qui signifie que ses prédictions positives sont généralement fiables. En revanche, son rappel n’est que de 58 % : il ne retrouve que 40 survivants sur 69. Le modèle est donc utile, mais l’accuracy seule masque une faiblesse importante.</a:t>
            </a:r>
            <a:endParaRPr lang="fr-FR" dirty="0"/>
          </a:p>
          <a:p>
            <a:endParaRPr lang="fr-FR" dirty="0"/>
          </a:p>
          <a:p>
            <a:r>
              <a:rPr lang="fr-FR" dirty="0" b="1"/>
              <a:t xml:space="preserve">Transition</a:t>
            </a:r>
            <a:endParaRPr lang="fr-FR" dirty="0"/>
          </a:p>
          <a:p>
            <a:r>
              <a:rPr lang="fr-FR" dirty="0"/>
              <a:t xml:space="preserve">Après ces données tabulaires, je passe aux images de Fashion-MNIST, pour lesquelles une architecture convolutive est mieux adaptée.</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5 — Fashion-MNIST : le CNN exploite la structure 2D</a:t>
            </a:r>
            <a:endParaRPr lang="fr-FR" dirty="0"/>
          </a:p>
          <a:p>
            <a:endParaRPr lang="fr-FR" dirty="0"/>
          </a:p>
          <a:p>
            <a:r>
              <a:rPr lang="fr-FR" dirty="0" b="1"/>
              <a:t xml:space="preserve">Durée cible : 50 à 55 secondes</a:t>
            </a:r>
            <a:endParaRPr lang="fr-FR" dirty="0"/>
          </a:p>
          <a:p>
            <a:endParaRPr lang="fr-FR" dirty="0"/>
          </a:p>
          <a:p>
            <a:r>
              <a:rPr lang="fr-FR" dirty="0" b="1"/>
              <a:t xml:space="preserve">Discours</a:t>
            </a:r>
            <a:endParaRPr lang="fr-FR" dirty="0"/>
          </a:p>
          <a:p>
            <a:r>
              <a:rPr lang="fr-FR" dirty="0"/>
              <a:t xml:space="preserve">Pour Fashion-MNIST, les données ne sont plus tabulaires : ce sont des images de 28 par 28 pixels en niveaux de gris. J’utilise 48 000 images pour l’entraînement, 12 000 pour la validation, et je garde les 10 000 images de test à part. Les pixels sont normalisés entre 0 et 1, puis j’ajoute la dimension du canal pour obtenir des entrées de taille 28 par 28 par 1.</a:t>
            </a:r>
            <a:endParaRPr lang="fr-FR" dirty="0"/>
          </a:p>
          <a:p>
            <a:endParaRPr lang="fr-FR" dirty="0"/>
          </a:p>
          <a:p>
            <a:r>
              <a:rPr lang="fr-FR" dirty="0"/>
              <a:t xml:space="preserve">Le CNN commence par apprendre 32 filtres de taille 3 par 3, puis réduit la taille des représentations avec un max-pooling. Une seconde convolution apprend 64 filtres plus complexes, suivie d’un autre max-pooling. Ensuite, les cartes sont aplaties en 3 136 valeurs, transmises à une couche dense de 128 neurones, puis à un dropout de 30 %. Enfin, le softmax produit les probabilités des 10 classes. Le modèle contient 421 642 paramètres entraînables et apprend par mini-lots de 128 images.</a:t>
            </a:r>
            <a:endParaRPr lang="fr-FR" dirty="0"/>
          </a:p>
          <a:p>
            <a:endParaRPr lang="fr-FR" dirty="0"/>
          </a:p>
          <a:p>
            <a:r>
              <a:rPr lang="fr-FR" dirty="0" b="1"/>
              <a:t xml:space="preserve">Transition</a:t>
            </a:r>
            <a:endParaRPr lang="fr-FR" dirty="0"/>
          </a:p>
          <a:p>
            <a:r>
              <a:rPr lang="fr-FR" dirty="0"/>
              <a:t xml:space="preserve">Maintenant que l’architecture est définie, voyons comment les courbes d’entraînement permettent de choisir le bon moment pour arrêter l’apprentissage.</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6 — CNN : le meilleur compromis apparaît à l’époque 9</a:t>
            </a:r>
            <a:endParaRPr lang="fr-FR" dirty="0"/>
          </a:p>
          <a:p>
            <a:endParaRPr lang="fr-FR" dirty="0"/>
          </a:p>
          <a:p>
            <a:r>
              <a:rPr lang="fr-FR" dirty="0" b="1"/>
              <a:t xml:space="preserve">Durée cible : 45 à 50 secondes</a:t>
            </a:r>
            <a:endParaRPr lang="fr-FR" dirty="0"/>
          </a:p>
          <a:p>
            <a:endParaRPr lang="fr-FR" dirty="0"/>
          </a:p>
          <a:p>
            <a:r>
              <a:rPr lang="fr-FR" dirty="0" b="1"/>
              <a:t xml:space="preserve">Discours</a:t>
            </a:r>
            <a:endParaRPr lang="fr-FR" dirty="0"/>
          </a:p>
          <a:p>
            <a:r>
              <a:rPr lang="fr-FR" dirty="0"/>
              <a:t xml:space="preserve">Pendant l’entraînement, je compare toujours les résultats obtenus sur les données d’apprentissage et sur les données de validation. La perte utilisée est l’entropie croisée : plus elle est faible, plus les probabilités attribuées par le modèle sont cohérentes avec les vraies classes.</a:t>
            </a:r>
            <a:endParaRPr lang="fr-FR" dirty="0"/>
          </a:p>
          <a:p>
            <a:endParaRPr lang="fr-FR" dirty="0"/>
          </a:p>
          <a:p>
            <a:r>
              <a:rPr lang="fr-FR" dirty="0"/>
              <a:t xml:space="preserve">Ici, la meilleure perte de validation est obtenue à l’époque 9, avec une accuracy de validation de 92,57 %. Après cette époque, la perte d’entraînement continue de diminuer, mais la perte de validation commence à remonter. Le réseau mémorise donc de mieux en mieux l’entraînement sans améliorer sa généralisation : c’est le début du surapprentissage.</a:t>
            </a:r>
            <a:endParaRPr lang="fr-FR" dirty="0"/>
          </a:p>
          <a:p>
            <a:endParaRPr lang="fr-FR" dirty="0"/>
          </a:p>
          <a:p>
            <a:r>
              <a:rPr lang="fr-FR" dirty="0"/>
              <a:t xml:space="preserve">L’arrêt anticipé interrompt l’apprentissage à l’époque 12 et restaure les poids de l’époque 9. Le test, utilisé ensuite une seule fois, donne une accuracy finale de 91,30 %, proche de celle de validation.</a:t>
            </a:r>
            <a:endParaRPr lang="fr-FR" dirty="0"/>
          </a:p>
          <a:p>
            <a:endParaRPr lang="fr-FR" dirty="0"/>
          </a:p>
          <a:p>
            <a:r>
              <a:rPr lang="fr-FR" dirty="0" b="1"/>
              <a:t xml:space="preserve">Transition</a:t>
            </a:r>
            <a:endParaRPr lang="fr-FR" dirty="0"/>
          </a:p>
          <a:p>
            <a:r>
              <a:rPr lang="fr-FR" dirty="0"/>
              <a:t xml:space="preserve">Cette accuracy globale est utile, mais elle ne dit pas quelles catégories posent problème. Il faut donc regarder les performances classe par classe.</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7 — CNN : la classe Chemise reste la plus difficile</a:t>
            </a:r>
            <a:endParaRPr lang="fr-FR" dirty="0"/>
          </a:p>
          <a:p>
            <a:endParaRPr lang="fr-FR" dirty="0"/>
          </a:p>
          <a:p>
            <a:r>
              <a:rPr lang="fr-FR" dirty="0" b="1"/>
              <a:t xml:space="preserve">Durée cible : 45 à 50 secondes</a:t>
            </a:r>
            <a:endParaRPr lang="fr-FR" dirty="0"/>
          </a:p>
          <a:p>
            <a:endParaRPr lang="fr-FR" dirty="0"/>
          </a:p>
          <a:p>
            <a:r>
              <a:rPr lang="fr-FR" dirty="0" b="1"/>
              <a:t xml:space="preserve">Discours</a:t>
            </a:r>
            <a:endParaRPr lang="fr-FR" dirty="0"/>
          </a:p>
          <a:p>
            <a:r>
              <a:rPr lang="fr-FR" dirty="0"/>
              <a:t xml:space="preserve">Pour compléter l’accuracy, j’étudie le F1-score de chaque classe. Cette métrique combine la précision et le rappel : elle devient faible si le modèle produit trop de faux positifs ou s’il oublie trop d’images de la classe.</a:t>
            </a:r>
            <a:endParaRPr lang="fr-FR" dirty="0"/>
          </a:p>
          <a:p>
            <a:endParaRPr lang="fr-FR" dirty="0"/>
          </a:p>
          <a:p>
            <a:r>
              <a:rPr lang="fr-FR" dirty="0"/>
              <a:t xml:space="preserve">La classe Pantalon est très bien reconnue, avec un F1-score de 98,8 %. À l’inverse, la classe Chemise obtient seulement 72,9 %, ce qui en fait la catégorie la plus difficile. Au total, le CNN commet 870 erreurs sur les 10 000 images du test. La confusion principale concerne 115 chemises classées comme T-shirt ou haut.</a:t>
            </a:r>
            <a:endParaRPr lang="fr-FR" dirty="0"/>
          </a:p>
          <a:p>
            <a:endParaRPr lang="fr-FR" dirty="0"/>
          </a:p>
          <a:p>
            <a:r>
              <a:rPr lang="fr-FR" dirty="0"/>
              <a:t xml:space="preserve">Ces deux vêtements ont des formes visuelles proches dans de petites images de 28 par 28 pixels, ce qui peut expliquer une partie de cette confusion. Cette analyse montre qu’un bon score global ne signifie pas que toutes les classes sont maîtrisées de la même manière.</a:t>
            </a:r>
            <a:endParaRPr lang="fr-FR" dirty="0"/>
          </a:p>
          <a:p>
            <a:endParaRPr lang="fr-FR" dirty="0"/>
          </a:p>
          <a:p>
            <a:r>
              <a:rPr lang="fr-FR" dirty="0" b="1"/>
              <a:t xml:space="preserve">Transition</a:t>
            </a:r>
            <a:endParaRPr lang="fr-FR" dirty="0"/>
          </a:p>
          <a:p>
            <a:r>
              <a:rPr lang="fr-FR" dirty="0"/>
              <a:t xml:space="preserve">Après les données tabulaires et les images, je passe maintenant au texte, où l’ordre des mots devient l’information essentielle.</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8 — Préparation des poèmes de Victor Hugo</a:t>
            </a:r>
            <a:endParaRPr lang="fr-FR" dirty="0"/>
          </a:p>
          <a:p>
            <a:endParaRPr lang="fr-FR" dirty="0"/>
          </a:p>
          <a:p>
            <a:r>
              <a:rPr lang="fr-FR" dirty="0" b="1"/>
              <a:t xml:space="preserve">Durée cible : 50 à 60 secondes</a:t>
            </a:r>
            <a:endParaRPr lang="fr-FR" dirty="0"/>
          </a:p>
          <a:p>
            <a:endParaRPr lang="fr-FR" dirty="0"/>
          </a:p>
          <a:p>
            <a:r>
              <a:rPr lang="fr-FR" dirty="0" b="1"/>
              <a:t xml:space="preserve">Discours</a:t>
            </a:r>
            <a:endParaRPr lang="fr-FR" dirty="0"/>
          </a:p>
          <a:p>
            <a:r>
              <a:rPr lang="fr-FR" dirty="0"/>
              <a:t xml:space="preserve">Pour l’expérience sur le texte, le corpus contient 48 poèmes de Victor Hugo. La séparation a été faite par poème, avec 34 poèmes pour l’entraînement, 7 pour la validation et 7 pour le test. C’est important : si on découpait d’abord le texte en petites fenêtres puis qu’on les répartissait au hasard, des passages très proches d’un même poème pourraient se retrouver dans plusieurs jeux. Cela créerait une fuite de données.</a:t>
            </a:r>
            <a:endParaRPr lang="fr-FR" dirty="0"/>
          </a:p>
          <a:p>
            <a:endParaRPr lang="fr-FR" dirty="0"/>
          </a:p>
          <a:p>
            <a:r>
              <a:rPr lang="fr-FR" dirty="0"/>
              <a:t xml:space="preserve">Le vocabulaire est donc construit uniquement à partir des poèmes d’entraînement. Il contient 3 203 mots. Sur la validation, environ 19,3 % des mots sont inconnus, ce qui montre que la généralisation est difficile.</a:t>
            </a:r>
            <a:endParaRPr lang="fr-FR" dirty="0"/>
          </a:p>
          <a:p>
            <a:endParaRPr lang="fr-FR" dirty="0"/>
          </a:p>
          <a:p>
            <a:r>
              <a:rPr lang="fr-FR" dirty="0"/>
              <a:t xml:space="preserve">Enfin, chaque exemple utilise les trois mots précédents pour prédire le mot suivant, sans jamais créer une fenêtre qui traverse la frontière entre deux poèmes.</a:t>
            </a:r>
            <a:endParaRPr lang="fr-FR" dirty="0"/>
          </a:p>
          <a:p>
            <a:endParaRPr lang="fr-FR" dirty="0"/>
          </a:p>
          <a:p>
            <a:r>
              <a:rPr lang="fr-FR" dirty="0" b="1"/>
              <a:t xml:space="preserve">Transition</a:t>
            </a:r>
            <a:endParaRPr lang="fr-FR" dirty="0"/>
          </a:p>
          <a:p>
            <a:r>
              <a:rPr lang="fr-FR" dirty="0"/>
              <a:t xml:space="preserve">À partir de ces séquences, j’ai d’abord entraîné un SimpleRNN, puis je l’ai comparé à des références très simples.</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9 — SimpleRNN et baselines de fréquence</a:t>
            </a:r>
            <a:endParaRPr lang="fr-FR" dirty="0"/>
          </a:p>
          <a:p>
            <a:endParaRPr lang="fr-FR" dirty="0"/>
          </a:p>
          <a:p>
            <a:r>
              <a:rPr lang="fr-FR" dirty="0" b="1"/>
              <a:t xml:space="preserve">Durée cible : 55 à 60 secondes</a:t>
            </a:r>
            <a:endParaRPr lang="fr-FR" dirty="0"/>
          </a:p>
          <a:p>
            <a:endParaRPr lang="fr-FR" dirty="0"/>
          </a:p>
          <a:p>
            <a:r>
              <a:rPr lang="fr-FR" dirty="0" b="1"/>
              <a:t xml:space="preserve">Discours</a:t>
            </a:r>
            <a:endParaRPr lang="fr-FR" dirty="0"/>
          </a:p>
          <a:p>
            <a:r>
              <a:rPr lang="fr-FR" dirty="0"/>
              <a:t xml:space="preserve">Le premier modèle de texte utilise une couche d’Embedding de dimension 64, puis un SimpleRNN de 64 unités et enfin une couche Dense de 3 203 sorties, une par mot du vocabulaire.</a:t>
            </a:r>
            <a:endParaRPr lang="fr-FR" dirty="0"/>
          </a:p>
          <a:p>
            <a:endParaRPr lang="fr-FR" dirty="0"/>
          </a:p>
          <a:p>
            <a:r>
              <a:rPr lang="fr-FR" dirty="0"/>
              <a:t xml:space="preserve">L’évaluation finale du SimpleRNN porte sur 1 795 positions du test dont le mot cible appartient au vocabulaire connu. Le modèle obtient 4,12 % de bonnes réponses en top 1 et 14,21 % en top 5. Mais une baseline fondée sur les mots les plus fréquents atteint respectivement 5,52 % et 17,94 %. Le réseau ne dépasse donc pas cette référence simple.</a:t>
            </a:r>
            <a:endParaRPr lang="fr-FR" dirty="0"/>
          </a:p>
          <a:p>
            <a:endParaRPr lang="fr-FR" dirty="0"/>
          </a:p>
          <a:p>
            <a:r>
              <a:rPr lang="fr-FR" dirty="0"/>
              <a:t xml:space="preserve">On observe aussi qu’il ne prédit que 65 identifiants différents, alors que 597 mots cibles différents apparaissent dans cette partie du test. Il se concentre donc sur un petit ensemble de mots fréquents. Ce résultat faible est important : entraîner un réseau ne garantit pas qu’il apprend mieux qu’une règle simple.</a:t>
            </a:r>
            <a:endParaRPr lang="fr-FR" dirty="0"/>
          </a:p>
          <a:p>
            <a:endParaRPr lang="fr-FR" dirty="0"/>
          </a:p>
          <a:p>
            <a:r>
              <a:rPr lang="fr-FR" dirty="0" b="1"/>
              <a:t xml:space="preserve">Transition</a:t>
            </a:r>
            <a:endParaRPr lang="fr-FR" dirty="0"/>
          </a:p>
          <a:p>
            <a:r>
              <a:rPr lang="fr-FR" dirty="0"/>
              <a:t xml:space="preserve">J’ai ensuite essayé un LSTM, mais en conservant un protocole honnête : la comparaison suivante repose uniquement sur la validation.</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10 — Comparaison LSTM–SimpleRNN sur la validation</a:t>
            </a:r>
            <a:endParaRPr lang="fr-FR" dirty="0"/>
          </a:p>
          <a:p>
            <a:endParaRPr lang="fr-FR" dirty="0"/>
          </a:p>
          <a:p>
            <a:r>
              <a:rPr lang="fr-FR" dirty="0" b="1"/>
              <a:t xml:space="preserve">Durée cible : 55 à 60 secondes</a:t>
            </a:r>
            <a:endParaRPr lang="fr-FR" dirty="0"/>
          </a:p>
          <a:p>
            <a:endParaRPr lang="fr-FR" dirty="0"/>
          </a:p>
          <a:p>
            <a:r>
              <a:rPr lang="fr-FR" dirty="0" b="1"/>
              <a:t xml:space="preserve">Discours</a:t>
            </a:r>
            <a:endParaRPr lang="fr-FR" dirty="0"/>
          </a:p>
          <a:p>
            <a:r>
              <a:rPr lang="fr-FR" dirty="0"/>
              <a:t xml:space="preserve">Comme le jeu de test avait déjà servi à l’évaluation finale du SimpleRNN, je ne l’ai pas rouvert pour choisir entre le SimpleRNN et le LSTM. La comparaison présentée ici se fait donc uniquement sur la validation.</a:t>
            </a:r>
            <a:endParaRPr lang="fr-FR" dirty="0"/>
          </a:p>
          <a:p>
            <a:endParaRPr lang="fr-FR" dirty="0"/>
          </a:p>
          <a:p>
            <a:r>
              <a:rPr lang="fr-FR" dirty="0"/>
              <a:t xml:space="preserve">Le LSTM atteint 4,31 % d’accuracy contre 3,67 % pour le SimpleRNN. En top 5, il obtient 13,82 % contre 12,69 %, soit 13 prédictions exactes supplémentaires en top 1. Cependant, sa perte est plus élevée : 7,695 contre 7,227. Ce n’est pas contradictoire, car l’accuracy regarde seulement si le meilleur mot est correct, tandis que l’entropie croisée tient aussi compte de toute la distribution de probabilités et pénalise les erreurs trop confiantes.</a:t>
            </a:r>
            <a:endParaRPr lang="fr-FR" dirty="0"/>
          </a:p>
          <a:p>
            <a:endParaRPr lang="fr-FR" dirty="0"/>
          </a:p>
          <a:p>
            <a:r>
              <a:rPr lang="fr-FR" dirty="0"/>
              <a:t xml:space="preserve">Le LSTM ne prédit que 17 mots différents, contre 60 pour le SimpleRNN, et les deux modèles partagent 1 937 échecs. Le gain reste donc limité et ne permet pas d’affirmer que le LSTM est globalement meilleur.</a:t>
            </a:r>
            <a:endParaRPr lang="fr-FR" dirty="0"/>
          </a:p>
          <a:p>
            <a:endParaRPr lang="fr-FR" dirty="0"/>
          </a:p>
          <a:p>
            <a:r>
              <a:rPr lang="fr-FR" dirty="0" b="1"/>
              <a:t xml:space="preserve">Transition</a:t>
            </a:r>
            <a:endParaRPr lang="fr-FR" dirty="0"/>
          </a:p>
          <a:p>
            <a:r>
              <a:rPr lang="fr-FR" dirty="0"/>
              <a:t xml:space="preserve">Les scores quantitatifs étant faibles, j’ai aussi examiné avec prudence le comportement des modèles lors de la génération.</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11 — Génération et diversité</a:t>
            </a:r>
            <a:endParaRPr lang="fr-FR" dirty="0"/>
          </a:p>
          <a:p>
            <a:endParaRPr lang="fr-FR" dirty="0"/>
          </a:p>
          <a:p>
            <a:r>
              <a:rPr lang="fr-FR" dirty="0" b="1"/>
              <a:t xml:space="preserve">Durée cible : 45 à 55 secondes</a:t>
            </a:r>
            <a:endParaRPr lang="fr-FR" dirty="0"/>
          </a:p>
          <a:p>
            <a:endParaRPr lang="fr-FR" dirty="0"/>
          </a:p>
          <a:p>
            <a:r>
              <a:rPr lang="fr-FR" dirty="0" b="1"/>
              <a:t xml:space="preserve">Discours</a:t>
            </a:r>
            <a:endParaRPr lang="fr-FR" dirty="0"/>
          </a:p>
          <a:p>
            <a:r>
              <a:rPr lang="fr-FR" dirty="0"/>
              <a:t xml:space="preserve">Pour rendre la comparaison aussi équitable que possible, les deux modèles partent de la même phrase initiale et utilisent les mêmes paramètres de génération.</a:t>
            </a:r>
            <a:endParaRPr lang="fr-FR" dirty="0"/>
          </a:p>
          <a:p>
            <a:endParaRPr lang="fr-FR" dirty="0"/>
          </a:p>
          <a:p>
            <a:r>
              <a:rPr lang="fr-FR" dirty="0"/>
              <a:t xml:space="preserve">Avec une génération gloutonne, qui choisit toujours le mot le plus probable, le SimpleRNN atteint un taux de diversité de 36,67 %, contre seulement 13,33 % pour le LSTM. Le LSTM répète donc davantage un petit nombre de mots. Même avec une génération top-k, qui introduit un peu de choix parmi les mots les plus probables, sa diversité reste plus faible dans cette expérience.</a:t>
            </a:r>
            <a:endParaRPr lang="fr-FR" dirty="0"/>
          </a:p>
          <a:p>
            <a:endParaRPr lang="fr-FR" dirty="0"/>
          </a:p>
          <a:p>
            <a:r>
              <a:rPr lang="fr-FR" dirty="0"/>
              <a:t xml:space="preserve">Il faut cependant rester prudent : ce résultat provient d’une phrase de départ et d’un échantillon de texte généré. Ce n’est pas une mesure générale de la qualité littéraire. Cette analyse sert surtout à repérer la répétition et l’effondrement vers quelques mots fréquents.</a:t>
            </a:r>
            <a:endParaRPr lang="fr-FR" dirty="0"/>
          </a:p>
          <a:p>
            <a:endParaRPr lang="fr-FR" dirty="0"/>
          </a:p>
          <a:p>
            <a:r>
              <a:rPr lang="fr-FR" dirty="0" b="1"/>
              <a:t xml:space="preserve">Transition</a:t>
            </a:r>
            <a:endParaRPr lang="fr-FR" dirty="0"/>
          </a:p>
          <a:p>
            <a:r>
              <a:rPr lang="fr-FR" dirty="0"/>
              <a:t xml:space="preserve">Je peux maintenant résumer les principaux enseignements communs aux trois types de données.</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fr-FR" dirty="0" b="1"/>
              <a:t xml:space="preserve">Diapositive 12 — Conclusion générale</a:t>
            </a:r>
            <a:endParaRPr lang="fr-FR" dirty="0"/>
          </a:p>
          <a:p>
            <a:endParaRPr lang="fr-FR" dirty="0"/>
          </a:p>
          <a:p>
            <a:r>
              <a:rPr lang="fr-FR" dirty="0" b="1"/>
              <a:t xml:space="preserve">Durée cible : 35 à 45 secondes</a:t>
            </a:r>
            <a:endParaRPr lang="fr-FR" dirty="0"/>
          </a:p>
          <a:p>
            <a:endParaRPr lang="fr-FR" dirty="0"/>
          </a:p>
          <a:p>
            <a:r>
              <a:rPr lang="fr-FR" dirty="0" b="1"/>
              <a:t xml:space="preserve">Discours</a:t>
            </a:r>
            <a:endParaRPr lang="fr-FR" dirty="0"/>
          </a:p>
          <a:p>
            <a:r>
              <a:rPr lang="fr-FR" dirty="0"/>
              <a:t xml:space="preserve">Pour conclure, chaque nature de données demande une architecture adaptée : un MLP pour les données tabulaires, un CNN pour les images, et des réseaux récurrents pour les séquences de mots.</a:t>
            </a:r>
            <a:endParaRPr lang="fr-FR" dirty="0"/>
          </a:p>
          <a:p>
            <a:endParaRPr lang="fr-FR" dirty="0"/>
          </a:p>
          <a:p>
            <a:r>
              <a:rPr lang="fr-FR" dirty="0"/>
              <a:t xml:space="preserve">Mais l’architecture ne suffit pas. Le point le plus important est le protocole : séparer les données avant les prétraitements, utiliser la validation pour les choix, puis n’ouvrir le test qu’une seule fois pour l’évaluation finale. Il faut également comparer le modèle à une baseline et analyser ses erreurs, pas seulement annoncer une accuracy.</a:t>
            </a:r>
            <a:endParaRPr lang="fr-FR" dirty="0"/>
          </a:p>
          <a:p>
            <a:endParaRPr lang="fr-FR" dirty="0"/>
          </a:p>
          <a:p>
            <a:r>
              <a:rPr lang="fr-FR" dirty="0"/>
              <a:t xml:space="preserve">Le CNN a donné les résultats les plus convaincants. Pour le texte, les résultats plus faibles restent utiles, car ils montrent honnêtement les limites du corpus, du vocabulaire et des modèles utilisés.</a:t>
            </a:r>
            <a:endParaRPr lang="fr-FR" dirty="0"/>
          </a:p>
          <a:p>
            <a:endParaRPr lang="fr-FR" dirty="0"/>
          </a:p>
          <a:p>
            <a:r>
              <a:rPr lang="fr-FR" dirty="0"/>
              <a:t xml:space="preserve">Merci pour votre attention. Je suis prêt à répondre à vos questions.</a:t>
            </a:r>
            <a:endParaRPr lang="fr-FR" dirty="0"/>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3ceb0f425644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49ff57f0a640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80c049c5824c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8fc6ba3f1242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277a397c604e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4cd4887d3b4b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B56463-2FCF-4BEC-8C79-F7BF66DBA7A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74F1BAA-00E4-41F2-9148-872CD08EC27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E404B1-2D68-4531-8CA7-9FDABD2205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4992DF-5550-4AF9-BD86-E8EA94880C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001EA0-2CAC-4528-B560-2CA5FFED83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A2F12E-026D-41C1-A1B1-A0E1A7E116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E0E9AB-09FD-4AF4-BC5A-992773A817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0C0E8B-A1EC-4352-8C4D-1C127585BB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922109-BD78-40D3-AB47-4192375753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6182ED-70ED-4F5E-AF00-DB736003AA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747876acab4f89" /><Relationship Type="http://schemas.openxmlformats.org/officeDocument/2006/relationships/slideLayout" Target="/ppt/slideLayouts/slideLayout1.xml" Id="Re67a7908a2184eaa" /><Relationship Type="http://schemas.openxmlformats.org/officeDocument/2006/relationships/slideLayout" Target="/ppt/slideLayouts/slideLayout2.xml" Id="R3530bdbe6c07413a" /><Relationship Type="http://schemas.openxmlformats.org/officeDocument/2006/relationships/slideLayout" Target="/ppt/slideLayouts/slideLayout3.xml" Id="R19895380100a4253" /><Relationship Type="http://schemas.openxmlformats.org/officeDocument/2006/relationships/slideLayout" Target="/ppt/slideLayouts/slideLayout4.xml" Id="Rd3274192f2af4762" /><Relationship Type="http://schemas.openxmlformats.org/officeDocument/2006/relationships/slideLayout" Target="/ppt/slideLayouts/slideLayout5.xml" Id="R8235e26814c74de5" /><Relationship Type="http://schemas.openxmlformats.org/officeDocument/2006/relationships/slideLayout" Target="/ppt/slideLayouts/slideLayout6.xml" Id="R94a5d1b3977a49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7a7908a2184eaa"/>
    <p:sldLayoutId xmlns:r="http://schemas.openxmlformats.org/officeDocument/2006/relationships" id="2147483650" r:id="R3530bdbe6c07413a"/>
    <p:sldLayoutId xmlns:r="http://schemas.openxmlformats.org/officeDocument/2006/relationships" id="2147483651" r:id="R19895380100a4253"/>
    <p:sldLayoutId xmlns:r="http://schemas.openxmlformats.org/officeDocument/2006/relationships" id="2147483652" r:id="Rd3274192f2af4762"/>
    <p:sldLayoutId xmlns:r="http://schemas.openxmlformats.org/officeDocument/2006/relationships" id="2147483653" r:id="R8235e26814c74de5"/>
    <p:sldLayoutId xmlns:r="http://schemas.openxmlformats.org/officeDocument/2006/relationships" id="2147483654" r:id="R94a5d1b3977a49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b41d8ea34334a95" /><Relationship Type="http://schemas.openxmlformats.org/officeDocument/2006/relationships/notesSlide" Target="/ppt/notesSlides/notesSlide1.xml" Id="Ra35a56243b944c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52d9d449a64669" /><Relationship Type="http://schemas.openxmlformats.org/officeDocument/2006/relationships/notesSlide" Target="/ppt/notesSlides/notesSlide2.xml" Id="R366c013a738b4e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e3f2293d55493e" /><Relationship Type="http://schemas.openxmlformats.org/officeDocument/2006/relationships/notesSlide" Target="/ppt/notesSlides/notesSlide3.xml" Id="R7b0c3600790a48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a9d681000c4e7a" /><Relationship Type="http://schemas.openxmlformats.org/officeDocument/2006/relationships/chart" Target="/ppt/slides/charts/chart1.xml" Id="Rbc9cfaeda94c4bb1" /><Relationship Type="http://schemas.openxmlformats.org/officeDocument/2006/relationships/notesSlide" Target="/ppt/notesSlides/notesSlide4.xml" Id="Rd53d4dac519d46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892736d6934d7d" /><Relationship Type="http://schemas.openxmlformats.org/officeDocument/2006/relationships/notesSlide" Target="/ppt/notesSlides/notesSlide5.xml" Id="R260d7b1731724d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0ee37cdd36248e9" /><Relationship Type="http://schemas.openxmlformats.org/officeDocument/2006/relationships/chart" Target="/ppt/slides/charts/chart2.xml" Id="R7dcb437f5ab54614" /><Relationship Type="http://schemas.openxmlformats.org/officeDocument/2006/relationships/notesSlide" Target="/ppt/notesSlides/notesSlide6.xml" Id="Rea9b2cb1d0d645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b834755fe4406e" /><Relationship Type="http://schemas.openxmlformats.org/officeDocument/2006/relationships/chart" Target="/ppt/slides/charts/chart3.xml" Id="Rf15ff9c627da4fee" /><Relationship Type="http://schemas.openxmlformats.org/officeDocument/2006/relationships/notesSlide" Target="/ppt/notesSlides/notesSlide7.xml" Id="R1943e649a8124c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a60b1bc6234028" /><Relationship Type="http://schemas.openxmlformats.org/officeDocument/2006/relationships/notesSlide" Target="/ppt/notesSlides/notesSlide8.xml" Id="Rd706b54eb57741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58a15cc982b4c4f" /><Relationship Type="http://schemas.openxmlformats.org/officeDocument/2006/relationships/chart" Target="/ppt/slides/charts/chart4.xml" Id="R3b0708d642d34c6d" /><Relationship Type="http://schemas.openxmlformats.org/officeDocument/2006/relationships/notesSlide" Target="/ppt/notesSlides/notesSlide9.xml" Id="R712e64355b6f48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61e1ce8cf2c44a2" /><Relationship Type="http://schemas.openxmlformats.org/officeDocument/2006/relationships/notesSlide" Target="/ppt/notesSlides/notesSlide10.xml" Id="Rfa7a05ac96464a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97ef5a41fc240cf" /><Relationship Type="http://schemas.openxmlformats.org/officeDocument/2006/relationships/chart" Target="/ppt/slides/charts/chart5.xml" Id="Rd7d6e26726f34b5c" /><Relationship Type="http://schemas.openxmlformats.org/officeDocument/2006/relationships/notesSlide" Target="/ppt/notesSlides/notesSlide11.xml" Id="R1130c1367b3f45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eda39ca6ba74244" /><Relationship Type="http://schemas.openxmlformats.org/officeDocument/2006/relationships/notesSlide" Target="/ppt/notesSlides/notesSlide12.xml" Id="R046e6a2c991a4a8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c:v>
          </c:tx>
          <c:spPr>
            <a:solidFill xmlns:a="http://schemas.openxmlformats.org/drawingml/2006/main">
              <a:srgbClr val="D7654F"/>
            </a:solidFill>
          </c:spPr>
          <c:invertIfNegative val="0"/>
          <c:cat>
            <c:strRef>
              <c:f>'Chart Data'!$A$2:$A$3</c:f>
              <c:strCache>
                <c:ptCount val="2"/>
                <c:pt idx="0">
                  <c:v>Classe majoritaire</c:v>
                </c:pt>
                <c:pt idx="1">
                  <c:v>MLP</c:v>
                </c:pt>
              </c:strCache>
            </c:strRef>
          </c:cat>
          <c:val>
            <c:numRef>
              <c:f>'Chart Data'!$B$2:$B$3</c:f>
              <c:numCache>
                <c:formatCode>General</c:formatCode>
                <c:ptCount val="2"/>
                <c:pt idx="0">
                  <c:v>61.5</c:v>
                </c:pt>
                <c:pt idx="1">
                  <c:v>80.4</c:v>
                </c:pt>
              </c:numCache>
            </c:numRef>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ED9D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Entraînement</c:v>
          </c:tx>
          <c:spPr>
            <a:solidFill xmlns:a="http://schemas.openxmlformats.org/drawingml/2006/main">
              <a:srgbClr val="0D2035"/>
            </a:solidFill>
          </c:spPr>
          <c:marker>
            <c:symbol val="none"/>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General</c:formatCode>
                <c:ptCount val="12"/>
                <c:pt idx="0">
                  <c:v>56.62</c:v>
                </c:pt>
                <c:pt idx="1">
                  <c:v>35.19</c:v>
                </c:pt>
                <c:pt idx="2">
                  <c:v>30.13</c:v>
                </c:pt>
                <c:pt idx="3">
                  <c:v>27.45</c:v>
                </c:pt>
                <c:pt idx="4">
                  <c:v>24.97</c:v>
                </c:pt>
                <c:pt idx="5">
                  <c:v>22.9</c:v>
                </c:pt>
                <c:pt idx="6">
                  <c:v>21.24</c:v>
                </c:pt>
                <c:pt idx="7">
                  <c:v>19.97</c:v>
                </c:pt>
                <c:pt idx="8">
                  <c:v>18.33</c:v>
                </c:pt>
                <c:pt idx="9">
                  <c:v>16.92</c:v>
                </c:pt>
                <c:pt idx="10">
                  <c:v>15.71</c:v>
                </c:pt>
                <c:pt idx="11">
                  <c:v>14.78</c:v>
                </c:pt>
              </c:numCache>
            </c:numRef>
          </c:val>
        </c:ser>
        <c:ser>
          <c:idx val="1"/>
          <c:order val="1"/>
          <c:tx>
            <c:v>Validation</c:v>
          </c:tx>
          <c:spPr>
            <a:solidFill xmlns:a="http://schemas.openxmlformats.org/drawingml/2006/main">
              <a:srgbClr val="238A7A"/>
            </a:solidFill>
          </c:spPr>
          <c:marker>
            <c:symbol val="none"/>
          </c:marker>
          <c:cat>
            <c:numRef>
              <c:f>'Chart Data'!$C$2:$C$13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Data'!$D$2:$D$13</c:f>
              <c:numCache>
                <c:formatCode>General</c:formatCode>
                <c:ptCount val="12"/>
                <c:pt idx="0">
                  <c:v>36.62</c:v>
                </c:pt>
                <c:pt idx="1">
                  <c:v>28.76</c:v>
                </c:pt>
                <c:pt idx="2">
                  <c:v>26</c:v>
                </c:pt>
                <c:pt idx="3">
                  <c:v>24.79</c:v>
                </c:pt>
                <c:pt idx="4">
                  <c:v>24.02</c:v>
                </c:pt>
                <c:pt idx="5">
                  <c:v>23.04</c:v>
                </c:pt>
                <c:pt idx="6">
                  <c:v>22.97</c:v>
                </c:pt>
                <c:pt idx="7">
                  <c:v>22.3</c:v>
                </c:pt>
                <c:pt idx="8">
                  <c:v>21.78</c:v>
                </c:pt>
                <c:pt idx="9">
                  <c:v>21.98</c:v>
                </c:pt>
                <c:pt idx="10">
                  <c:v>21.8</c:v>
                </c:pt>
                <c:pt idx="11">
                  <c:v>22.9</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ED9D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legend>
      <c:legendPos val="b"/>
      <c:overlay val="0"/>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F1</c:v>
          </c:tx>
          <c:spPr>
            <a:solidFill xmlns:a="http://schemas.openxmlformats.org/drawingml/2006/main">
              <a:srgbClr val="238A7A"/>
            </a:solidFill>
          </c:spPr>
          <c:invertIfNegative val="0"/>
          <c:cat>
            <c:strRef>
              <c:f>'Chart Data'!$A$2:$A$11</c:f>
              <c:strCache>
                <c:ptCount val="10"/>
                <c:pt idx="0">
                  <c:v>T-shirt</c:v>
                </c:pt>
                <c:pt idx="1">
                  <c:v>Pantalon</c:v>
                </c:pt>
                <c:pt idx="2">
                  <c:v>Pull</c:v>
                </c:pt>
                <c:pt idx="3">
                  <c:v>Robe</c:v>
                </c:pt>
                <c:pt idx="4">
                  <c:v>Manteau</c:v>
                </c:pt>
                <c:pt idx="5">
                  <c:v>Sandale</c:v>
                </c:pt>
                <c:pt idx="6">
                  <c:v>Chemise</c:v>
                </c:pt>
                <c:pt idx="7">
                  <c:v>Basket</c:v>
                </c:pt>
                <c:pt idx="8">
                  <c:v>Sac</c:v>
                </c:pt>
                <c:pt idx="9">
                  <c:v>Bottine</c:v>
                </c:pt>
              </c:strCache>
            </c:strRef>
          </c:cat>
          <c:val>
            <c:numRef>
              <c:f>'Chart Data'!$B$2:$B$11</c:f>
              <c:numCache>
                <c:formatCode>General</c:formatCode>
                <c:ptCount val="10"/>
                <c:pt idx="0">
                  <c:v>87.1</c:v>
                </c:pt>
                <c:pt idx="1">
                  <c:v>98.8</c:v>
                </c:pt>
                <c:pt idx="2">
                  <c:v>86.7</c:v>
                </c:pt>
                <c:pt idx="3">
                  <c:v>91.6</c:v>
                </c:pt>
                <c:pt idx="4">
                  <c:v>86</c:v>
                </c:pt>
                <c:pt idx="5">
                  <c:v>97.8</c:v>
                </c:pt>
                <c:pt idx="6">
                  <c:v>72.9</c:v>
                </c:pt>
                <c:pt idx="7">
                  <c:v>96</c:v>
                </c:pt>
                <c:pt idx="8">
                  <c:v>98.3</c:v>
                </c:pt>
                <c:pt idx="9">
                  <c:v>96.9</c:v>
                </c:pt>
              </c:numCache>
            </c:numRef>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majorGridlines>
          <c:spPr>
            <a:ln xmlns:a="http://schemas.openxmlformats.org/drawingml/2006/main" w="9525">
              <a:solidFill>
                <a:srgbClr val="DED9D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SimpleRNN</c:v>
          </c:tx>
          <c:spPr>
            <a:solidFill xmlns:a="http://schemas.openxmlformats.org/drawingml/2006/main">
              <a:srgbClr val="6757B8"/>
            </a:solidFill>
          </c:spPr>
          <c:invertIfNegative val="0"/>
          <c:cat>
            <c:strRef>
              <c:f>'Chart Data'!$A$2:$A$3</c:f>
              <c:strCache>
                <c:ptCount val="2"/>
                <c:pt idx="0">
                  <c:v>Top-1</c:v>
                </c:pt>
                <c:pt idx="1">
                  <c:v>Top-5</c:v>
                </c:pt>
              </c:strCache>
            </c:strRef>
          </c:cat>
          <c:val>
            <c:numRef>
              <c:f>'Chart Data'!$B$2:$B$3</c:f>
              <c:numCache>
                <c:formatCode>General</c:formatCode>
                <c:ptCount val="2"/>
                <c:pt idx="0">
                  <c:v>4.12</c:v>
                </c:pt>
                <c:pt idx="1">
                  <c:v>14.21</c:v>
                </c:pt>
              </c:numCache>
            </c:numRef>
          </c:val>
        </c:ser>
        <c:ser>
          <c:idx val="1"/>
          <c:order val="1"/>
          <c:tx>
            <c:v>Baseline fréquence</c:v>
          </c:tx>
          <c:spPr>
            <a:solidFill xmlns:a="http://schemas.openxmlformats.org/drawingml/2006/main">
              <a:srgbClr val="D5A62E"/>
            </a:solidFill>
          </c:spPr>
          <c:invertIfNegative val="0"/>
          <c:cat>
            <c:strRef>
              <c:f>'Chart Data'!$C$2:$C$3</c:f>
              <c:strCache>
                <c:ptCount val="2"/>
                <c:pt idx="0">
                  <c:v>Top-1</c:v>
                </c:pt>
                <c:pt idx="1">
                  <c:v>Top-5</c:v>
                </c:pt>
              </c:strCache>
            </c:strRef>
          </c:cat>
          <c:val>
            <c:numRef>
              <c:f>'Chart Data'!$D$2:$D$3</c:f>
              <c:numCache>
                <c:formatCode>General</c:formatCode>
                <c:ptCount val="2"/>
                <c:pt idx="0">
                  <c:v>5.52</c:v>
                </c:pt>
                <c:pt idx="1">
                  <c:v>17.94</c:v>
                </c:pt>
              </c:numCache>
            </c:numRef>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ED9D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legend>
      <c:legendPos val="b"/>
      <c:overlay val="0"/>
    </c:legend>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SimpleRNN</c:v>
          </c:tx>
          <c:spPr>
            <a:solidFill xmlns:a="http://schemas.openxmlformats.org/drawingml/2006/main">
              <a:srgbClr val="0D2035"/>
            </a:solidFill>
          </c:spPr>
          <c:marker>
            <c:symbol val="none"/>
          </c:marker>
          <c:cat>
            <c:strRef>
              <c:f>'Chart Data'!$A$2:$A$5</c:f>
              <c:strCache>
                <c:ptCount val="4"/>
                <c:pt idx="0">
                  <c:v>Glouton</c:v>
                </c:pt>
                <c:pt idx="1">
                  <c:v>Top-10 T=0,8</c:v>
                </c:pt>
                <c:pt idx="2">
                  <c:v>Top-10 T=1,0</c:v>
                </c:pt>
                <c:pt idx="3">
                  <c:v>Top-10 T=1,2</c:v>
                </c:pt>
              </c:strCache>
            </c:strRef>
          </c:cat>
          <c:val>
            <c:numRef>
              <c:f>'Chart Data'!$B$2:$B$5</c:f>
              <c:numCache>
                <c:formatCode>General</c:formatCode>
                <c:ptCount val="4"/>
                <c:pt idx="0">
                  <c:v>36.67</c:v>
                </c:pt>
                <c:pt idx="1">
                  <c:v>76.67</c:v>
                </c:pt>
                <c:pt idx="2">
                  <c:v>73.33</c:v>
                </c:pt>
                <c:pt idx="3">
                  <c:v>76.67</c:v>
                </c:pt>
              </c:numCache>
            </c:numRef>
          </c:val>
        </c:ser>
        <c:ser>
          <c:idx val="1"/>
          <c:order val="1"/>
          <c:tx>
            <c:v>LSTM</c:v>
          </c:tx>
          <c:spPr>
            <a:solidFill xmlns:a="http://schemas.openxmlformats.org/drawingml/2006/main">
              <a:srgbClr val="6757B8"/>
            </a:solidFill>
          </c:spPr>
          <c:marker>
            <c:symbol val="none"/>
          </c:marker>
          <c:cat>
            <c:strRef>
              <c:f>'Chart Data'!$C$2:$C$5</c:f>
              <c:strCache>
                <c:ptCount val="4"/>
                <c:pt idx="0">
                  <c:v>Glouton</c:v>
                </c:pt>
                <c:pt idx="1">
                  <c:v>Top-10 T=0,8</c:v>
                </c:pt>
                <c:pt idx="2">
                  <c:v>Top-10 T=1,0</c:v>
                </c:pt>
                <c:pt idx="3">
                  <c:v>Top-10 T=1,2</c:v>
                </c:pt>
              </c:strCache>
            </c:strRef>
          </c:cat>
          <c:val>
            <c:numRef>
              <c:f>'Chart Data'!$D$2:$D$5</c:f>
              <c:numCache>
                <c:formatCode>General</c:formatCode>
                <c:ptCount val="4"/>
                <c:pt idx="0">
                  <c:v>13.33</c:v>
                </c:pt>
                <c:pt idx="1">
                  <c:v>63.33</c:v>
                </c:pt>
                <c:pt idx="2">
                  <c:v>66.67</c:v>
                </c:pt>
                <c:pt idx="3">
                  <c:v>63.33</c:v>
                </c:pt>
              </c:numCache>
            </c:numRef>
          </c:val>
        </c:ser>
        <c:dLbls>
          <c:dLblPos val="t"/>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ED9D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legend>
      <c:legendPos val="b"/>
      <c:overlay val="0"/>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D203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3DCF26-CFB7-43B7-B2D2-5E78D9841481}"/>
              </a:ext>
            </a:extLst>
          </p:cNvPr>
          <p:cNvSpPr>
            <a:spLocks xmlns:a="http://schemas.openxmlformats.org/drawingml/2006/main" noGrp="1"/>
          </p:cNvSpPr>
          <p:nvPr/>
        </p:nvSpPr>
        <p:spPr>
          <a:xfrm xmlns:a="http://schemas.openxmlformats.org/drawingml/2006/main">
            <a:off x="685800" y="666750"/>
            <a:ext cx="1428750" cy="76200"/>
          </a:xfrm>
          <a:prstGeom xmlns:a="http://schemas.openxmlformats.org/drawingml/2006/main" prst="rect">
            <a:avLst/>
          </a:prstGeom>
          <a:solidFill xmlns:a="http://schemas.openxmlformats.org/drawingml/2006/main">
            <a:srgbClr val="D5A62E"/>
          </a:solidFill>
          <a:ln xmlns:a="http://schemas.openxmlformats.org/drawingml/2006/main" w="0">
            <a:solidFill>
              <a:srgbClr val="D5A62E"/>
            </a:solidFill>
            <a:prstDash val="solid"/>
          </a:ln>
        </p:spPr>
      </p:sp>
      <p:sp>
        <p:nvSpPr>
          <p:cNvPr id="2" name="">
            <a:extLst xmlns:a="http://schemas.openxmlformats.org/drawingml/2006/main">
              <a:ext uri="{FF2B5EF4-FFF2-40B4-BE49-F238E27FC236}">
                <a16:creationId xmlns:a16="http://schemas.microsoft.com/office/drawing/2014/main" id="{49359BBD-7B51-4992-A453-73EC3F0D7032}"/>
              </a:ext>
            </a:extLst>
          </p:cNvPr>
          <p:cNvSpPr>
            <a:spLocks xmlns:a="http://schemas.openxmlformats.org/drawingml/2006/main" noGrp="1"/>
          </p:cNvSpPr>
          <p:nvPr/>
        </p:nvSpPr>
        <p:spPr>
          <a:xfrm xmlns:a="http://schemas.openxmlformats.org/drawingml/2006/main">
            <a:off x="685800" y="1143000"/>
            <a:ext cx="7810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350" b="1" i="0">
                <a:solidFill>
                  <a:srgbClr val="FFFFFF"/>
                </a:solidFill>
              </a:defRPr>
            </a:defPPr>
            <a:lvl1pPr algn="l">
              <a:defRPr sz="4350" b="1" i="0">
                <a:solidFill>
                  <a:srgbClr val="FFFFFF"/>
                </a:solidFill>
              </a:defRPr>
            </a:lvl1pPr>
            <a:lvl2pPr algn="l">
              <a:defRPr sz="4350" b="1" i="0">
                <a:solidFill>
                  <a:srgbClr val="FFFFFF"/>
                </a:solidFill>
              </a:defRPr>
            </a:lvl2pPr>
            <a:lvl3pPr algn="l">
              <a:defRPr sz="4350" b="1" i="0">
                <a:solidFill>
                  <a:srgbClr val="FFFFFF"/>
                </a:solidFill>
              </a:defRPr>
            </a:lvl3pPr>
            <a:lvl4pPr algn="l">
              <a:defRPr sz="4350" b="1" i="0">
                <a:solidFill>
                  <a:srgbClr val="FFFFFF"/>
                </a:solidFill>
              </a:defRPr>
            </a:lvl4pPr>
            <a:lvl5pPr algn="l">
              <a:defRPr sz="4350" b="1" i="0">
                <a:solidFill>
                  <a:srgbClr val="FFFFFF"/>
                </a:solidFill>
              </a:defRPr>
            </a:lvl5pPr>
            <a:lvl6pPr algn="l">
              <a:defRPr sz="4350" b="1" i="0">
                <a:solidFill>
                  <a:srgbClr val="FFFFFF"/>
                </a:solidFill>
              </a:defRPr>
            </a:lvl6pPr>
            <a:lvl7pPr algn="l">
              <a:defRPr sz="4350" b="1" i="0">
                <a:solidFill>
                  <a:srgbClr val="FFFFFF"/>
                </a:solidFill>
              </a:defRPr>
            </a:lvl7pPr>
            <a:lvl8pPr algn="l">
              <a:defRPr sz="4350" b="1" i="0">
                <a:solidFill>
                  <a:srgbClr val="FFFFFF"/>
                </a:solidFill>
              </a:defRPr>
            </a:lvl8pPr>
            <a:lvl9pPr algn="l">
              <a:defRPr sz="4350" b="1" i="0">
                <a:solidFill>
                  <a:srgbClr val="FFFFFF"/>
                </a:solidFill>
              </a:defRPr>
            </a:lvl9pPr>
          </a:lstStyle>
          <a:p xmlns:a="http://schemas.openxmlformats.org/drawingml/2006/main">
            <a:pPr algn="l">
              <a:defRPr sz="4350" b="1" i="0">
                <a:solidFill>
                  <a:srgbClr val="FFFFFF"/>
                </a:solidFill>
              </a:defRPr>
            </a:pPr>
            <a:r>
              <a:rPr sz="4350" b="1" i="0">
                <a:solidFill>
                  <a:srgbClr val="FFFFFF"/>
                </a:solidFill>
              </a:rPr>
              <a:t>Deep Learning selon</a:t>
            </a:r>
          </a:p>
          <a:p xmlns:a="http://schemas.openxmlformats.org/drawingml/2006/main">
            <a:pPr algn="l">
              <a:defRPr sz="4350" b="1" i="0">
                <a:solidFill>
                  <a:srgbClr val="FFFFFF"/>
                </a:solidFill>
              </a:defRPr>
            </a:pPr>
            <a:r>
              <a:rPr sz="4350" b="1" i="0">
                <a:solidFill>
                  <a:srgbClr val="FFFFFF"/>
                </a:solidFill>
              </a:rPr>
              <a:t>la nature des données</a:t>
            </a:r>
          </a:p>
        </p:txBody>
      </p:sp>
      <p:sp>
        <p:nvSpPr>
          <p:cNvPr id="3" name="">
            <a:extLst xmlns:a="http://schemas.openxmlformats.org/drawingml/2006/main">
              <a:ext uri="{FF2B5EF4-FFF2-40B4-BE49-F238E27FC236}">
                <a16:creationId xmlns:a16="http://schemas.microsoft.com/office/drawing/2014/main" id="{043FEEBC-06B1-4D29-BFC7-07FBD62840A6}"/>
              </a:ext>
            </a:extLst>
          </p:cNvPr>
          <p:cNvSpPr>
            <a:spLocks xmlns:a="http://schemas.openxmlformats.org/drawingml/2006/main" noGrp="1"/>
          </p:cNvSpPr>
          <p:nvPr/>
        </p:nvSpPr>
        <p:spPr>
          <a:xfrm xmlns:a="http://schemas.openxmlformats.org/drawingml/2006/main">
            <a:off x="723900" y="314325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0" i="0">
                <a:solidFill>
                  <a:srgbClr val="D8E1E8"/>
                </a:solidFill>
              </a:defRPr>
            </a:defPPr>
            <a:lvl1pPr algn="l">
              <a:defRPr sz="2100" b="0" i="0">
                <a:solidFill>
                  <a:srgbClr val="D8E1E8"/>
                </a:solidFill>
              </a:defRPr>
            </a:lvl1pPr>
            <a:lvl2pPr algn="l">
              <a:defRPr sz="2100" b="0" i="0">
                <a:solidFill>
                  <a:srgbClr val="D8E1E8"/>
                </a:solidFill>
              </a:defRPr>
            </a:lvl2pPr>
            <a:lvl3pPr algn="l">
              <a:defRPr sz="2100" b="0" i="0">
                <a:solidFill>
                  <a:srgbClr val="D8E1E8"/>
                </a:solidFill>
              </a:defRPr>
            </a:lvl3pPr>
            <a:lvl4pPr algn="l">
              <a:defRPr sz="2100" b="0" i="0">
                <a:solidFill>
                  <a:srgbClr val="D8E1E8"/>
                </a:solidFill>
              </a:defRPr>
            </a:lvl4pPr>
            <a:lvl5pPr algn="l">
              <a:defRPr sz="2100" b="0" i="0">
                <a:solidFill>
                  <a:srgbClr val="D8E1E8"/>
                </a:solidFill>
              </a:defRPr>
            </a:lvl5pPr>
            <a:lvl6pPr algn="l">
              <a:defRPr sz="2100" b="0" i="0">
                <a:solidFill>
                  <a:srgbClr val="D8E1E8"/>
                </a:solidFill>
              </a:defRPr>
            </a:lvl6pPr>
            <a:lvl7pPr algn="l">
              <a:defRPr sz="2100" b="0" i="0">
                <a:solidFill>
                  <a:srgbClr val="D8E1E8"/>
                </a:solidFill>
              </a:defRPr>
            </a:lvl7pPr>
            <a:lvl8pPr algn="l">
              <a:defRPr sz="2100" b="0" i="0">
                <a:solidFill>
                  <a:srgbClr val="D8E1E8"/>
                </a:solidFill>
              </a:defRPr>
            </a:lvl8pPr>
            <a:lvl9pPr algn="l">
              <a:defRPr sz="2100" b="0" i="0">
                <a:solidFill>
                  <a:srgbClr val="D8E1E8"/>
                </a:solidFill>
              </a:defRPr>
            </a:lvl9pPr>
          </a:lstStyle>
          <a:p xmlns:a="http://schemas.openxmlformats.org/drawingml/2006/main">
            <a:pPr algn="l">
              <a:defRPr sz="2100" b="0" i="0">
                <a:solidFill>
                  <a:srgbClr val="D8E1E8"/>
                </a:solidFill>
              </a:defRPr>
            </a:pPr>
            <a:r>
              <a:rPr sz="2100" b="0" i="0">
                <a:solidFill>
                  <a:srgbClr val="D8E1E8"/>
                </a:solidFill>
              </a:rPr>
              <a:t>MLP, CNN, SimpleRNN et LSTM</a:t>
            </a:r>
          </a:p>
        </p:txBody>
      </p:sp>
      <p:sp>
        <p:nvSpPr>
          <p:cNvPr id="4" name="">
            <a:extLst xmlns:a="http://schemas.openxmlformats.org/drawingml/2006/main">
              <a:ext uri="{FF2B5EF4-FFF2-40B4-BE49-F238E27FC236}">
                <a16:creationId xmlns:a16="http://schemas.microsoft.com/office/drawing/2014/main" id="{EF8A7993-76B3-4396-AD33-47808158027A}"/>
              </a:ext>
            </a:extLst>
          </p:cNvPr>
          <p:cNvSpPr>
            <a:spLocks xmlns:a="http://schemas.openxmlformats.org/drawingml/2006/main" noGrp="1"/>
          </p:cNvSpPr>
          <p:nvPr/>
        </p:nvSpPr>
        <p:spPr>
          <a:xfrm xmlns:a="http://schemas.openxmlformats.org/drawingml/2006/main">
            <a:off x="723900" y="48577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i="0">
                <a:solidFill>
                  <a:srgbClr val="F39A85"/>
                </a:solidFill>
              </a:defRPr>
            </a:defPPr>
            <a:lvl1pPr algn="l">
              <a:defRPr sz="1650" b="1" i="0">
                <a:solidFill>
                  <a:srgbClr val="F39A85"/>
                </a:solidFill>
              </a:defRPr>
            </a:lvl1pPr>
            <a:lvl2pPr algn="l">
              <a:defRPr sz="1650" b="1" i="0">
                <a:solidFill>
                  <a:srgbClr val="F39A85"/>
                </a:solidFill>
              </a:defRPr>
            </a:lvl2pPr>
            <a:lvl3pPr algn="l">
              <a:defRPr sz="1650" b="1" i="0">
                <a:solidFill>
                  <a:srgbClr val="F39A85"/>
                </a:solidFill>
              </a:defRPr>
            </a:lvl3pPr>
            <a:lvl4pPr algn="l">
              <a:defRPr sz="1650" b="1" i="0">
                <a:solidFill>
                  <a:srgbClr val="F39A85"/>
                </a:solidFill>
              </a:defRPr>
            </a:lvl4pPr>
            <a:lvl5pPr algn="l">
              <a:defRPr sz="1650" b="1" i="0">
                <a:solidFill>
                  <a:srgbClr val="F39A85"/>
                </a:solidFill>
              </a:defRPr>
            </a:lvl5pPr>
            <a:lvl6pPr algn="l">
              <a:defRPr sz="1650" b="1" i="0">
                <a:solidFill>
                  <a:srgbClr val="F39A85"/>
                </a:solidFill>
              </a:defRPr>
            </a:lvl6pPr>
            <a:lvl7pPr algn="l">
              <a:defRPr sz="1650" b="1" i="0">
                <a:solidFill>
                  <a:srgbClr val="F39A85"/>
                </a:solidFill>
              </a:defRPr>
            </a:lvl7pPr>
            <a:lvl8pPr algn="l">
              <a:defRPr sz="1650" b="1" i="0">
                <a:solidFill>
                  <a:srgbClr val="F39A85"/>
                </a:solidFill>
              </a:defRPr>
            </a:lvl8pPr>
            <a:lvl9pPr algn="l">
              <a:defRPr sz="1650" b="1" i="0">
                <a:solidFill>
                  <a:srgbClr val="F39A85"/>
                </a:solidFill>
              </a:defRPr>
            </a:lvl9pPr>
          </a:lstStyle>
          <a:p xmlns:a="http://schemas.openxmlformats.org/drawingml/2006/main">
            <a:pPr algn="l">
              <a:defRPr sz="1650" b="1" i="0">
                <a:solidFill>
                  <a:srgbClr val="F39A85"/>
                </a:solidFill>
              </a:defRPr>
            </a:pPr>
            <a:r>
              <a:rPr sz="1650" b="1" i="0">
                <a:solidFill>
                  <a:srgbClr val="F39A85"/>
                </a:solidFill>
              </a:rPr>
              <a:t>Données tabulaires</a:t>
            </a:r>
          </a:p>
        </p:txBody>
      </p:sp>
      <p:sp>
        <p:nvSpPr>
          <p:cNvPr id="5" name="">
            <a:extLst xmlns:a="http://schemas.openxmlformats.org/drawingml/2006/main">
              <a:ext uri="{FF2B5EF4-FFF2-40B4-BE49-F238E27FC236}">
                <a16:creationId xmlns:a16="http://schemas.microsoft.com/office/drawing/2014/main" id="{8DBFDBDF-548C-4997-9087-472B4D1B8270}"/>
              </a:ext>
            </a:extLst>
          </p:cNvPr>
          <p:cNvSpPr>
            <a:spLocks xmlns:a="http://schemas.openxmlformats.org/drawingml/2006/main" noGrp="1"/>
          </p:cNvSpPr>
          <p:nvPr/>
        </p:nvSpPr>
        <p:spPr>
          <a:xfrm xmlns:a="http://schemas.openxmlformats.org/drawingml/2006/main">
            <a:off x="4095750" y="485775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i="0">
                <a:solidFill>
                  <a:srgbClr val="56C5B5"/>
                </a:solidFill>
              </a:defRPr>
            </a:defPPr>
            <a:lvl1pPr algn="l">
              <a:defRPr sz="1650" b="1" i="0">
                <a:solidFill>
                  <a:srgbClr val="56C5B5"/>
                </a:solidFill>
              </a:defRPr>
            </a:lvl1pPr>
            <a:lvl2pPr algn="l">
              <a:defRPr sz="1650" b="1" i="0">
                <a:solidFill>
                  <a:srgbClr val="56C5B5"/>
                </a:solidFill>
              </a:defRPr>
            </a:lvl2pPr>
            <a:lvl3pPr algn="l">
              <a:defRPr sz="1650" b="1" i="0">
                <a:solidFill>
                  <a:srgbClr val="56C5B5"/>
                </a:solidFill>
              </a:defRPr>
            </a:lvl3pPr>
            <a:lvl4pPr algn="l">
              <a:defRPr sz="1650" b="1" i="0">
                <a:solidFill>
                  <a:srgbClr val="56C5B5"/>
                </a:solidFill>
              </a:defRPr>
            </a:lvl4pPr>
            <a:lvl5pPr algn="l">
              <a:defRPr sz="1650" b="1" i="0">
                <a:solidFill>
                  <a:srgbClr val="56C5B5"/>
                </a:solidFill>
              </a:defRPr>
            </a:lvl5pPr>
            <a:lvl6pPr algn="l">
              <a:defRPr sz="1650" b="1" i="0">
                <a:solidFill>
                  <a:srgbClr val="56C5B5"/>
                </a:solidFill>
              </a:defRPr>
            </a:lvl6pPr>
            <a:lvl7pPr algn="l">
              <a:defRPr sz="1650" b="1" i="0">
                <a:solidFill>
                  <a:srgbClr val="56C5B5"/>
                </a:solidFill>
              </a:defRPr>
            </a:lvl7pPr>
            <a:lvl8pPr algn="l">
              <a:defRPr sz="1650" b="1" i="0">
                <a:solidFill>
                  <a:srgbClr val="56C5B5"/>
                </a:solidFill>
              </a:defRPr>
            </a:lvl8pPr>
            <a:lvl9pPr algn="l">
              <a:defRPr sz="1650" b="1" i="0">
                <a:solidFill>
                  <a:srgbClr val="56C5B5"/>
                </a:solidFill>
              </a:defRPr>
            </a:lvl9pPr>
          </a:lstStyle>
          <a:p xmlns:a="http://schemas.openxmlformats.org/drawingml/2006/main">
            <a:pPr algn="l">
              <a:defRPr sz="1650" b="1" i="0">
                <a:solidFill>
                  <a:srgbClr val="56C5B5"/>
                </a:solidFill>
              </a:defRPr>
            </a:pPr>
            <a:r>
              <a:rPr sz="1650" b="1" i="0">
                <a:solidFill>
                  <a:srgbClr val="56C5B5"/>
                </a:solidFill>
              </a:rPr>
              <a:t>Images</a:t>
            </a:r>
          </a:p>
        </p:txBody>
      </p:sp>
      <p:sp>
        <p:nvSpPr>
          <p:cNvPr id="6" name="">
            <a:extLst xmlns:a="http://schemas.openxmlformats.org/drawingml/2006/main">
              <a:ext uri="{FF2B5EF4-FFF2-40B4-BE49-F238E27FC236}">
                <a16:creationId xmlns:a16="http://schemas.microsoft.com/office/drawing/2014/main" id="{D1E4E8D4-A54B-4117-8D5B-274BB07A6BBD}"/>
              </a:ext>
            </a:extLst>
          </p:cNvPr>
          <p:cNvSpPr>
            <a:spLocks xmlns:a="http://schemas.openxmlformats.org/drawingml/2006/main" noGrp="1"/>
          </p:cNvSpPr>
          <p:nvPr/>
        </p:nvSpPr>
        <p:spPr>
          <a:xfrm xmlns:a="http://schemas.openxmlformats.org/drawingml/2006/main">
            <a:off x="6667500" y="485775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i="0">
                <a:solidFill>
                  <a:srgbClr val="B8AEF2"/>
                </a:solidFill>
              </a:defRPr>
            </a:defPPr>
            <a:lvl1pPr algn="l">
              <a:defRPr sz="1650" b="1" i="0">
                <a:solidFill>
                  <a:srgbClr val="B8AEF2"/>
                </a:solidFill>
              </a:defRPr>
            </a:lvl1pPr>
            <a:lvl2pPr algn="l">
              <a:defRPr sz="1650" b="1" i="0">
                <a:solidFill>
                  <a:srgbClr val="B8AEF2"/>
                </a:solidFill>
              </a:defRPr>
            </a:lvl2pPr>
            <a:lvl3pPr algn="l">
              <a:defRPr sz="1650" b="1" i="0">
                <a:solidFill>
                  <a:srgbClr val="B8AEF2"/>
                </a:solidFill>
              </a:defRPr>
            </a:lvl3pPr>
            <a:lvl4pPr algn="l">
              <a:defRPr sz="1650" b="1" i="0">
                <a:solidFill>
                  <a:srgbClr val="B8AEF2"/>
                </a:solidFill>
              </a:defRPr>
            </a:lvl4pPr>
            <a:lvl5pPr algn="l">
              <a:defRPr sz="1650" b="1" i="0">
                <a:solidFill>
                  <a:srgbClr val="B8AEF2"/>
                </a:solidFill>
              </a:defRPr>
            </a:lvl5pPr>
            <a:lvl6pPr algn="l">
              <a:defRPr sz="1650" b="1" i="0">
                <a:solidFill>
                  <a:srgbClr val="B8AEF2"/>
                </a:solidFill>
              </a:defRPr>
            </a:lvl6pPr>
            <a:lvl7pPr algn="l">
              <a:defRPr sz="1650" b="1" i="0">
                <a:solidFill>
                  <a:srgbClr val="B8AEF2"/>
                </a:solidFill>
              </a:defRPr>
            </a:lvl7pPr>
            <a:lvl8pPr algn="l">
              <a:defRPr sz="1650" b="1" i="0">
                <a:solidFill>
                  <a:srgbClr val="B8AEF2"/>
                </a:solidFill>
              </a:defRPr>
            </a:lvl8pPr>
            <a:lvl9pPr algn="l">
              <a:defRPr sz="1650" b="1" i="0">
                <a:solidFill>
                  <a:srgbClr val="B8AEF2"/>
                </a:solidFill>
              </a:defRPr>
            </a:lvl9pPr>
          </a:lstStyle>
          <a:p xmlns:a="http://schemas.openxmlformats.org/drawingml/2006/main">
            <a:pPr algn="l">
              <a:defRPr sz="1650" b="1" i="0">
                <a:solidFill>
                  <a:srgbClr val="B8AEF2"/>
                </a:solidFill>
              </a:defRPr>
            </a:pPr>
            <a:r>
              <a:rPr sz="1650" b="1" i="0">
                <a:solidFill>
                  <a:srgbClr val="B8AEF2"/>
                </a:solidFill>
              </a:rPr>
              <a:t>Texte</a:t>
            </a:r>
          </a:p>
        </p:txBody>
      </p:sp>
      <p:sp>
        <p:nvSpPr>
          <p:cNvPr id="7" name="">
            <a:extLst xmlns:a="http://schemas.openxmlformats.org/drawingml/2006/main">
              <a:ext uri="{FF2B5EF4-FFF2-40B4-BE49-F238E27FC236}">
                <a16:creationId xmlns:a16="http://schemas.microsoft.com/office/drawing/2014/main" id="{18DAE869-7F67-4741-9B95-44CB7DEA1CEF}"/>
              </a:ext>
            </a:extLst>
          </p:cNvPr>
          <p:cNvSpPr>
            <a:spLocks xmlns:a="http://schemas.openxmlformats.org/drawingml/2006/main" noGrp="1"/>
          </p:cNvSpPr>
          <p:nvPr/>
        </p:nvSpPr>
        <p:spPr>
          <a:xfrm xmlns:a="http://schemas.openxmlformats.org/drawingml/2006/main">
            <a:off x="723900" y="58102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i="0">
                <a:solidFill>
                  <a:srgbClr val="AEBCC8"/>
                </a:solidFill>
              </a:defRPr>
            </a:defPPr>
            <a:lvl1pPr algn="l">
              <a:defRPr sz="1425" b="0" i="0">
                <a:solidFill>
                  <a:srgbClr val="AEBCC8"/>
                </a:solidFill>
              </a:defRPr>
            </a:lvl1pPr>
            <a:lvl2pPr algn="l">
              <a:defRPr sz="1425" b="0" i="0">
                <a:solidFill>
                  <a:srgbClr val="AEBCC8"/>
                </a:solidFill>
              </a:defRPr>
            </a:lvl2pPr>
            <a:lvl3pPr algn="l">
              <a:defRPr sz="1425" b="0" i="0">
                <a:solidFill>
                  <a:srgbClr val="AEBCC8"/>
                </a:solidFill>
              </a:defRPr>
            </a:lvl3pPr>
            <a:lvl4pPr algn="l">
              <a:defRPr sz="1425" b="0" i="0">
                <a:solidFill>
                  <a:srgbClr val="AEBCC8"/>
                </a:solidFill>
              </a:defRPr>
            </a:lvl4pPr>
            <a:lvl5pPr algn="l">
              <a:defRPr sz="1425" b="0" i="0">
                <a:solidFill>
                  <a:srgbClr val="AEBCC8"/>
                </a:solidFill>
              </a:defRPr>
            </a:lvl5pPr>
            <a:lvl6pPr algn="l">
              <a:defRPr sz="1425" b="0" i="0">
                <a:solidFill>
                  <a:srgbClr val="AEBCC8"/>
                </a:solidFill>
              </a:defRPr>
            </a:lvl6pPr>
            <a:lvl7pPr algn="l">
              <a:defRPr sz="1425" b="0" i="0">
                <a:solidFill>
                  <a:srgbClr val="AEBCC8"/>
                </a:solidFill>
              </a:defRPr>
            </a:lvl7pPr>
            <a:lvl8pPr algn="l">
              <a:defRPr sz="1425" b="0" i="0">
                <a:solidFill>
                  <a:srgbClr val="AEBCC8"/>
                </a:solidFill>
              </a:defRPr>
            </a:lvl8pPr>
            <a:lvl9pPr algn="l">
              <a:defRPr sz="1425" b="0" i="0">
                <a:solidFill>
                  <a:srgbClr val="AEBCC8"/>
                </a:solidFill>
              </a:defRPr>
            </a:lvl9pPr>
          </a:lstStyle>
          <a:p xmlns:a="http://schemas.openxmlformats.org/drawingml/2006/main">
            <a:pPr algn="l">
              <a:defRPr sz="1425" b="0" i="0">
                <a:solidFill>
                  <a:srgbClr val="AEBCC8"/>
                </a:solidFill>
              </a:defRPr>
            </a:pPr>
            <a:r>
              <a:rPr sz="1425" b="0" i="0">
                <a:solidFill>
                  <a:srgbClr val="AEBCC8"/>
                </a:solidFill>
              </a:rPr>
              <a:t>Préparer, entraîner, évaluer, interpréter</a:t>
            </a:r>
          </a:p>
        </p:txBody>
      </p:sp>
    </p:spTree>
    <p:extLst>
      <p:ext uri="{BB962C8B-B14F-4D97-AF65-F5344CB8AC3E}">
        <p14:creationId xmlns:p14="http://schemas.microsoft.com/office/powerpoint/2010/main" val="1300545810"/>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75A05F80-67D8-4340-966C-3398FCF082A5}"/>
              </a:ext>
            </a:extLst>
          </p:cNvPr>
          <p:cNvCxnSpPr>
            <a:stCxn xmlns:a="http://schemas.openxmlformats.org/drawingml/2006/main" id="10" idx="3"/>
            <a:endCxn xmlns:a="http://schemas.openxmlformats.org/drawingml/2006/main" id="13" idx="1"/>
          </p:cNvCxnSpPr>
          <p:nvPr/>
        </p:nvCxnSpPr>
        <p:spPr>
          <a:xfrm xmlns:a="http://schemas.openxmlformats.org/drawingml/2006/main">
            <a:off x="8839200" y="1752600"/>
            <a:ext cx="723900" cy="0"/>
          </a:xfrm>
          <a:prstGeom xmlns:a="http://schemas.openxmlformats.org/drawingml/2006/main" prst="straightConnector1">
            <a:avLst/>
          </a:prstGeom>
          <a:ln xmlns:a="http://schemas.openxmlformats.org/drawingml/2006/main" w="19050">
            <a:solidFill>
              <a:srgbClr val="D5A62E"/>
            </a:solidFill>
            <a:prstDash val="solid"/>
          </a:ln>
        </p:spPr>
      </p:cxnSp>
      <p:cxnSp>
        <p:nvCxnSpPr>
          <p:cNvPr id="11" name="">
            <a:extLst xmlns:a="http://schemas.openxmlformats.org/drawingml/2006/main">
              <a:ext uri="{FF2B5EF4-FFF2-40B4-BE49-F238E27FC236}">
                <a16:creationId xmlns:a16="http://schemas.microsoft.com/office/drawing/2014/main" id="{C761C90E-76F3-4FE5-9B3F-C954FB78B451}"/>
              </a:ext>
            </a:extLst>
          </p:cNvPr>
          <p:cNvCxnSpPr>
            <a:stCxn xmlns:a="http://schemas.openxmlformats.org/drawingml/2006/main" id="7" idx="3"/>
            <a:endCxn xmlns:a="http://schemas.openxmlformats.org/drawingml/2006/main" id="10" idx="1"/>
          </p:cNvCxnSpPr>
          <p:nvPr/>
        </p:nvCxnSpPr>
        <p:spPr>
          <a:xfrm xmlns:a="http://schemas.openxmlformats.org/drawingml/2006/main">
            <a:off x="6057900" y="1752600"/>
            <a:ext cx="723900" cy="0"/>
          </a:xfrm>
          <a:prstGeom xmlns:a="http://schemas.openxmlformats.org/drawingml/2006/main" prst="straightConnector1">
            <a:avLst/>
          </a:prstGeom>
          <a:ln xmlns:a="http://schemas.openxmlformats.org/drawingml/2006/main" w="19050">
            <a:solidFill>
              <a:srgbClr val="D5A62E"/>
            </a:solidFill>
            <a:prstDash val="solid"/>
          </a:ln>
        </p:spPr>
      </p:cxnSp>
      <p:cxnSp>
        <p:nvCxnSpPr>
          <p:cNvPr id="8" name="">
            <a:extLst xmlns:a="http://schemas.openxmlformats.org/drawingml/2006/main">
              <a:ext uri="{FF2B5EF4-FFF2-40B4-BE49-F238E27FC236}">
                <a16:creationId xmlns:a16="http://schemas.microsoft.com/office/drawing/2014/main" id="{2D2EC8C6-DFCF-4838-9D2D-3D8829B15F92}"/>
              </a:ext>
            </a:extLst>
          </p:cNvPr>
          <p:cNvCxnSpPr>
            <a:stCxn xmlns:a="http://schemas.openxmlformats.org/drawingml/2006/main" id="5" idx="3"/>
            <a:endCxn xmlns:a="http://schemas.openxmlformats.org/drawingml/2006/main" id="7" idx="1"/>
          </p:cNvCxnSpPr>
          <p:nvPr/>
        </p:nvCxnSpPr>
        <p:spPr>
          <a:xfrm xmlns:a="http://schemas.openxmlformats.org/drawingml/2006/main">
            <a:off x="3276600" y="1752600"/>
            <a:ext cx="723900" cy="0"/>
          </a:xfrm>
          <a:prstGeom xmlns:a="http://schemas.openxmlformats.org/drawingml/2006/main" prst="straightConnector1">
            <a:avLst/>
          </a:prstGeom>
          <a:ln xmlns:a="http://schemas.openxmlformats.org/drawingml/2006/main" w="19050">
            <a:solidFill>
              <a:srgbClr val="D5A62E"/>
            </a:solidFill>
            <a:prstDash val="solid"/>
          </a:ln>
        </p:spPr>
      </p:cxnSp>
      <p:sp>
        <p:nvSpPr>
          <p:cNvPr id="17" name="">
            <a:extLst xmlns:a="http://schemas.openxmlformats.org/drawingml/2006/main">
              <a:ext uri="{FF2B5EF4-FFF2-40B4-BE49-F238E27FC236}">
                <a16:creationId xmlns:a16="http://schemas.microsoft.com/office/drawing/2014/main" id="{4D81987E-847B-4558-B152-00C93CB794C6}"/>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i="0">
                <a:solidFill>
                  <a:srgbClr val="132238"/>
                </a:solidFill>
              </a:defRPr>
            </a:defPPr>
            <a:lvl1pPr algn="l">
              <a:defRPr sz="2850" b="1" i="0">
                <a:solidFill>
                  <a:srgbClr val="132238"/>
                </a:solidFill>
              </a:defRPr>
            </a:lvl1pPr>
            <a:lvl2pPr algn="l">
              <a:defRPr sz="2850" b="1" i="0">
                <a:solidFill>
                  <a:srgbClr val="132238"/>
                </a:solidFill>
              </a:defRPr>
            </a:lvl2pPr>
            <a:lvl3pPr algn="l">
              <a:defRPr sz="2850" b="1" i="0">
                <a:solidFill>
                  <a:srgbClr val="132238"/>
                </a:solidFill>
              </a:defRPr>
            </a:lvl3pPr>
            <a:lvl4pPr algn="l">
              <a:defRPr sz="2850" b="1" i="0">
                <a:solidFill>
                  <a:srgbClr val="132238"/>
                </a:solidFill>
              </a:defRPr>
            </a:lvl4pPr>
            <a:lvl5pPr algn="l">
              <a:defRPr sz="2850" b="1" i="0">
                <a:solidFill>
                  <a:srgbClr val="132238"/>
                </a:solidFill>
              </a:defRPr>
            </a:lvl5pPr>
            <a:lvl6pPr algn="l">
              <a:defRPr sz="2850" b="1" i="0">
                <a:solidFill>
                  <a:srgbClr val="132238"/>
                </a:solidFill>
              </a:defRPr>
            </a:lvl6pPr>
            <a:lvl7pPr algn="l">
              <a:defRPr sz="2850" b="1" i="0">
                <a:solidFill>
                  <a:srgbClr val="132238"/>
                </a:solidFill>
              </a:defRPr>
            </a:lvl7pPr>
            <a:lvl8pPr algn="l">
              <a:defRPr sz="2850" b="1" i="0">
                <a:solidFill>
                  <a:srgbClr val="132238"/>
                </a:solidFill>
              </a:defRPr>
            </a:lvl8pPr>
            <a:lvl9pPr algn="l">
              <a:defRPr sz="2850" b="1" i="0">
                <a:solidFill>
                  <a:srgbClr val="132238"/>
                </a:solidFill>
              </a:defRPr>
            </a:lvl9pPr>
          </a:lstStyle>
          <a:p xmlns:a="http://schemas.openxmlformats.org/drawingml/2006/main">
            <a:pPr algn="l">
              <a:defRPr sz="2850" b="1" i="0">
                <a:solidFill>
                  <a:srgbClr val="132238"/>
                </a:solidFill>
              </a:defRPr>
            </a:pPr>
            <a:r>
              <a:rPr sz="2850" b="1" i="0">
                <a:solidFill>
                  <a:srgbClr val="132238"/>
                </a:solidFill>
              </a:rPr>
              <a:t>Un protocole commun pour trois problèmes</a:t>
            </a:r>
          </a:p>
        </p:txBody>
      </p:sp>
      <p:sp>
        <p:nvSpPr>
          <p:cNvPr id="2" name="">
            <a:extLst xmlns:a="http://schemas.openxmlformats.org/drawingml/2006/main">
              <a:ext uri="{FF2B5EF4-FFF2-40B4-BE49-F238E27FC236}">
                <a16:creationId xmlns:a16="http://schemas.microsoft.com/office/drawing/2014/main" id="{12639299-7D6D-4291-99D2-A4E436D3931E}"/>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D5A62E"/>
          </a:solidFill>
          <a:ln xmlns:a="http://schemas.openxmlformats.org/drawingml/2006/main" w="0">
            <a:solidFill>
              <a:srgbClr val="D5A62E"/>
            </a:solidFill>
            <a:prstDash val="solid"/>
          </a:ln>
        </p:spPr>
      </p:sp>
      <p:sp>
        <p:nvSpPr>
          <p:cNvPr id="3" name="">
            <a:extLst xmlns:a="http://schemas.openxmlformats.org/drawingml/2006/main">
              <a:ext uri="{FF2B5EF4-FFF2-40B4-BE49-F238E27FC236}">
                <a16:creationId xmlns:a16="http://schemas.microsoft.com/office/drawing/2014/main" id="{7256500D-60C1-403E-90DE-681D7CE859E0}"/>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02</a:t>
            </a:r>
          </a:p>
        </p:txBody>
      </p:sp>
      <p:sp>
        <p:nvSpPr>
          <p:cNvPr id="4" name="">
            <a:extLst xmlns:a="http://schemas.openxmlformats.org/drawingml/2006/main">
              <a:ext uri="{FF2B5EF4-FFF2-40B4-BE49-F238E27FC236}">
                <a16:creationId xmlns:a16="http://schemas.microsoft.com/office/drawing/2014/main" id="{B494D717-D114-4F34-B2DA-4BE153294F50}"/>
              </a:ext>
            </a:extLst>
          </p:cNvPr>
          <p:cNvSpPr>
            <a:spLocks xmlns:a="http://schemas.openxmlformats.org/drawingml/2006/main" noGrp="1"/>
          </p:cNvSpPr>
          <p:nvPr/>
        </p:nvSpPr>
        <p:spPr>
          <a:xfrm xmlns:a="http://schemas.openxmlformats.org/drawingml/2006/main">
            <a:off x="666750" y="14287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550" b="1" i="0">
                <a:solidFill>
                  <a:srgbClr val="D5A62E"/>
                </a:solidFill>
              </a:defRPr>
            </a:defPPr>
            <a:lvl1pPr algn="ctr">
              <a:defRPr sz="2550" b="1" i="0">
                <a:solidFill>
                  <a:srgbClr val="D5A62E"/>
                </a:solidFill>
              </a:defRPr>
            </a:lvl1pPr>
            <a:lvl2pPr algn="ctr">
              <a:defRPr sz="2550" b="1" i="0">
                <a:solidFill>
                  <a:srgbClr val="D5A62E"/>
                </a:solidFill>
              </a:defRPr>
            </a:lvl2pPr>
            <a:lvl3pPr algn="ctr">
              <a:defRPr sz="2550" b="1" i="0">
                <a:solidFill>
                  <a:srgbClr val="D5A62E"/>
                </a:solidFill>
              </a:defRPr>
            </a:lvl3pPr>
            <a:lvl4pPr algn="ctr">
              <a:defRPr sz="2550" b="1" i="0">
                <a:solidFill>
                  <a:srgbClr val="D5A62E"/>
                </a:solidFill>
              </a:defRPr>
            </a:lvl4pPr>
            <a:lvl5pPr algn="ctr">
              <a:defRPr sz="2550" b="1" i="0">
                <a:solidFill>
                  <a:srgbClr val="D5A62E"/>
                </a:solidFill>
              </a:defRPr>
            </a:lvl5pPr>
            <a:lvl6pPr algn="ctr">
              <a:defRPr sz="2550" b="1" i="0">
                <a:solidFill>
                  <a:srgbClr val="D5A62E"/>
                </a:solidFill>
              </a:defRPr>
            </a:lvl6pPr>
            <a:lvl7pPr algn="ctr">
              <a:defRPr sz="2550" b="1" i="0">
                <a:solidFill>
                  <a:srgbClr val="D5A62E"/>
                </a:solidFill>
              </a:defRPr>
            </a:lvl7pPr>
            <a:lvl8pPr algn="ctr">
              <a:defRPr sz="2550" b="1" i="0">
                <a:solidFill>
                  <a:srgbClr val="D5A62E"/>
                </a:solidFill>
              </a:defRPr>
            </a:lvl8pPr>
            <a:lvl9pPr algn="ctr">
              <a:defRPr sz="2550" b="1" i="0">
                <a:solidFill>
                  <a:srgbClr val="D5A62E"/>
                </a:solidFill>
              </a:defRPr>
            </a:lvl9pPr>
          </a:lstStyle>
          <a:p xmlns:a="http://schemas.openxmlformats.org/drawingml/2006/main">
            <a:pPr algn="ctr">
              <a:defRPr sz="2550" b="1" i="0">
                <a:solidFill>
                  <a:srgbClr val="D5A62E"/>
                </a:solidFill>
              </a:defRPr>
            </a:pPr>
            <a:r>
              <a:rPr sz="2550" b="1" i="0">
                <a:solidFill>
                  <a:srgbClr val="D5A62E"/>
                </a:solidFill>
              </a:rPr>
              <a:t>1</a:t>
            </a:r>
          </a:p>
        </p:txBody>
      </p:sp>
      <p:sp>
        <p:nvSpPr>
          <p:cNvPr id="5" name="">
            <a:extLst xmlns:a="http://schemas.openxmlformats.org/drawingml/2006/main">
              <a:ext uri="{FF2B5EF4-FFF2-40B4-BE49-F238E27FC236}">
                <a16:creationId xmlns:a16="http://schemas.microsoft.com/office/drawing/2014/main" id="{27CF5FE5-C8B0-430D-B487-DBAE1CA704E4}"/>
              </a:ext>
            </a:extLst>
          </p:cNvPr>
          <p:cNvSpPr>
            <a:spLocks xmlns:a="http://schemas.openxmlformats.org/drawingml/2006/main" noGrp="1"/>
          </p:cNvSpPr>
          <p:nvPr/>
        </p:nvSpPr>
        <p:spPr>
          <a:xfrm xmlns:a="http://schemas.openxmlformats.org/drawingml/2006/main">
            <a:off x="1219200" y="1352550"/>
            <a:ext cx="2057400" cy="800100"/>
          </a:xfrm>
          <a:prstGeom xmlns:a="http://schemas.openxmlformats.org/drawingml/2006/main" prst="roundRect">
            <a:avLst>
              <a:gd name="adj" fmla="val 9524"/>
            </a:avLst>
          </a:prstGeom>
          <a:solidFill xmlns:a="http://schemas.openxmlformats.org/drawingml/2006/main">
            <a:srgbClr val="FFFDFC"/>
          </a:solidFill>
          <a:ln xmlns:a="http://schemas.openxmlformats.org/drawingml/2006/main" w="9525">
            <a:solidFill>
              <a:srgbClr val="D9D5CC"/>
            </a:solidFill>
            <a:prstDash val="solid"/>
          </a:ln>
        </p:spPr>
        <p:txBody>
          <a:bodyPr xmlns:a="http://schemas.openxmlformats.org/drawingml/2006/main" anchor="ctr"/>
          <a:lstStyle xmlns:a="http://schemas.openxmlformats.org/drawingml/2006/main">
            <a:defPPr algn="ctr">
              <a:defRPr sz="1350" b="1">
                <a:solidFill>
                  <a:srgbClr val="132238"/>
                </a:solidFill>
              </a:defRPr>
            </a:defPPr>
            <a:lvl1pPr algn="ctr">
              <a:defRPr sz="1350" b="1">
                <a:solidFill>
                  <a:srgbClr val="132238"/>
                </a:solidFill>
              </a:defRPr>
            </a:lvl1pPr>
            <a:lvl2pPr algn="ctr">
              <a:defRPr sz="1350" b="1">
                <a:solidFill>
                  <a:srgbClr val="132238"/>
                </a:solidFill>
              </a:defRPr>
            </a:lvl2pPr>
            <a:lvl3pPr algn="ctr">
              <a:defRPr sz="1350" b="1">
                <a:solidFill>
                  <a:srgbClr val="132238"/>
                </a:solidFill>
              </a:defRPr>
            </a:lvl3pPr>
            <a:lvl4pPr algn="ctr">
              <a:defRPr sz="1350" b="1">
                <a:solidFill>
                  <a:srgbClr val="132238"/>
                </a:solidFill>
              </a:defRPr>
            </a:lvl4pPr>
            <a:lvl5pPr algn="ctr">
              <a:defRPr sz="1350" b="1">
                <a:solidFill>
                  <a:srgbClr val="132238"/>
                </a:solidFill>
              </a:defRPr>
            </a:lvl5pPr>
            <a:lvl6pPr algn="ctr">
              <a:defRPr sz="1350" b="1">
                <a:solidFill>
                  <a:srgbClr val="132238"/>
                </a:solidFill>
              </a:defRPr>
            </a:lvl6pPr>
            <a:lvl7pPr algn="ctr">
              <a:defRPr sz="1350" b="1">
                <a:solidFill>
                  <a:srgbClr val="132238"/>
                </a:solidFill>
              </a:defRPr>
            </a:lvl7pPr>
            <a:lvl8pPr algn="ctr">
              <a:defRPr sz="1350" b="1">
                <a:solidFill>
                  <a:srgbClr val="132238"/>
                </a:solidFill>
              </a:defRPr>
            </a:lvl8pPr>
            <a:lvl9pPr algn="ctr">
              <a:defRPr sz="1350" b="1">
                <a:solidFill>
                  <a:srgbClr val="132238"/>
                </a:solidFill>
              </a:defRPr>
            </a:lvl9pPr>
          </a:lstStyle>
          <a:p xmlns:a="http://schemas.openxmlformats.org/drawingml/2006/main">
            <a:pPr algn="ctr">
              <a:defRPr sz="1350" b="1">
                <a:solidFill>
                  <a:srgbClr val="132238"/>
                </a:solidFill>
              </a:defRPr>
            </a:pPr>
            <a:r>
              <a:rPr sz="1350" b="1">
                <a:solidFill>
                  <a:srgbClr val="132238"/>
                </a:solidFill>
              </a:rPr>
              <a:t>Séparer</a:t>
            </a:r>
          </a:p>
          <a:p xmlns:a="http://schemas.openxmlformats.org/drawingml/2006/main">
            <a:pPr algn="ctr">
              <a:defRPr sz="1350" b="1">
                <a:solidFill>
                  <a:srgbClr val="132238"/>
                </a:solidFill>
              </a:defRPr>
            </a:pPr>
            <a:r>
              <a:rPr sz="1350" b="1">
                <a:solidFill>
                  <a:srgbClr val="132238"/>
                </a:solidFill>
              </a:rPr>
              <a:t>Train, validation et test</a:t>
            </a:r>
          </a:p>
        </p:txBody>
      </p:sp>
      <p:sp>
        <p:nvSpPr>
          <p:cNvPr id="6" name="">
            <a:extLst xmlns:a="http://schemas.openxmlformats.org/drawingml/2006/main">
              <a:ext uri="{FF2B5EF4-FFF2-40B4-BE49-F238E27FC236}">
                <a16:creationId xmlns:a16="http://schemas.microsoft.com/office/drawing/2014/main" id="{EDC020F0-C4D8-48B9-AD04-4FB37BB83EC9}"/>
              </a:ext>
            </a:extLst>
          </p:cNvPr>
          <p:cNvSpPr>
            <a:spLocks xmlns:a="http://schemas.openxmlformats.org/drawingml/2006/main" noGrp="1"/>
          </p:cNvSpPr>
          <p:nvPr/>
        </p:nvSpPr>
        <p:spPr>
          <a:xfrm xmlns:a="http://schemas.openxmlformats.org/drawingml/2006/main">
            <a:off x="3448050" y="14287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550" b="1" i="0">
                <a:solidFill>
                  <a:srgbClr val="D5A62E"/>
                </a:solidFill>
              </a:defRPr>
            </a:defPPr>
            <a:lvl1pPr algn="ctr">
              <a:defRPr sz="2550" b="1" i="0">
                <a:solidFill>
                  <a:srgbClr val="D5A62E"/>
                </a:solidFill>
              </a:defRPr>
            </a:lvl1pPr>
            <a:lvl2pPr algn="ctr">
              <a:defRPr sz="2550" b="1" i="0">
                <a:solidFill>
                  <a:srgbClr val="D5A62E"/>
                </a:solidFill>
              </a:defRPr>
            </a:lvl2pPr>
            <a:lvl3pPr algn="ctr">
              <a:defRPr sz="2550" b="1" i="0">
                <a:solidFill>
                  <a:srgbClr val="D5A62E"/>
                </a:solidFill>
              </a:defRPr>
            </a:lvl3pPr>
            <a:lvl4pPr algn="ctr">
              <a:defRPr sz="2550" b="1" i="0">
                <a:solidFill>
                  <a:srgbClr val="D5A62E"/>
                </a:solidFill>
              </a:defRPr>
            </a:lvl4pPr>
            <a:lvl5pPr algn="ctr">
              <a:defRPr sz="2550" b="1" i="0">
                <a:solidFill>
                  <a:srgbClr val="D5A62E"/>
                </a:solidFill>
              </a:defRPr>
            </a:lvl5pPr>
            <a:lvl6pPr algn="ctr">
              <a:defRPr sz="2550" b="1" i="0">
                <a:solidFill>
                  <a:srgbClr val="D5A62E"/>
                </a:solidFill>
              </a:defRPr>
            </a:lvl6pPr>
            <a:lvl7pPr algn="ctr">
              <a:defRPr sz="2550" b="1" i="0">
                <a:solidFill>
                  <a:srgbClr val="D5A62E"/>
                </a:solidFill>
              </a:defRPr>
            </a:lvl7pPr>
            <a:lvl8pPr algn="ctr">
              <a:defRPr sz="2550" b="1" i="0">
                <a:solidFill>
                  <a:srgbClr val="D5A62E"/>
                </a:solidFill>
              </a:defRPr>
            </a:lvl8pPr>
            <a:lvl9pPr algn="ctr">
              <a:defRPr sz="2550" b="1" i="0">
                <a:solidFill>
                  <a:srgbClr val="D5A62E"/>
                </a:solidFill>
              </a:defRPr>
            </a:lvl9pPr>
          </a:lstStyle>
          <a:p xmlns:a="http://schemas.openxmlformats.org/drawingml/2006/main">
            <a:pPr algn="ctr">
              <a:defRPr sz="2550" b="1" i="0">
                <a:solidFill>
                  <a:srgbClr val="D5A62E"/>
                </a:solidFill>
              </a:defRPr>
            </a:pPr>
            <a:r>
              <a:rPr sz="2550" b="1" i="0">
                <a:solidFill>
                  <a:srgbClr val="D5A62E"/>
                </a:solidFill>
              </a:rPr>
              <a:t>2</a:t>
            </a:r>
          </a:p>
        </p:txBody>
      </p:sp>
      <p:sp>
        <p:nvSpPr>
          <p:cNvPr id="7" name="">
            <a:extLst xmlns:a="http://schemas.openxmlformats.org/drawingml/2006/main">
              <a:ext uri="{FF2B5EF4-FFF2-40B4-BE49-F238E27FC236}">
                <a16:creationId xmlns:a16="http://schemas.microsoft.com/office/drawing/2014/main" id="{3B7AF8A2-5C08-4F5B-9D40-DB161C1F3527}"/>
              </a:ext>
            </a:extLst>
          </p:cNvPr>
          <p:cNvSpPr>
            <a:spLocks xmlns:a="http://schemas.openxmlformats.org/drawingml/2006/main" noGrp="1"/>
          </p:cNvSpPr>
          <p:nvPr/>
        </p:nvSpPr>
        <p:spPr>
          <a:xfrm xmlns:a="http://schemas.openxmlformats.org/drawingml/2006/main">
            <a:off x="4000500" y="1352550"/>
            <a:ext cx="2057400" cy="800100"/>
          </a:xfrm>
          <a:prstGeom xmlns:a="http://schemas.openxmlformats.org/drawingml/2006/main" prst="roundRect">
            <a:avLst>
              <a:gd name="adj" fmla="val 9524"/>
            </a:avLst>
          </a:prstGeom>
          <a:solidFill xmlns:a="http://schemas.openxmlformats.org/drawingml/2006/main">
            <a:srgbClr val="FFFDFC"/>
          </a:solidFill>
          <a:ln xmlns:a="http://schemas.openxmlformats.org/drawingml/2006/main" w="9525">
            <a:solidFill>
              <a:srgbClr val="D9D5CC"/>
            </a:solidFill>
            <a:prstDash val="solid"/>
          </a:ln>
        </p:spPr>
        <p:txBody>
          <a:bodyPr xmlns:a="http://schemas.openxmlformats.org/drawingml/2006/main" anchor="ctr"/>
          <a:lstStyle xmlns:a="http://schemas.openxmlformats.org/drawingml/2006/main">
            <a:defPPr algn="ctr">
              <a:defRPr sz="1350" b="0">
                <a:solidFill>
                  <a:srgbClr val="132238"/>
                </a:solidFill>
              </a:defRPr>
            </a:defPPr>
            <a:lvl1pPr algn="ctr">
              <a:defRPr sz="1350" b="0">
                <a:solidFill>
                  <a:srgbClr val="132238"/>
                </a:solidFill>
              </a:defRPr>
            </a:lvl1pPr>
            <a:lvl2pPr algn="ctr">
              <a:defRPr sz="1350" b="0">
                <a:solidFill>
                  <a:srgbClr val="132238"/>
                </a:solidFill>
              </a:defRPr>
            </a:lvl2pPr>
            <a:lvl3pPr algn="ctr">
              <a:defRPr sz="1350" b="0">
                <a:solidFill>
                  <a:srgbClr val="132238"/>
                </a:solidFill>
              </a:defRPr>
            </a:lvl3pPr>
            <a:lvl4pPr algn="ctr">
              <a:defRPr sz="1350" b="0">
                <a:solidFill>
                  <a:srgbClr val="132238"/>
                </a:solidFill>
              </a:defRPr>
            </a:lvl4pPr>
            <a:lvl5pPr algn="ctr">
              <a:defRPr sz="1350" b="0">
                <a:solidFill>
                  <a:srgbClr val="132238"/>
                </a:solidFill>
              </a:defRPr>
            </a:lvl5pPr>
            <a:lvl6pPr algn="ctr">
              <a:defRPr sz="1350" b="0">
                <a:solidFill>
                  <a:srgbClr val="132238"/>
                </a:solidFill>
              </a:defRPr>
            </a:lvl6pPr>
            <a:lvl7pPr algn="ctr">
              <a:defRPr sz="1350" b="0">
                <a:solidFill>
                  <a:srgbClr val="132238"/>
                </a:solidFill>
              </a:defRPr>
            </a:lvl7pPr>
            <a:lvl8pPr algn="ctr">
              <a:defRPr sz="1350" b="0">
                <a:solidFill>
                  <a:srgbClr val="132238"/>
                </a:solidFill>
              </a:defRPr>
            </a:lvl8pPr>
            <a:lvl9pPr algn="ctr">
              <a:defRPr sz="1350" b="0">
                <a:solidFill>
                  <a:srgbClr val="132238"/>
                </a:solidFill>
              </a:defRPr>
            </a:lvl9pPr>
          </a:lstStyle>
          <a:p xmlns:a="http://schemas.openxmlformats.org/drawingml/2006/main">
            <a:pPr algn="ctr">
              <a:defRPr sz="1350" b="0">
                <a:solidFill>
                  <a:srgbClr val="132238"/>
                </a:solidFill>
              </a:defRPr>
            </a:pPr>
            <a:r>
              <a:rPr sz="1350" b="0">
                <a:solidFill>
                  <a:srgbClr val="132238"/>
                </a:solidFill>
              </a:rPr>
              <a:t>Préparer</a:t>
            </a:r>
          </a:p>
          <a:p xmlns:a="http://schemas.openxmlformats.org/drawingml/2006/main">
            <a:pPr algn="ctr">
              <a:defRPr sz="1350" b="0">
                <a:solidFill>
                  <a:srgbClr val="132238"/>
                </a:solidFill>
              </a:defRPr>
            </a:pPr>
            <a:r>
              <a:rPr sz="1350" b="0">
                <a:solidFill>
                  <a:srgbClr val="132238"/>
                </a:solidFill>
              </a:rPr>
              <a:t>Ajuster sur le train</a:t>
            </a:r>
          </a:p>
        </p:txBody>
      </p:sp>
      <p:sp>
        <p:nvSpPr>
          <p:cNvPr id="9" name="">
            <a:extLst xmlns:a="http://schemas.openxmlformats.org/drawingml/2006/main">
              <a:ext uri="{FF2B5EF4-FFF2-40B4-BE49-F238E27FC236}">
                <a16:creationId xmlns:a16="http://schemas.microsoft.com/office/drawing/2014/main" id="{9A927CB2-6F45-4081-AEC7-6A9E54CA2449}"/>
              </a:ext>
            </a:extLst>
          </p:cNvPr>
          <p:cNvSpPr>
            <a:spLocks xmlns:a="http://schemas.openxmlformats.org/drawingml/2006/main" noGrp="1"/>
          </p:cNvSpPr>
          <p:nvPr/>
        </p:nvSpPr>
        <p:spPr>
          <a:xfrm xmlns:a="http://schemas.openxmlformats.org/drawingml/2006/main">
            <a:off x="6229350" y="14287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550" b="1" i="0">
                <a:solidFill>
                  <a:srgbClr val="D5A62E"/>
                </a:solidFill>
              </a:defRPr>
            </a:defPPr>
            <a:lvl1pPr algn="ctr">
              <a:defRPr sz="2550" b="1" i="0">
                <a:solidFill>
                  <a:srgbClr val="D5A62E"/>
                </a:solidFill>
              </a:defRPr>
            </a:lvl1pPr>
            <a:lvl2pPr algn="ctr">
              <a:defRPr sz="2550" b="1" i="0">
                <a:solidFill>
                  <a:srgbClr val="D5A62E"/>
                </a:solidFill>
              </a:defRPr>
            </a:lvl2pPr>
            <a:lvl3pPr algn="ctr">
              <a:defRPr sz="2550" b="1" i="0">
                <a:solidFill>
                  <a:srgbClr val="D5A62E"/>
                </a:solidFill>
              </a:defRPr>
            </a:lvl3pPr>
            <a:lvl4pPr algn="ctr">
              <a:defRPr sz="2550" b="1" i="0">
                <a:solidFill>
                  <a:srgbClr val="D5A62E"/>
                </a:solidFill>
              </a:defRPr>
            </a:lvl4pPr>
            <a:lvl5pPr algn="ctr">
              <a:defRPr sz="2550" b="1" i="0">
                <a:solidFill>
                  <a:srgbClr val="D5A62E"/>
                </a:solidFill>
              </a:defRPr>
            </a:lvl5pPr>
            <a:lvl6pPr algn="ctr">
              <a:defRPr sz="2550" b="1" i="0">
                <a:solidFill>
                  <a:srgbClr val="D5A62E"/>
                </a:solidFill>
              </a:defRPr>
            </a:lvl6pPr>
            <a:lvl7pPr algn="ctr">
              <a:defRPr sz="2550" b="1" i="0">
                <a:solidFill>
                  <a:srgbClr val="D5A62E"/>
                </a:solidFill>
              </a:defRPr>
            </a:lvl7pPr>
            <a:lvl8pPr algn="ctr">
              <a:defRPr sz="2550" b="1" i="0">
                <a:solidFill>
                  <a:srgbClr val="D5A62E"/>
                </a:solidFill>
              </a:defRPr>
            </a:lvl8pPr>
            <a:lvl9pPr algn="ctr">
              <a:defRPr sz="2550" b="1" i="0">
                <a:solidFill>
                  <a:srgbClr val="D5A62E"/>
                </a:solidFill>
              </a:defRPr>
            </a:lvl9pPr>
          </a:lstStyle>
          <a:p xmlns:a="http://schemas.openxmlformats.org/drawingml/2006/main">
            <a:pPr algn="ctr">
              <a:defRPr sz="2550" b="1" i="0">
                <a:solidFill>
                  <a:srgbClr val="D5A62E"/>
                </a:solidFill>
              </a:defRPr>
            </a:pPr>
            <a:r>
              <a:rPr sz="2550" b="1" i="0">
                <a:solidFill>
                  <a:srgbClr val="D5A62E"/>
                </a:solidFill>
              </a:rPr>
              <a:t>3</a:t>
            </a:r>
          </a:p>
        </p:txBody>
      </p:sp>
      <p:sp>
        <p:nvSpPr>
          <p:cNvPr id="10" name="">
            <a:extLst xmlns:a="http://schemas.openxmlformats.org/drawingml/2006/main">
              <a:ext uri="{FF2B5EF4-FFF2-40B4-BE49-F238E27FC236}">
                <a16:creationId xmlns:a16="http://schemas.microsoft.com/office/drawing/2014/main" id="{ED9E71C9-9B84-4EB0-9C36-1993169499EC}"/>
              </a:ext>
            </a:extLst>
          </p:cNvPr>
          <p:cNvSpPr>
            <a:spLocks xmlns:a="http://schemas.openxmlformats.org/drawingml/2006/main" noGrp="1"/>
          </p:cNvSpPr>
          <p:nvPr/>
        </p:nvSpPr>
        <p:spPr>
          <a:xfrm xmlns:a="http://schemas.openxmlformats.org/drawingml/2006/main">
            <a:off x="6781800" y="1352550"/>
            <a:ext cx="2057400" cy="800100"/>
          </a:xfrm>
          <a:prstGeom xmlns:a="http://schemas.openxmlformats.org/drawingml/2006/main" prst="roundRect">
            <a:avLst>
              <a:gd name="adj" fmla="val 9524"/>
            </a:avLst>
          </a:prstGeom>
          <a:solidFill xmlns:a="http://schemas.openxmlformats.org/drawingml/2006/main">
            <a:srgbClr val="FFFDFC"/>
          </a:solidFill>
          <a:ln xmlns:a="http://schemas.openxmlformats.org/drawingml/2006/main" w="9525">
            <a:solidFill>
              <a:srgbClr val="D9D5CC"/>
            </a:solidFill>
            <a:prstDash val="solid"/>
          </a:ln>
        </p:spPr>
        <p:txBody>
          <a:bodyPr xmlns:a="http://schemas.openxmlformats.org/drawingml/2006/main" anchor="ctr"/>
          <a:lstStyle xmlns:a="http://schemas.openxmlformats.org/drawingml/2006/main">
            <a:defPPr algn="ctr">
              <a:defRPr sz="1350" b="0">
                <a:solidFill>
                  <a:srgbClr val="132238"/>
                </a:solidFill>
              </a:defRPr>
            </a:defPPr>
            <a:lvl1pPr algn="ctr">
              <a:defRPr sz="1350" b="0">
                <a:solidFill>
                  <a:srgbClr val="132238"/>
                </a:solidFill>
              </a:defRPr>
            </a:lvl1pPr>
            <a:lvl2pPr algn="ctr">
              <a:defRPr sz="1350" b="0">
                <a:solidFill>
                  <a:srgbClr val="132238"/>
                </a:solidFill>
              </a:defRPr>
            </a:lvl2pPr>
            <a:lvl3pPr algn="ctr">
              <a:defRPr sz="1350" b="0">
                <a:solidFill>
                  <a:srgbClr val="132238"/>
                </a:solidFill>
              </a:defRPr>
            </a:lvl3pPr>
            <a:lvl4pPr algn="ctr">
              <a:defRPr sz="1350" b="0">
                <a:solidFill>
                  <a:srgbClr val="132238"/>
                </a:solidFill>
              </a:defRPr>
            </a:lvl4pPr>
            <a:lvl5pPr algn="ctr">
              <a:defRPr sz="1350" b="0">
                <a:solidFill>
                  <a:srgbClr val="132238"/>
                </a:solidFill>
              </a:defRPr>
            </a:lvl5pPr>
            <a:lvl6pPr algn="ctr">
              <a:defRPr sz="1350" b="0">
                <a:solidFill>
                  <a:srgbClr val="132238"/>
                </a:solidFill>
              </a:defRPr>
            </a:lvl6pPr>
            <a:lvl7pPr algn="ctr">
              <a:defRPr sz="1350" b="0">
                <a:solidFill>
                  <a:srgbClr val="132238"/>
                </a:solidFill>
              </a:defRPr>
            </a:lvl7pPr>
            <a:lvl8pPr algn="ctr">
              <a:defRPr sz="1350" b="0">
                <a:solidFill>
                  <a:srgbClr val="132238"/>
                </a:solidFill>
              </a:defRPr>
            </a:lvl8pPr>
            <a:lvl9pPr algn="ctr">
              <a:defRPr sz="1350" b="0">
                <a:solidFill>
                  <a:srgbClr val="132238"/>
                </a:solidFill>
              </a:defRPr>
            </a:lvl9pPr>
          </a:lstStyle>
          <a:p xmlns:a="http://schemas.openxmlformats.org/drawingml/2006/main">
            <a:pPr algn="ctr">
              <a:defRPr sz="1350" b="0">
                <a:solidFill>
                  <a:srgbClr val="132238"/>
                </a:solidFill>
              </a:defRPr>
            </a:pPr>
            <a:r>
              <a:rPr sz="1350" b="0">
                <a:solidFill>
                  <a:srgbClr val="132238"/>
                </a:solidFill>
              </a:rPr>
              <a:t>Entraîner</a:t>
            </a:r>
          </a:p>
          <a:p xmlns:a="http://schemas.openxmlformats.org/drawingml/2006/main">
            <a:pPr algn="ctr">
              <a:defRPr sz="1350" b="0">
                <a:solidFill>
                  <a:srgbClr val="132238"/>
                </a:solidFill>
              </a:defRPr>
            </a:pPr>
            <a:r>
              <a:rPr sz="1350" b="0">
                <a:solidFill>
                  <a:srgbClr val="132238"/>
                </a:solidFill>
              </a:rPr>
              <a:t>Suivre la validation</a:t>
            </a:r>
          </a:p>
        </p:txBody>
      </p:sp>
      <p:sp>
        <p:nvSpPr>
          <p:cNvPr id="12" name="">
            <a:extLst xmlns:a="http://schemas.openxmlformats.org/drawingml/2006/main">
              <a:ext uri="{FF2B5EF4-FFF2-40B4-BE49-F238E27FC236}">
                <a16:creationId xmlns:a16="http://schemas.microsoft.com/office/drawing/2014/main" id="{C8584FDF-57DC-4243-A29E-063CD71583EC}"/>
              </a:ext>
            </a:extLst>
          </p:cNvPr>
          <p:cNvSpPr>
            <a:spLocks xmlns:a="http://schemas.openxmlformats.org/drawingml/2006/main" noGrp="1"/>
          </p:cNvSpPr>
          <p:nvPr/>
        </p:nvSpPr>
        <p:spPr>
          <a:xfrm xmlns:a="http://schemas.openxmlformats.org/drawingml/2006/main">
            <a:off x="9010650" y="14287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550" b="1" i="0">
                <a:solidFill>
                  <a:srgbClr val="D5A62E"/>
                </a:solidFill>
              </a:defRPr>
            </a:defPPr>
            <a:lvl1pPr algn="ctr">
              <a:defRPr sz="2550" b="1" i="0">
                <a:solidFill>
                  <a:srgbClr val="D5A62E"/>
                </a:solidFill>
              </a:defRPr>
            </a:lvl1pPr>
            <a:lvl2pPr algn="ctr">
              <a:defRPr sz="2550" b="1" i="0">
                <a:solidFill>
                  <a:srgbClr val="D5A62E"/>
                </a:solidFill>
              </a:defRPr>
            </a:lvl2pPr>
            <a:lvl3pPr algn="ctr">
              <a:defRPr sz="2550" b="1" i="0">
                <a:solidFill>
                  <a:srgbClr val="D5A62E"/>
                </a:solidFill>
              </a:defRPr>
            </a:lvl3pPr>
            <a:lvl4pPr algn="ctr">
              <a:defRPr sz="2550" b="1" i="0">
                <a:solidFill>
                  <a:srgbClr val="D5A62E"/>
                </a:solidFill>
              </a:defRPr>
            </a:lvl4pPr>
            <a:lvl5pPr algn="ctr">
              <a:defRPr sz="2550" b="1" i="0">
                <a:solidFill>
                  <a:srgbClr val="D5A62E"/>
                </a:solidFill>
              </a:defRPr>
            </a:lvl5pPr>
            <a:lvl6pPr algn="ctr">
              <a:defRPr sz="2550" b="1" i="0">
                <a:solidFill>
                  <a:srgbClr val="D5A62E"/>
                </a:solidFill>
              </a:defRPr>
            </a:lvl6pPr>
            <a:lvl7pPr algn="ctr">
              <a:defRPr sz="2550" b="1" i="0">
                <a:solidFill>
                  <a:srgbClr val="D5A62E"/>
                </a:solidFill>
              </a:defRPr>
            </a:lvl7pPr>
            <a:lvl8pPr algn="ctr">
              <a:defRPr sz="2550" b="1" i="0">
                <a:solidFill>
                  <a:srgbClr val="D5A62E"/>
                </a:solidFill>
              </a:defRPr>
            </a:lvl8pPr>
            <a:lvl9pPr algn="ctr">
              <a:defRPr sz="2550" b="1" i="0">
                <a:solidFill>
                  <a:srgbClr val="D5A62E"/>
                </a:solidFill>
              </a:defRPr>
            </a:lvl9pPr>
          </a:lstStyle>
          <a:p xmlns:a="http://schemas.openxmlformats.org/drawingml/2006/main">
            <a:pPr algn="ctr">
              <a:defRPr sz="2550" b="1" i="0">
                <a:solidFill>
                  <a:srgbClr val="D5A62E"/>
                </a:solidFill>
              </a:defRPr>
            </a:pPr>
            <a:r>
              <a:rPr sz="2550" b="1" i="0">
                <a:solidFill>
                  <a:srgbClr val="D5A62E"/>
                </a:solidFill>
              </a:rPr>
              <a:t>4</a:t>
            </a:r>
          </a:p>
        </p:txBody>
      </p:sp>
      <p:sp>
        <p:nvSpPr>
          <p:cNvPr id="13" name="">
            <a:extLst xmlns:a="http://schemas.openxmlformats.org/drawingml/2006/main">
              <a:ext uri="{FF2B5EF4-FFF2-40B4-BE49-F238E27FC236}">
                <a16:creationId xmlns:a16="http://schemas.microsoft.com/office/drawing/2014/main" id="{53B534F4-86C2-475D-A0CB-9F78C9B032B3}"/>
              </a:ext>
            </a:extLst>
          </p:cNvPr>
          <p:cNvSpPr>
            <a:spLocks xmlns:a="http://schemas.openxmlformats.org/drawingml/2006/main" noGrp="1"/>
          </p:cNvSpPr>
          <p:nvPr/>
        </p:nvSpPr>
        <p:spPr>
          <a:xfrm xmlns:a="http://schemas.openxmlformats.org/drawingml/2006/main">
            <a:off x="9563100" y="1352550"/>
            <a:ext cx="2057400" cy="800100"/>
          </a:xfrm>
          <a:prstGeom xmlns:a="http://schemas.openxmlformats.org/drawingml/2006/main" prst="roundRect">
            <a:avLst>
              <a:gd name="adj" fmla="val 9524"/>
            </a:avLst>
          </a:prstGeom>
          <a:solidFill xmlns:a="http://schemas.openxmlformats.org/drawingml/2006/main">
            <a:srgbClr val="FFFDFC"/>
          </a:solidFill>
          <a:ln xmlns:a="http://schemas.openxmlformats.org/drawingml/2006/main" w="9525">
            <a:solidFill>
              <a:srgbClr val="D9D5CC"/>
            </a:solidFill>
            <a:prstDash val="solid"/>
          </a:ln>
        </p:spPr>
        <p:txBody>
          <a:bodyPr xmlns:a="http://schemas.openxmlformats.org/drawingml/2006/main" anchor="ctr"/>
          <a:lstStyle xmlns:a="http://schemas.openxmlformats.org/drawingml/2006/main">
            <a:defPPr algn="ctr">
              <a:defRPr sz="1350" b="0">
                <a:solidFill>
                  <a:srgbClr val="132238"/>
                </a:solidFill>
              </a:defRPr>
            </a:defPPr>
            <a:lvl1pPr algn="ctr">
              <a:defRPr sz="1350" b="0">
                <a:solidFill>
                  <a:srgbClr val="132238"/>
                </a:solidFill>
              </a:defRPr>
            </a:lvl1pPr>
            <a:lvl2pPr algn="ctr">
              <a:defRPr sz="1350" b="0">
                <a:solidFill>
                  <a:srgbClr val="132238"/>
                </a:solidFill>
              </a:defRPr>
            </a:lvl2pPr>
            <a:lvl3pPr algn="ctr">
              <a:defRPr sz="1350" b="0">
                <a:solidFill>
                  <a:srgbClr val="132238"/>
                </a:solidFill>
              </a:defRPr>
            </a:lvl3pPr>
            <a:lvl4pPr algn="ctr">
              <a:defRPr sz="1350" b="0">
                <a:solidFill>
                  <a:srgbClr val="132238"/>
                </a:solidFill>
              </a:defRPr>
            </a:lvl4pPr>
            <a:lvl5pPr algn="ctr">
              <a:defRPr sz="1350" b="0">
                <a:solidFill>
                  <a:srgbClr val="132238"/>
                </a:solidFill>
              </a:defRPr>
            </a:lvl5pPr>
            <a:lvl6pPr algn="ctr">
              <a:defRPr sz="1350" b="0">
                <a:solidFill>
                  <a:srgbClr val="132238"/>
                </a:solidFill>
              </a:defRPr>
            </a:lvl6pPr>
            <a:lvl7pPr algn="ctr">
              <a:defRPr sz="1350" b="0">
                <a:solidFill>
                  <a:srgbClr val="132238"/>
                </a:solidFill>
              </a:defRPr>
            </a:lvl7pPr>
            <a:lvl8pPr algn="ctr">
              <a:defRPr sz="1350" b="0">
                <a:solidFill>
                  <a:srgbClr val="132238"/>
                </a:solidFill>
              </a:defRPr>
            </a:lvl8pPr>
            <a:lvl9pPr algn="ctr">
              <a:defRPr sz="1350" b="0">
                <a:solidFill>
                  <a:srgbClr val="132238"/>
                </a:solidFill>
              </a:defRPr>
            </a:lvl9pPr>
          </a:lstStyle>
          <a:p xmlns:a="http://schemas.openxmlformats.org/drawingml/2006/main">
            <a:pPr algn="ctr">
              <a:defRPr sz="1350" b="0">
                <a:solidFill>
                  <a:srgbClr val="132238"/>
                </a:solidFill>
              </a:defRPr>
            </a:pPr>
            <a:r>
              <a:rPr sz="1350" b="0">
                <a:solidFill>
                  <a:srgbClr val="132238"/>
                </a:solidFill>
              </a:rPr>
              <a:t>Tester</a:t>
            </a:r>
          </a:p>
          <a:p xmlns:a="http://schemas.openxmlformats.org/drawingml/2006/main">
            <a:pPr algn="ctr">
              <a:defRPr sz="1350" b="0">
                <a:solidFill>
                  <a:srgbClr val="132238"/>
                </a:solidFill>
              </a:defRPr>
            </a:pPr>
            <a:r>
              <a:rPr sz="1350" b="0">
                <a:solidFill>
                  <a:srgbClr val="132238"/>
                </a:solidFill>
              </a:rPr>
              <a:t>Une évaluation finale</a:t>
            </a:r>
          </a:p>
        </p:txBody>
      </p:sp>
      <p:graphicFrame>
        <p:nvGraphicFramePr>
          <p:cNvPr id="15" name="">
            <a:extLst xmlns:a="http://schemas.openxmlformats.org/drawingml/2006/main">
              <a:ext uri="{FF2B5EF4-FFF2-40B4-BE49-F238E27FC236}">
                <a16:creationId xmlns:a16="http://schemas.microsoft.com/office/drawing/2014/main" id="{7D31B8EF-D228-4D75-8931-86B5B79632A1}"/>
              </a:ext>
            </a:extLst>
          </p:cNvPr>
          <p:cNvGraphicFramePr/>
          <p:nvPr/>
        </p:nvGraphicFramePr>
        <p:xfrm>
          <a:off xmlns:a="http://schemas.openxmlformats.org/drawingml/2006/main" x="666750" y="2857500"/>
          <a:ext xmlns:a="http://schemas.openxmlformats.org/drawingml/2006/main" cx="10858500" cy="2381250"/>
        </p:xfrm>
        <a:graphic xmlns:a="http://schemas.openxmlformats.org/drawingml/2006/main">
          <a:graphicData uri="http://schemas.openxmlformats.org/drawingml/2006/table">
            <a:tbl>
              <a:tblPr firstRow="1" firstCol="0" bandRow="1">
                <a:tableStyleId>{5C22544A-7EE6-4342-B048-85BDC9FD1C3A}</a:tableStyleId>
              </a:tblPr>
              <a:tblGrid>
                <a:gridCol w="1809750"/>
                <a:gridCol w="3143250"/>
                <a:gridCol w="2476500"/>
                <a:gridCol w="3429000"/>
              </a:tblGrid>
              <a:tr h="595313">
                <a:tc>
                  <a:txBody>
                    <a:bodyPr/>
                    <a:lstStyle/>
                    <a:p>
                      <a:r>
                        <a:rPr sz="1200" b="1">
                          <a:solidFill>
                            <a:srgbClr val="FFFFFF"/>
                          </a:solidFill>
                          <a:latin typeface="Aptos"/>
                          <a:ea typeface="Aptos"/>
                          <a:cs typeface="Aptos"/>
                        </a:rPr>
                        <a:t>Nature</a:t>
                      </a:r>
                    </a:p>
                  </a:txBody>
                  <a:tcPr marL="91440" marR="91440" marT="45720" marB="45720">
                    <a:solidFill>
                      <a:srgbClr val="0D2035"/>
                    </a:solidFill>
                  </a:tcPr>
                </a:tc>
                <a:tc>
                  <a:txBody>
                    <a:bodyPr/>
                    <a:lstStyle/>
                    <a:p>
                      <a:r>
                        <a:rPr sz="1200" b="1">
                          <a:solidFill>
                            <a:srgbClr val="FFFFFF"/>
                          </a:solidFill>
                          <a:latin typeface="Aptos"/>
                          <a:ea typeface="Aptos"/>
                          <a:cs typeface="Aptos"/>
                        </a:rPr>
                        <a:t>Jeu de données</a:t>
                      </a:r>
                    </a:p>
                  </a:txBody>
                  <a:tcPr marL="91440" marR="91440" marT="45720" marB="45720">
                    <a:solidFill>
                      <a:srgbClr val="0D2035"/>
                    </a:solidFill>
                  </a:tcPr>
                </a:tc>
                <a:tc>
                  <a:txBody>
                    <a:bodyPr/>
                    <a:lstStyle/>
                    <a:p>
                      <a:r>
                        <a:rPr sz="1200" b="1">
                          <a:solidFill>
                            <a:srgbClr val="FFFFFF"/>
                          </a:solidFill>
                          <a:latin typeface="Aptos"/>
                          <a:ea typeface="Aptos"/>
                          <a:cs typeface="Aptos"/>
                        </a:rPr>
                        <a:t>Tâche</a:t>
                      </a:r>
                    </a:p>
                  </a:txBody>
                  <a:tcPr marL="91440" marR="91440" marT="45720" marB="45720">
                    <a:solidFill>
                      <a:srgbClr val="0D2035"/>
                    </a:solidFill>
                  </a:tcPr>
                </a:tc>
                <a:tc>
                  <a:txBody>
                    <a:bodyPr/>
                    <a:lstStyle/>
                    <a:p>
                      <a:r>
                        <a:rPr sz="1200" b="1">
                          <a:solidFill>
                            <a:srgbClr val="FFFFFF"/>
                          </a:solidFill>
                          <a:latin typeface="Aptos"/>
                          <a:ea typeface="Aptos"/>
                          <a:cs typeface="Aptos"/>
                        </a:rPr>
                        <a:t>Architecture</a:t>
                      </a:r>
                    </a:p>
                  </a:txBody>
                  <a:tcPr marL="91440" marR="91440" marT="45720" marB="45720">
                    <a:solidFill>
                      <a:srgbClr val="0D2035"/>
                    </a:solidFill>
                  </a:tcPr>
                </a:tc>
              </a:tr>
              <a:tr h="595313">
                <a:tc>
                  <a:txBody>
                    <a:bodyPr/>
                    <a:lstStyle/>
                    <a:p>
                      <a:r>
                        <a:rPr sz="1125">
                          <a:solidFill>
                            <a:srgbClr val="132238"/>
                          </a:solidFill>
                          <a:latin typeface="Aptos"/>
                          <a:ea typeface="Aptos"/>
                          <a:cs typeface="Aptos"/>
                        </a:rPr>
                        <a:t>Tabulaire</a:t>
                      </a:r>
                    </a:p>
                  </a:txBody>
                  <a:tcPr marL="91440" marR="91440" marT="45720" marB="45720"/>
                </a:tc>
                <a:tc>
                  <a:txBody>
                    <a:bodyPr/>
                    <a:lstStyle/>
                    <a:p>
                      <a:r>
                        <a:rPr sz="1125">
                          <a:solidFill>
                            <a:srgbClr val="132238"/>
                          </a:solidFill>
                          <a:latin typeface="Aptos"/>
                          <a:ea typeface="Aptos"/>
                          <a:cs typeface="Aptos"/>
                        </a:rPr>
                        <a:t>Titanic</a:t>
                      </a:r>
                    </a:p>
                  </a:txBody>
                  <a:tcPr marL="91440" marR="91440" marT="45720" marB="45720"/>
                </a:tc>
                <a:tc>
                  <a:txBody>
                    <a:bodyPr/>
                    <a:lstStyle/>
                    <a:p>
                      <a:r>
                        <a:rPr sz="1125">
                          <a:solidFill>
                            <a:srgbClr val="132238"/>
                          </a:solidFill>
                          <a:latin typeface="Aptos"/>
                          <a:ea typeface="Aptos"/>
                          <a:cs typeface="Aptos"/>
                        </a:rPr>
                        <a:t>Survie binaire</a:t>
                      </a:r>
                    </a:p>
                  </a:txBody>
                  <a:tcPr marL="91440" marR="91440" marT="45720" marB="45720"/>
                </a:tc>
                <a:tc>
                  <a:txBody>
                    <a:bodyPr/>
                    <a:lstStyle/>
                    <a:p>
                      <a:r>
                        <a:rPr sz="1125">
                          <a:solidFill>
                            <a:srgbClr val="132238"/>
                          </a:solidFill>
                          <a:latin typeface="Aptos"/>
                          <a:ea typeface="Aptos"/>
                          <a:cs typeface="Aptos"/>
                        </a:rPr>
                        <a:t>MLP</a:t>
                      </a:r>
                    </a:p>
                  </a:txBody>
                  <a:tcPr marL="91440" marR="91440" marT="45720" marB="45720"/>
                </a:tc>
              </a:tr>
              <a:tr h="595313">
                <a:tc>
                  <a:txBody>
                    <a:bodyPr/>
                    <a:lstStyle/>
                    <a:p>
                      <a:r>
                        <a:rPr sz="1125">
                          <a:solidFill>
                            <a:srgbClr val="132238"/>
                          </a:solidFill>
                          <a:latin typeface="Aptos"/>
                          <a:ea typeface="Aptos"/>
                          <a:cs typeface="Aptos"/>
                        </a:rPr>
                        <a:t>Image</a:t>
                      </a:r>
                    </a:p>
                  </a:txBody>
                  <a:tcPr marL="91440" marR="91440" marT="45720" marB="45720"/>
                </a:tc>
                <a:tc>
                  <a:txBody>
                    <a:bodyPr/>
                    <a:lstStyle/>
                    <a:p>
                      <a:r>
                        <a:rPr sz="1125">
                          <a:solidFill>
                            <a:srgbClr val="132238"/>
                          </a:solidFill>
                          <a:latin typeface="Aptos"/>
                          <a:ea typeface="Aptos"/>
                          <a:cs typeface="Aptos"/>
                        </a:rPr>
                        <a:t>Fashion-MNIST</a:t>
                      </a:r>
                    </a:p>
                  </a:txBody>
                  <a:tcPr marL="91440" marR="91440" marT="45720" marB="45720"/>
                </a:tc>
                <a:tc>
                  <a:txBody>
                    <a:bodyPr/>
                    <a:lstStyle/>
                    <a:p>
                      <a:r>
                        <a:rPr sz="1125">
                          <a:solidFill>
                            <a:srgbClr val="132238"/>
                          </a:solidFill>
                          <a:latin typeface="Aptos"/>
                          <a:ea typeface="Aptos"/>
                          <a:cs typeface="Aptos"/>
                        </a:rPr>
                        <a:t>10 classes</a:t>
                      </a:r>
                    </a:p>
                  </a:txBody>
                  <a:tcPr marL="91440" marR="91440" marT="45720" marB="45720"/>
                </a:tc>
                <a:tc>
                  <a:txBody>
                    <a:bodyPr/>
                    <a:lstStyle/>
                    <a:p>
                      <a:r>
                        <a:rPr sz="1125">
                          <a:solidFill>
                            <a:srgbClr val="132238"/>
                          </a:solidFill>
                          <a:latin typeface="Aptos"/>
                          <a:ea typeface="Aptos"/>
                          <a:cs typeface="Aptos"/>
                        </a:rPr>
                        <a:t>CNN</a:t>
                      </a:r>
                    </a:p>
                  </a:txBody>
                  <a:tcPr marL="91440" marR="91440" marT="45720" marB="45720"/>
                </a:tc>
              </a:tr>
              <a:tr h="595313">
                <a:tc>
                  <a:txBody>
                    <a:bodyPr/>
                    <a:lstStyle/>
                    <a:p>
                      <a:r>
                        <a:rPr sz="1125">
                          <a:solidFill>
                            <a:srgbClr val="132238"/>
                          </a:solidFill>
                          <a:latin typeface="Aptos"/>
                          <a:ea typeface="Aptos"/>
                          <a:cs typeface="Aptos"/>
                        </a:rPr>
                        <a:t>Texte</a:t>
                      </a:r>
                    </a:p>
                  </a:txBody>
                  <a:tcPr marL="91440" marR="91440" marT="45720" marB="45720"/>
                </a:tc>
                <a:tc>
                  <a:txBody>
                    <a:bodyPr/>
                    <a:lstStyle/>
                    <a:p>
                      <a:r>
                        <a:rPr sz="1125">
                          <a:solidFill>
                            <a:srgbClr val="132238"/>
                          </a:solidFill>
                          <a:latin typeface="Aptos"/>
                          <a:ea typeface="Aptos"/>
                          <a:cs typeface="Aptos"/>
                        </a:rPr>
                        <a:t>48 poèmes de Victor Hugo</a:t>
                      </a:r>
                    </a:p>
                  </a:txBody>
                  <a:tcPr marL="91440" marR="91440" marT="45720" marB="45720"/>
                </a:tc>
                <a:tc>
                  <a:txBody>
                    <a:bodyPr/>
                    <a:lstStyle/>
                    <a:p>
                      <a:r>
                        <a:rPr sz="1125">
                          <a:solidFill>
                            <a:srgbClr val="132238"/>
                          </a:solidFill>
                          <a:latin typeface="Aptos"/>
                          <a:ea typeface="Aptos"/>
                          <a:cs typeface="Aptos"/>
                        </a:rPr>
                        <a:t>Mot suivant</a:t>
                      </a:r>
                    </a:p>
                  </a:txBody>
                  <a:tcPr marL="91440" marR="91440" marT="45720" marB="45720"/>
                </a:tc>
                <a:tc>
                  <a:txBody>
                    <a:bodyPr/>
                    <a:lstStyle/>
                    <a:p>
                      <a:r>
                        <a:rPr sz="1125">
                          <a:solidFill>
                            <a:srgbClr val="132238"/>
                          </a:solidFill>
                          <a:latin typeface="Aptos"/>
                          <a:ea typeface="Aptos"/>
                          <a:cs typeface="Aptos"/>
                        </a:rPr>
                        <a:t>SimpleRNN puis LSTM</a:t>
                      </a:r>
                    </a:p>
                  </a:txBody>
                  <a:tcPr marL="91440" marR="91440" marT="45720" marB="45720"/>
                </a:tc>
              </a:tr>
            </a:tbl>
          </a:graphicData>
        </a:graphic>
      </p:graphicFrame>
      <p:sp>
        <p:nvSpPr>
          <p:cNvPr id="16" name="">
            <a:extLst xmlns:a="http://schemas.openxmlformats.org/drawingml/2006/main">
              <a:ext uri="{FF2B5EF4-FFF2-40B4-BE49-F238E27FC236}">
                <a16:creationId xmlns:a16="http://schemas.microsoft.com/office/drawing/2014/main" id="{B618908C-B781-4C6E-8903-1ED641A0B419}"/>
              </a:ext>
            </a:extLst>
          </p:cNvPr>
          <p:cNvSpPr>
            <a:spLocks xmlns:a="http://schemas.openxmlformats.org/drawingml/2006/main" noGrp="1"/>
          </p:cNvSpPr>
          <p:nvPr/>
        </p:nvSpPr>
        <p:spPr>
          <a:xfrm xmlns:a="http://schemas.openxmlformats.org/drawingml/2006/main">
            <a:off x="666750" y="5619750"/>
            <a:ext cx="1000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0D2035"/>
                </a:solidFill>
              </a:defRPr>
            </a:defPPr>
            <a:lvl1pPr algn="l">
              <a:defRPr sz="1575" b="1" i="0">
                <a:solidFill>
                  <a:srgbClr val="0D2035"/>
                </a:solidFill>
              </a:defRPr>
            </a:lvl1pPr>
            <a:lvl2pPr algn="l">
              <a:defRPr sz="1575" b="1" i="0">
                <a:solidFill>
                  <a:srgbClr val="0D2035"/>
                </a:solidFill>
              </a:defRPr>
            </a:lvl2pPr>
            <a:lvl3pPr algn="l">
              <a:defRPr sz="1575" b="1" i="0">
                <a:solidFill>
                  <a:srgbClr val="0D2035"/>
                </a:solidFill>
              </a:defRPr>
            </a:lvl3pPr>
            <a:lvl4pPr algn="l">
              <a:defRPr sz="1575" b="1" i="0">
                <a:solidFill>
                  <a:srgbClr val="0D2035"/>
                </a:solidFill>
              </a:defRPr>
            </a:lvl4pPr>
            <a:lvl5pPr algn="l">
              <a:defRPr sz="1575" b="1" i="0">
                <a:solidFill>
                  <a:srgbClr val="0D2035"/>
                </a:solidFill>
              </a:defRPr>
            </a:lvl5pPr>
            <a:lvl6pPr algn="l">
              <a:defRPr sz="1575" b="1" i="0">
                <a:solidFill>
                  <a:srgbClr val="0D2035"/>
                </a:solidFill>
              </a:defRPr>
            </a:lvl6pPr>
            <a:lvl7pPr algn="l">
              <a:defRPr sz="1575" b="1" i="0">
                <a:solidFill>
                  <a:srgbClr val="0D2035"/>
                </a:solidFill>
              </a:defRPr>
            </a:lvl7pPr>
            <a:lvl8pPr algn="l">
              <a:defRPr sz="1575" b="1" i="0">
                <a:solidFill>
                  <a:srgbClr val="0D2035"/>
                </a:solidFill>
              </a:defRPr>
            </a:lvl8pPr>
            <a:lvl9pPr algn="l">
              <a:defRPr sz="1575" b="1" i="0">
                <a:solidFill>
                  <a:srgbClr val="0D2035"/>
                </a:solidFill>
              </a:defRPr>
            </a:lvl9pPr>
          </a:lstStyle>
          <a:p xmlns:a="http://schemas.openxmlformats.org/drawingml/2006/main">
            <a:pPr algn="l">
              <a:defRPr sz="1575" b="1" i="0">
                <a:solidFill>
                  <a:srgbClr val="0D2035"/>
                </a:solidFill>
              </a:defRPr>
            </a:pPr>
            <a:r>
              <a:rPr sz="1575" b="1" i="0">
                <a:solidFill>
                  <a:srgbClr val="0D2035"/>
                </a:solidFill>
              </a:rPr>
              <a:t>Principe : les choix viennent de la validation. Le test confirme ensuite la généralisation.</a:t>
            </a:r>
          </a:p>
        </p:txBody>
      </p:sp>
    </p:spTree>
    <p:extLst>
      <p:ext uri="{BB962C8B-B14F-4D97-AF65-F5344CB8AC3E}">
        <p14:creationId xmlns:p14="http://schemas.microsoft.com/office/powerpoint/2010/main" val="959262034"/>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574FCAF0-02DB-4417-8776-F399C162CC5F}"/>
              </a:ext>
            </a:extLst>
          </p:cNvPr>
          <p:cNvCxnSpPr>
            <a:stCxn xmlns:a="http://schemas.openxmlformats.org/drawingml/2006/main" id="10" idx="2"/>
            <a:endCxn xmlns:a="http://schemas.openxmlformats.org/drawingml/2006/main" id="11" idx="3"/>
          </p:cNvCxnSpPr>
          <p:nvPr/>
        </p:nvCxnSpPr>
        <p:spPr>
          <a:xfrm xmlns:a="http://schemas.openxmlformats.org/drawingml/2006/main" flipH="1">
            <a:off x="9239250" y="2924175"/>
            <a:ext cx="1404938" cy="981075"/>
          </a:xfrm>
          <a:prstGeom xmlns:a="http://schemas.openxmlformats.org/drawingml/2006/main" prst="bentConnector5">
            <a:avLst>
              <a:gd name="adj1" fmla="val 0"/>
              <a:gd name="adj2" fmla="val 23301"/>
              <a:gd name="adj3" fmla="val 83729"/>
            </a:avLst>
          </a:prstGeom>
          <a:ln xmlns:a="http://schemas.openxmlformats.org/drawingml/2006/main" w="19050">
            <a:solidFill>
              <a:srgbClr val="D7654F"/>
            </a:solidFill>
            <a:prstDash val="solid"/>
          </a:ln>
        </p:spPr>
      </p:cxnSp>
      <p:cxnSp>
        <p:nvCxnSpPr>
          <p:cNvPr id="14" name="">
            <a:extLst xmlns:a="http://schemas.openxmlformats.org/drawingml/2006/main">
              <a:ext uri="{FF2B5EF4-FFF2-40B4-BE49-F238E27FC236}">
                <a16:creationId xmlns:a16="http://schemas.microsoft.com/office/drawing/2014/main" id="{57D8C637-0385-4A8C-AA2A-D8CDAB3CD39F}"/>
              </a:ext>
            </a:extLst>
          </p:cNvPr>
          <p:cNvCxnSpPr>
            <a:stCxn xmlns:a="http://schemas.openxmlformats.org/drawingml/2006/main" id="9" idx="3"/>
            <a:endCxn xmlns:a="http://schemas.openxmlformats.org/drawingml/2006/main" id="10" idx="1"/>
          </p:cNvCxnSpPr>
          <p:nvPr/>
        </p:nvCxnSpPr>
        <p:spPr>
          <a:xfrm xmlns:a="http://schemas.openxmlformats.org/drawingml/2006/main">
            <a:off x="9477375" y="2438400"/>
            <a:ext cx="476250" cy="0"/>
          </a:xfrm>
          <a:prstGeom xmlns:a="http://schemas.openxmlformats.org/drawingml/2006/main" prst="straightConnector1">
            <a:avLst/>
          </a:prstGeom>
          <a:ln xmlns:a="http://schemas.openxmlformats.org/drawingml/2006/main" w="19050">
            <a:solidFill>
              <a:srgbClr val="D7654F"/>
            </a:solidFill>
            <a:prstDash val="solid"/>
          </a:ln>
        </p:spPr>
      </p:cxnSp>
      <p:cxnSp>
        <p:nvCxnSpPr>
          <p:cNvPr id="13" name="">
            <a:extLst xmlns:a="http://schemas.openxmlformats.org/drawingml/2006/main">
              <a:ext uri="{FF2B5EF4-FFF2-40B4-BE49-F238E27FC236}">
                <a16:creationId xmlns:a16="http://schemas.microsoft.com/office/drawing/2014/main" id="{E5119096-BDA7-4B15-82C0-F96A7998161C}"/>
              </a:ext>
            </a:extLst>
          </p:cNvPr>
          <p:cNvCxnSpPr>
            <a:stCxn xmlns:a="http://schemas.openxmlformats.org/drawingml/2006/main" id="8" idx="3"/>
            <a:endCxn xmlns:a="http://schemas.openxmlformats.org/drawingml/2006/main" id="9" idx="1"/>
          </p:cNvCxnSpPr>
          <p:nvPr/>
        </p:nvCxnSpPr>
        <p:spPr>
          <a:xfrm xmlns:a="http://schemas.openxmlformats.org/drawingml/2006/main">
            <a:off x="7762875" y="2438400"/>
            <a:ext cx="476250" cy="0"/>
          </a:xfrm>
          <a:prstGeom xmlns:a="http://schemas.openxmlformats.org/drawingml/2006/main" prst="straightConnector1">
            <a:avLst/>
          </a:prstGeom>
          <a:ln xmlns:a="http://schemas.openxmlformats.org/drawingml/2006/main" w="19050">
            <a:solidFill>
              <a:srgbClr val="D7654F"/>
            </a:solidFill>
            <a:prstDash val="solid"/>
          </a:ln>
        </p:spPr>
      </p:cxnSp>
      <p:cxnSp>
        <p:nvCxnSpPr>
          <p:cNvPr id="12" name="">
            <a:extLst xmlns:a="http://schemas.openxmlformats.org/drawingml/2006/main">
              <a:ext uri="{FF2B5EF4-FFF2-40B4-BE49-F238E27FC236}">
                <a16:creationId xmlns:a16="http://schemas.microsoft.com/office/drawing/2014/main" id="{9FED7BB5-D863-4585-80BA-B9762AACE518}"/>
              </a:ext>
            </a:extLst>
          </p:cNvPr>
          <p:cNvCxnSpPr>
            <a:stCxn xmlns:a="http://schemas.openxmlformats.org/drawingml/2006/main" id="7" idx="3"/>
            <a:endCxn xmlns:a="http://schemas.openxmlformats.org/drawingml/2006/main" id="8" idx="1"/>
          </p:cNvCxnSpPr>
          <p:nvPr/>
        </p:nvCxnSpPr>
        <p:spPr>
          <a:xfrm xmlns:a="http://schemas.openxmlformats.org/drawingml/2006/main">
            <a:off x="5762625" y="2438400"/>
            <a:ext cx="571500" cy="0"/>
          </a:xfrm>
          <a:prstGeom xmlns:a="http://schemas.openxmlformats.org/drawingml/2006/main" prst="straightConnector1">
            <a:avLst/>
          </a:prstGeom>
          <a:ln xmlns:a="http://schemas.openxmlformats.org/drawingml/2006/main" w="19050">
            <a:solidFill>
              <a:srgbClr val="D7654F"/>
            </a:solidFill>
            <a:prstDash val="solid"/>
          </a:ln>
        </p:spPr>
      </p:cxnSp>
      <p:sp>
        <p:nvSpPr>
          <p:cNvPr id="23" name="">
            <a:extLst xmlns:a="http://schemas.openxmlformats.org/drawingml/2006/main">
              <a:ext uri="{FF2B5EF4-FFF2-40B4-BE49-F238E27FC236}">
                <a16:creationId xmlns:a16="http://schemas.microsoft.com/office/drawing/2014/main" id="{E8DCAF85-9B70-42BD-A11F-CE30549B50F2}"/>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i="0">
                <a:solidFill>
                  <a:srgbClr val="132238"/>
                </a:solidFill>
              </a:defRPr>
            </a:defPPr>
            <a:lvl1pPr algn="l">
              <a:defRPr sz="2850" b="1" i="0">
                <a:solidFill>
                  <a:srgbClr val="132238"/>
                </a:solidFill>
              </a:defRPr>
            </a:lvl1pPr>
            <a:lvl2pPr algn="l">
              <a:defRPr sz="2850" b="1" i="0">
                <a:solidFill>
                  <a:srgbClr val="132238"/>
                </a:solidFill>
              </a:defRPr>
            </a:lvl2pPr>
            <a:lvl3pPr algn="l">
              <a:defRPr sz="2850" b="1" i="0">
                <a:solidFill>
                  <a:srgbClr val="132238"/>
                </a:solidFill>
              </a:defRPr>
            </a:lvl3pPr>
            <a:lvl4pPr algn="l">
              <a:defRPr sz="2850" b="1" i="0">
                <a:solidFill>
                  <a:srgbClr val="132238"/>
                </a:solidFill>
              </a:defRPr>
            </a:lvl4pPr>
            <a:lvl5pPr algn="l">
              <a:defRPr sz="2850" b="1" i="0">
                <a:solidFill>
                  <a:srgbClr val="132238"/>
                </a:solidFill>
              </a:defRPr>
            </a:lvl5pPr>
            <a:lvl6pPr algn="l">
              <a:defRPr sz="2850" b="1" i="0">
                <a:solidFill>
                  <a:srgbClr val="132238"/>
                </a:solidFill>
              </a:defRPr>
            </a:lvl6pPr>
            <a:lvl7pPr algn="l">
              <a:defRPr sz="2850" b="1" i="0">
                <a:solidFill>
                  <a:srgbClr val="132238"/>
                </a:solidFill>
              </a:defRPr>
            </a:lvl7pPr>
            <a:lvl8pPr algn="l">
              <a:defRPr sz="2850" b="1" i="0">
                <a:solidFill>
                  <a:srgbClr val="132238"/>
                </a:solidFill>
              </a:defRPr>
            </a:lvl8pPr>
            <a:lvl9pPr algn="l">
              <a:defRPr sz="2850" b="1" i="0">
                <a:solidFill>
                  <a:srgbClr val="132238"/>
                </a:solidFill>
              </a:defRPr>
            </a:lvl9pPr>
          </a:lstStyle>
          <a:p xmlns:a="http://schemas.openxmlformats.org/drawingml/2006/main">
            <a:pPr algn="l">
              <a:defRPr sz="2850" b="1" i="0">
                <a:solidFill>
                  <a:srgbClr val="132238"/>
                </a:solidFill>
              </a:defRPr>
            </a:pPr>
            <a:r>
              <a:rPr sz="2850" b="1" i="0">
                <a:solidFill>
                  <a:srgbClr val="132238"/>
                </a:solidFill>
              </a:rPr>
              <a:t>Titanic : un MLP compact pour les données tabulaires</a:t>
            </a:r>
          </a:p>
        </p:txBody>
      </p:sp>
      <p:sp>
        <p:nvSpPr>
          <p:cNvPr id="2" name="">
            <a:extLst xmlns:a="http://schemas.openxmlformats.org/drawingml/2006/main">
              <a:ext uri="{FF2B5EF4-FFF2-40B4-BE49-F238E27FC236}">
                <a16:creationId xmlns:a16="http://schemas.microsoft.com/office/drawing/2014/main" id="{7C22EAD6-316F-4F1C-8D62-C01BC1DB5C82}"/>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D7654F"/>
          </a:solidFill>
          <a:ln xmlns:a="http://schemas.openxmlformats.org/drawingml/2006/main" w="0">
            <a:solidFill>
              <a:srgbClr val="D7654F"/>
            </a:solidFill>
            <a:prstDash val="solid"/>
          </a:ln>
        </p:spPr>
      </p:sp>
      <p:sp>
        <p:nvSpPr>
          <p:cNvPr id="3" name="">
            <a:extLst xmlns:a="http://schemas.openxmlformats.org/drawingml/2006/main">
              <a:ext uri="{FF2B5EF4-FFF2-40B4-BE49-F238E27FC236}">
                <a16:creationId xmlns:a16="http://schemas.microsoft.com/office/drawing/2014/main" id="{F82D7462-B254-40C1-9ACD-2165F57B9F96}"/>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03</a:t>
            </a:r>
          </a:p>
        </p:txBody>
      </p:sp>
      <p:sp>
        <p:nvSpPr>
          <p:cNvPr id="4" name="">
            <a:extLst xmlns:a="http://schemas.openxmlformats.org/drawingml/2006/main">
              <a:ext uri="{FF2B5EF4-FFF2-40B4-BE49-F238E27FC236}">
                <a16:creationId xmlns:a16="http://schemas.microsoft.com/office/drawing/2014/main" id="{AA6D769E-7703-4318-94AF-CF2EFD990F1D}"/>
              </a:ext>
            </a:extLst>
          </p:cNvPr>
          <p:cNvSpPr>
            <a:spLocks xmlns:a="http://schemas.openxmlformats.org/drawingml/2006/main" noGrp="1"/>
          </p:cNvSpPr>
          <p:nvPr/>
        </p:nvSpPr>
        <p:spPr>
          <a:xfrm xmlns:a="http://schemas.openxmlformats.org/drawingml/2006/main">
            <a:off x="666750" y="1381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800" b="1" i="0">
                <a:solidFill>
                  <a:srgbClr val="D7654F"/>
                </a:solidFill>
              </a:defRPr>
            </a:defPPr>
            <a:lvl1pPr algn="l">
              <a:defRPr sz="1800" b="1" i="0">
                <a:solidFill>
                  <a:srgbClr val="D7654F"/>
                </a:solidFill>
              </a:defRPr>
            </a:lvl1pPr>
            <a:lvl2pPr algn="l">
              <a:defRPr sz="1800" b="1" i="0">
                <a:solidFill>
                  <a:srgbClr val="D7654F"/>
                </a:solidFill>
              </a:defRPr>
            </a:lvl2pPr>
            <a:lvl3pPr algn="l">
              <a:defRPr sz="1800" b="1" i="0">
                <a:solidFill>
                  <a:srgbClr val="D7654F"/>
                </a:solidFill>
              </a:defRPr>
            </a:lvl3pPr>
            <a:lvl4pPr algn="l">
              <a:defRPr sz="1800" b="1" i="0">
                <a:solidFill>
                  <a:srgbClr val="D7654F"/>
                </a:solidFill>
              </a:defRPr>
            </a:lvl4pPr>
            <a:lvl5pPr algn="l">
              <a:defRPr sz="1800" b="1" i="0">
                <a:solidFill>
                  <a:srgbClr val="D7654F"/>
                </a:solidFill>
              </a:defRPr>
            </a:lvl5pPr>
            <a:lvl6pPr algn="l">
              <a:defRPr sz="1800" b="1" i="0">
                <a:solidFill>
                  <a:srgbClr val="D7654F"/>
                </a:solidFill>
              </a:defRPr>
            </a:lvl6pPr>
            <a:lvl7pPr algn="l">
              <a:defRPr sz="1800" b="1" i="0">
                <a:solidFill>
                  <a:srgbClr val="D7654F"/>
                </a:solidFill>
              </a:defRPr>
            </a:lvl7pPr>
            <a:lvl8pPr algn="l">
              <a:defRPr sz="1800" b="1" i="0">
                <a:solidFill>
                  <a:srgbClr val="D7654F"/>
                </a:solidFill>
              </a:defRPr>
            </a:lvl8pPr>
            <a:lvl9pPr algn="l">
              <a:defRPr sz="1800" b="1" i="0">
                <a:solidFill>
                  <a:srgbClr val="D7654F"/>
                </a:solidFill>
              </a:defRPr>
            </a:lvl9pPr>
          </a:lstStyle>
          <a:p xmlns:a="http://schemas.openxmlformats.org/drawingml/2006/main">
            <a:pPr algn="l">
              <a:defRPr sz="1800" b="1" i="0">
                <a:solidFill>
                  <a:srgbClr val="D7654F"/>
                </a:solidFill>
              </a:defRPr>
            </a:pPr>
            <a:r>
              <a:rPr sz="1800" b="1" i="0">
                <a:solidFill>
                  <a:srgbClr val="D7654F"/>
                </a:solidFill>
              </a:rPr>
              <a:t>Préparation sans fuite</a:t>
            </a:r>
          </a:p>
        </p:txBody>
      </p:sp>
      <p:sp>
        <p:nvSpPr>
          <p:cNvPr id="5" name="">
            <a:extLst xmlns:a="http://schemas.openxmlformats.org/drawingml/2006/main">
              <a:ext uri="{FF2B5EF4-FFF2-40B4-BE49-F238E27FC236}">
                <a16:creationId xmlns:a16="http://schemas.microsoft.com/office/drawing/2014/main" id="{4B8A8AEE-F44D-4EF8-8134-FCBE8E5CA551}"/>
              </a:ext>
            </a:extLst>
          </p:cNvPr>
          <p:cNvSpPr>
            <a:spLocks xmlns:a="http://schemas.openxmlformats.org/drawingml/2006/main" noGrp="1"/>
          </p:cNvSpPr>
          <p:nvPr/>
        </p:nvSpPr>
        <p:spPr>
          <a:xfrm xmlns:a="http://schemas.openxmlformats.org/drawingml/2006/main">
            <a:off x="666750" y="1809750"/>
            <a:ext cx="3238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0" i="0">
                <a:solidFill>
                  <a:srgbClr val="132238"/>
                </a:solidFill>
              </a:defRPr>
            </a:defPPr>
            <a:lvl1pPr algn="l">
              <a:defRPr sz="1575" b="0" i="0">
                <a:solidFill>
                  <a:srgbClr val="132238"/>
                </a:solidFill>
              </a:defRPr>
            </a:lvl1pPr>
            <a:lvl2pPr algn="l">
              <a:defRPr sz="1575" b="0" i="0">
                <a:solidFill>
                  <a:srgbClr val="132238"/>
                </a:solidFill>
              </a:defRPr>
            </a:lvl2pPr>
            <a:lvl3pPr algn="l">
              <a:defRPr sz="1575" b="0" i="0">
                <a:solidFill>
                  <a:srgbClr val="132238"/>
                </a:solidFill>
              </a:defRPr>
            </a:lvl3pPr>
            <a:lvl4pPr algn="l">
              <a:defRPr sz="1575" b="0" i="0">
                <a:solidFill>
                  <a:srgbClr val="132238"/>
                </a:solidFill>
              </a:defRPr>
            </a:lvl4pPr>
            <a:lvl5pPr algn="l">
              <a:defRPr sz="1575" b="0" i="0">
                <a:solidFill>
                  <a:srgbClr val="132238"/>
                </a:solidFill>
              </a:defRPr>
            </a:lvl5pPr>
            <a:lvl6pPr algn="l">
              <a:defRPr sz="1575" b="0" i="0">
                <a:solidFill>
                  <a:srgbClr val="132238"/>
                </a:solidFill>
              </a:defRPr>
            </a:lvl6pPr>
            <a:lvl7pPr algn="l">
              <a:defRPr sz="1575" b="0" i="0">
                <a:solidFill>
                  <a:srgbClr val="132238"/>
                </a:solidFill>
              </a:defRPr>
            </a:lvl7pPr>
            <a:lvl8pPr algn="l">
              <a:defRPr sz="1575" b="0" i="0">
                <a:solidFill>
                  <a:srgbClr val="132238"/>
                </a:solidFill>
              </a:defRPr>
            </a:lvl8pPr>
            <a:lvl9pPr algn="l">
              <a:defRPr sz="1575" b="0" i="0">
                <a:solidFill>
                  <a:srgbClr val="132238"/>
                </a:solidFill>
              </a:defRPr>
            </a:lvl9pPr>
          </a:lstStyle>
          <a:p xmlns:a="http://schemas.openxmlformats.org/drawingml/2006/main">
            <a:pPr algn="l">
              <a:defRPr sz="1575" b="0" i="0">
                <a:solidFill>
                  <a:srgbClr val="132238"/>
                </a:solidFill>
              </a:defRPr>
            </a:pPr>
            <a:r>
              <a:rPr sz="1575" b="0" i="0">
                <a:solidFill>
                  <a:srgbClr val="132238"/>
                </a:solidFill>
              </a:rPr>
              <a:t>569 passagers pour apprendre</a:t>
            </a:r>
          </a:p>
          <a:p xmlns:a="http://schemas.openxmlformats.org/drawingml/2006/main">
            <a:pPr algn="l">
              <a:defRPr sz="1575" b="0" i="0">
                <a:solidFill>
                  <a:srgbClr val="132238"/>
                </a:solidFill>
              </a:defRPr>
            </a:pPr>
            <a:r>
              <a:rPr sz="1575" b="0" i="0">
                <a:solidFill>
                  <a:srgbClr val="132238"/>
                </a:solidFill>
              </a:rPr>
              <a:t>143 pour valider</a:t>
            </a:r>
          </a:p>
          <a:p xmlns:a="http://schemas.openxmlformats.org/drawingml/2006/main">
            <a:pPr algn="l">
              <a:defRPr sz="1575" b="0" i="0">
                <a:solidFill>
                  <a:srgbClr val="132238"/>
                </a:solidFill>
              </a:defRPr>
            </a:pPr>
            <a:r>
              <a:rPr sz="1575" b="0" i="0">
                <a:solidFill>
                  <a:srgbClr val="132238"/>
                </a:solidFill>
              </a:rPr>
              <a:t>179 gardés pour le test</a:t>
            </a:r>
          </a:p>
          <a:p xmlns:a="http://schemas.openxmlformats.org/drawingml/2006/main">
            <a:r>
              <a:t/>
            </a:r>
          </a:p>
          <a:p xmlns:a="http://schemas.openxmlformats.org/drawingml/2006/main">
            <a:pPr algn="l">
              <a:defRPr sz="1575" b="0" i="0">
                <a:solidFill>
                  <a:srgbClr val="132238"/>
                </a:solidFill>
              </a:defRPr>
            </a:pPr>
            <a:r>
              <a:rPr sz="1575" b="0" i="0">
                <a:solidFill>
                  <a:srgbClr val="132238"/>
                </a:solidFill>
              </a:rPr>
              <a:t>Imputation, standardisation et encodage ajustés sur le train uniquement.</a:t>
            </a:r>
          </a:p>
        </p:txBody>
      </p:sp>
      <p:sp>
        <p:nvSpPr>
          <p:cNvPr id="6" name="">
            <a:extLst xmlns:a="http://schemas.openxmlformats.org/drawingml/2006/main">
              <a:ext uri="{FF2B5EF4-FFF2-40B4-BE49-F238E27FC236}">
                <a16:creationId xmlns:a16="http://schemas.microsoft.com/office/drawing/2014/main" id="{DC943C2E-63B9-4210-9EBC-883278ACFA25}"/>
              </a:ext>
            </a:extLst>
          </p:cNvPr>
          <p:cNvSpPr>
            <a:spLocks xmlns:a="http://schemas.openxmlformats.org/drawingml/2006/main" noGrp="1"/>
          </p:cNvSpPr>
          <p:nvPr/>
        </p:nvSpPr>
        <p:spPr>
          <a:xfrm xmlns:a="http://schemas.openxmlformats.org/drawingml/2006/main">
            <a:off x="4333875" y="138112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800" b="1" i="0">
                <a:solidFill>
                  <a:srgbClr val="D7654F"/>
                </a:solidFill>
              </a:defRPr>
            </a:defPPr>
            <a:lvl1pPr algn="l">
              <a:defRPr sz="1800" b="1" i="0">
                <a:solidFill>
                  <a:srgbClr val="D7654F"/>
                </a:solidFill>
              </a:defRPr>
            </a:lvl1pPr>
            <a:lvl2pPr algn="l">
              <a:defRPr sz="1800" b="1" i="0">
                <a:solidFill>
                  <a:srgbClr val="D7654F"/>
                </a:solidFill>
              </a:defRPr>
            </a:lvl2pPr>
            <a:lvl3pPr algn="l">
              <a:defRPr sz="1800" b="1" i="0">
                <a:solidFill>
                  <a:srgbClr val="D7654F"/>
                </a:solidFill>
              </a:defRPr>
            </a:lvl3pPr>
            <a:lvl4pPr algn="l">
              <a:defRPr sz="1800" b="1" i="0">
                <a:solidFill>
                  <a:srgbClr val="D7654F"/>
                </a:solidFill>
              </a:defRPr>
            </a:lvl4pPr>
            <a:lvl5pPr algn="l">
              <a:defRPr sz="1800" b="1" i="0">
                <a:solidFill>
                  <a:srgbClr val="D7654F"/>
                </a:solidFill>
              </a:defRPr>
            </a:lvl5pPr>
            <a:lvl6pPr algn="l">
              <a:defRPr sz="1800" b="1" i="0">
                <a:solidFill>
                  <a:srgbClr val="D7654F"/>
                </a:solidFill>
              </a:defRPr>
            </a:lvl6pPr>
            <a:lvl7pPr algn="l">
              <a:defRPr sz="1800" b="1" i="0">
                <a:solidFill>
                  <a:srgbClr val="D7654F"/>
                </a:solidFill>
              </a:defRPr>
            </a:lvl7pPr>
            <a:lvl8pPr algn="l">
              <a:defRPr sz="1800" b="1" i="0">
                <a:solidFill>
                  <a:srgbClr val="D7654F"/>
                </a:solidFill>
              </a:defRPr>
            </a:lvl8pPr>
            <a:lvl9pPr algn="l">
              <a:defRPr sz="1800" b="1" i="0">
                <a:solidFill>
                  <a:srgbClr val="D7654F"/>
                </a:solidFill>
              </a:defRPr>
            </a:lvl9pPr>
          </a:lstStyle>
          <a:p xmlns:a="http://schemas.openxmlformats.org/drawingml/2006/main">
            <a:pPr algn="l">
              <a:defRPr sz="1800" b="1" i="0">
                <a:solidFill>
                  <a:srgbClr val="D7654F"/>
                </a:solidFill>
              </a:defRPr>
            </a:pPr>
            <a:r>
              <a:rPr sz="1800" b="1" i="0">
                <a:solidFill>
                  <a:srgbClr val="D7654F"/>
                </a:solidFill>
              </a:rPr>
              <a:t>Architecture</a:t>
            </a:r>
          </a:p>
        </p:txBody>
      </p:sp>
      <p:sp>
        <p:nvSpPr>
          <p:cNvPr id="7" name="">
            <a:extLst xmlns:a="http://schemas.openxmlformats.org/drawingml/2006/main">
              <a:ext uri="{FF2B5EF4-FFF2-40B4-BE49-F238E27FC236}">
                <a16:creationId xmlns:a16="http://schemas.microsoft.com/office/drawing/2014/main" id="{3FC13459-CE06-40B0-8A60-84FE928EDA9D}"/>
              </a:ext>
            </a:extLst>
          </p:cNvPr>
          <p:cNvSpPr>
            <a:spLocks xmlns:a="http://schemas.openxmlformats.org/drawingml/2006/main" noGrp="1"/>
          </p:cNvSpPr>
          <p:nvPr/>
        </p:nvSpPr>
        <p:spPr>
          <a:xfrm xmlns:a="http://schemas.openxmlformats.org/drawingml/2006/main">
            <a:off x="4333875" y="2095500"/>
            <a:ext cx="142875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19050">
            <a:solidFill>
              <a:srgbClr val="D7654F"/>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12 variables</a:t>
            </a:r>
          </a:p>
        </p:txBody>
      </p:sp>
      <p:sp>
        <p:nvSpPr>
          <p:cNvPr id="8" name="">
            <a:extLst xmlns:a="http://schemas.openxmlformats.org/drawingml/2006/main">
              <a:ext uri="{FF2B5EF4-FFF2-40B4-BE49-F238E27FC236}">
                <a16:creationId xmlns:a16="http://schemas.microsoft.com/office/drawing/2014/main" id="{FE549E07-A4DF-4D5F-94C6-47FEB4C41D37}"/>
              </a:ext>
            </a:extLst>
          </p:cNvPr>
          <p:cNvSpPr>
            <a:spLocks xmlns:a="http://schemas.openxmlformats.org/drawingml/2006/main" noGrp="1"/>
          </p:cNvSpPr>
          <p:nvPr/>
        </p:nvSpPr>
        <p:spPr>
          <a:xfrm xmlns:a="http://schemas.openxmlformats.org/drawingml/2006/main">
            <a:off x="6334125" y="1952625"/>
            <a:ext cx="1428750" cy="971550"/>
          </a:xfrm>
          <a:prstGeom xmlns:a="http://schemas.openxmlformats.org/drawingml/2006/main" prst="roundRect">
            <a:avLst>
              <a:gd name="adj" fmla="val 7843"/>
            </a:avLst>
          </a:prstGeom>
          <a:solidFill xmlns:a="http://schemas.openxmlformats.org/drawingml/2006/main">
            <a:srgbClr val="FFFDFC"/>
          </a:solidFill>
          <a:ln xmlns:a="http://schemas.openxmlformats.org/drawingml/2006/main" w="19050">
            <a:solidFill>
              <a:srgbClr val="D7654F"/>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Dense 16</a:t>
            </a:r>
          </a:p>
          <a:p xmlns:a="http://schemas.openxmlformats.org/drawingml/2006/main">
            <a:pPr algn="ctr">
              <a:defRPr sz="1500" b="1">
                <a:solidFill>
                  <a:srgbClr val="132238"/>
                </a:solidFill>
              </a:defRPr>
            </a:pPr>
            <a:r>
              <a:rPr sz="1500" b="1">
                <a:solidFill>
                  <a:srgbClr val="132238"/>
                </a:solidFill>
              </a:rPr>
              <a:t>ReLU</a:t>
            </a:r>
          </a:p>
        </p:txBody>
      </p:sp>
      <p:sp>
        <p:nvSpPr>
          <p:cNvPr id="9" name="">
            <a:extLst xmlns:a="http://schemas.openxmlformats.org/drawingml/2006/main">
              <a:ext uri="{FF2B5EF4-FFF2-40B4-BE49-F238E27FC236}">
                <a16:creationId xmlns:a16="http://schemas.microsoft.com/office/drawing/2014/main" id="{F419D0C1-2D99-495E-8DD9-6CC43186F9FF}"/>
              </a:ext>
            </a:extLst>
          </p:cNvPr>
          <p:cNvSpPr>
            <a:spLocks xmlns:a="http://schemas.openxmlformats.org/drawingml/2006/main" noGrp="1"/>
          </p:cNvSpPr>
          <p:nvPr/>
        </p:nvSpPr>
        <p:spPr>
          <a:xfrm xmlns:a="http://schemas.openxmlformats.org/drawingml/2006/main">
            <a:off x="8239125" y="2095500"/>
            <a:ext cx="1238250" cy="685800"/>
          </a:xfrm>
          <a:prstGeom xmlns:a="http://schemas.openxmlformats.org/drawingml/2006/main" prst="roundRect">
            <a:avLst>
              <a:gd name="adj" fmla="val 11111"/>
            </a:avLst>
          </a:prstGeom>
          <a:solidFill xmlns:a="http://schemas.openxmlformats.org/drawingml/2006/main">
            <a:srgbClr val="FBEDE8"/>
          </a:solidFill>
          <a:ln xmlns:a="http://schemas.openxmlformats.org/drawingml/2006/main" w="19050">
            <a:solidFill>
              <a:srgbClr val="D7654F"/>
            </a:solidFill>
            <a:prstDash val="solid"/>
          </a:ln>
        </p:spPr>
        <p:txBody>
          <a:bodyPr xmlns:a="http://schemas.openxmlformats.org/drawingml/2006/main" anchor="ctr"/>
          <a:lstStyle xmlns:a="http://schemas.openxmlformats.org/drawingml/2006/main">
            <a:defPPr algn="ctr">
              <a:defRPr sz="1425" b="1">
                <a:solidFill>
                  <a:srgbClr val="132238"/>
                </a:solidFill>
              </a:defRPr>
            </a:defPPr>
            <a:lvl1pPr algn="ctr">
              <a:defRPr sz="1425" b="1">
                <a:solidFill>
                  <a:srgbClr val="132238"/>
                </a:solidFill>
              </a:defRPr>
            </a:lvl1pPr>
            <a:lvl2pPr algn="ctr">
              <a:defRPr sz="1425" b="1">
                <a:solidFill>
                  <a:srgbClr val="132238"/>
                </a:solidFill>
              </a:defRPr>
            </a:lvl2pPr>
            <a:lvl3pPr algn="ctr">
              <a:defRPr sz="1425" b="1">
                <a:solidFill>
                  <a:srgbClr val="132238"/>
                </a:solidFill>
              </a:defRPr>
            </a:lvl3pPr>
            <a:lvl4pPr algn="ctr">
              <a:defRPr sz="1425" b="1">
                <a:solidFill>
                  <a:srgbClr val="132238"/>
                </a:solidFill>
              </a:defRPr>
            </a:lvl4pPr>
            <a:lvl5pPr algn="ctr">
              <a:defRPr sz="1425" b="1">
                <a:solidFill>
                  <a:srgbClr val="132238"/>
                </a:solidFill>
              </a:defRPr>
            </a:lvl5pPr>
            <a:lvl6pPr algn="ctr">
              <a:defRPr sz="1425" b="1">
                <a:solidFill>
                  <a:srgbClr val="132238"/>
                </a:solidFill>
              </a:defRPr>
            </a:lvl6pPr>
            <a:lvl7pPr algn="ctr">
              <a:defRPr sz="1425" b="1">
                <a:solidFill>
                  <a:srgbClr val="132238"/>
                </a:solidFill>
              </a:defRPr>
            </a:lvl7pPr>
            <a:lvl8pPr algn="ctr">
              <a:defRPr sz="1425" b="1">
                <a:solidFill>
                  <a:srgbClr val="132238"/>
                </a:solidFill>
              </a:defRPr>
            </a:lvl8pPr>
            <a:lvl9pPr algn="ctr">
              <a:defRPr sz="1425" b="1">
                <a:solidFill>
                  <a:srgbClr val="132238"/>
                </a:solidFill>
              </a:defRPr>
            </a:lvl9pPr>
          </a:lstStyle>
          <a:p xmlns:a="http://schemas.openxmlformats.org/drawingml/2006/main">
            <a:pPr algn="ctr">
              <a:defRPr sz="1425" b="1">
                <a:solidFill>
                  <a:srgbClr val="132238"/>
                </a:solidFill>
              </a:defRPr>
            </a:pPr>
            <a:r>
              <a:rPr sz="1425" b="1">
                <a:solidFill>
                  <a:srgbClr val="132238"/>
                </a:solidFill>
              </a:rPr>
              <a:t>Dropout</a:t>
            </a:r>
          </a:p>
          <a:p xmlns:a="http://schemas.openxmlformats.org/drawingml/2006/main">
            <a:pPr algn="ctr">
              <a:defRPr sz="1425" b="1">
                <a:solidFill>
                  <a:srgbClr val="132238"/>
                </a:solidFill>
              </a:defRPr>
            </a:pPr>
            <a:r>
              <a:rPr sz="1425" b="1">
                <a:solidFill>
                  <a:srgbClr val="132238"/>
                </a:solidFill>
              </a:rPr>
              <a:t>20 %</a:t>
            </a:r>
          </a:p>
        </p:txBody>
      </p:sp>
      <p:sp>
        <p:nvSpPr>
          <p:cNvPr id="10" name="">
            <a:extLst xmlns:a="http://schemas.openxmlformats.org/drawingml/2006/main">
              <a:ext uri="{FF2B5EF4-FFF2-40B4-BE49-F238E27FC236}">
                <a16:creationId xmlns:a16="http://schemas.microsoft.com/office/drawing/2014/main" id="{55505A62-2A7D-43DA-B62C-AF7D872E1007}"/>
              </a:ext>
            </a:extLst>
          </p:cNvPr>
          <p:cNvSpPr>
            <a:spLocks xmlns:a="http://schemas.openxmlformats.org/drawingml/2006/main" noGrp="1"/>
          </p:cNvSpPr>
          <p:nvPr/>
        </p:nvSpPr>
        <p:spPr>
          <a:xfrm xmlns:a="http://schemas.openxmlformats.org/drawingml/2006/main">
            <a:off x="9953625" y="1952625"/>
            <a:ext cx="1381125" cy="971550"/>
          </a:xfrm>
          <a:prstGeom xmlns:a="http://schemas.openxmlformats.org/drawingml/2006/main" prst="roundRect">
            <a:avLst>
              <a:gd name="adj" fmla="val 7843"/>
            </a:avLst>
          </a:prstGeom>
          <a:solidFill xmlns:a="http://schemas.openxmlformats.org/drawingml/2006/main">
            <a:srgbClr val="FFFDFC"/>
          </a:solidFill>
          <a:ln xmlns:a="http://schemas.openxmlformats.org/drawingml/2006/main" w="19050">
            <a:solidFill>
              <a:srgbClr val="D7654F"/>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Dense 8</a:t>
            </a:r>
          </a:p>
          <a:p xmlns:a="http://schemas.openxmlformats.org/drawingml/2006/main">
            <a:pPr algn="ctr">
              <a:defRPr sz="1500" b="1">
                <a:solidFill>
                  <a:srgbClr val="132238"/>
                </a:solidFill>
              </a:defRPr>
            </a:pPr>
            <a:r>
              <a:rPr sz="1500" b="1">
                <a:solidFill>
                  <a:srgbClr val="132238"/>
                </a:solidFill>
              </a:rPr>
              <a:t>ReLU</a:t>
            </a:r>
          </a:p>
        </p:txBody>
      </p:sp>
      <p:sp>
        <p:nvSpPr>
          <p:cNvPr id="11" name="">
            <a:extLst xmlns:a="http://schemas.openxmlformats.org/drawingml/2006/main">
              <a:ext uri="{FF2B5EF4-FFF2-40B4-BE49-F238E27FC236}">
                <a16:creationId xmlns:a16="http://schemas.microsoft.com/office/drawing/2014/main" id="{A2DF4E49-E1A5-4A9A-80BF-28CE4C66BE93}"/>
              </a:ext>
            </a:extLst>
          </p:cNvPr>
          <p:cNvSpPr>
            <a:spLocks xmlns:a="http://schemas.openxmlformats.org/drawingml/2006/main" noGrp="1"/>
          </p:cNvSpPr>
          <p:nvPr/>
        </p:nvSpPr>
        <p:spPr>
          <a:xfrm xmlns:a="http://schemas.openxmlformats.org/drawingml/2006/main">
            <a:off x="7524750" y="3476625"/>
            <a:ext cx="1714500" cy="857250"/>
          </a:xfrm>
          <a:prstGeom xmlns:a="http://schemas.openxmlformats.org/drawingml/2006/main" prst="roundRect">
            <a:avLst>
              <a:gd name="adj" fmla="val 8889"/>
            </a:avLst>
          </a:prstGeom>
          <a:solidFill xmlns:a="http://schemas.openxmlformats.org/drawingml/2006/main">
            <a:srgbClr val="FBEDE8"/>
          </a:solidFill>
          <a:ln xmlns:a="http://schemas.openxmlformats.org/drawingml/2006/main" w="19050">
            <a:solidFill>
              <a:srgbClr val="D7654F"/>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1 probabilité</a:t>
            </a:r>
          </a:p>
          <a:p xmlns:a="http://schemas.openxmlformats.org/drawingml/2006/main">
            <a:pPr algn="ctr">
              <a:defRPr sz="1500" b="1">
                <a:solidFill>
                  <a:srgbClr val="132238"/>
                </a:solidFill>
              </a:defRPr>
            </a:pPr>
            <a:r>
              <a:rPr sz="1500" b="1">
                <a:solidFill>
                  <a:srgbClr val="132238"/>
                </a:solidFill>
              </a:rPr>
              <a:t>Sigmoïde</a:t>
            </a:r>
          </a:p>
        </p:txBody>
      </p:sp>
      <p:sp>
        <p:nvSpPr>
          <p:cNvPr id="16" name="">
            <a:extLst xmlns:a="http://schemas.openxmlformats.org/drawingml/2006/main">
              <a:ext uri="{FF2B5EF4-FFF2-40B4-BE49-F238E27FC236}">
                <a16:creationId xmlns:a16="http://schemas.microsoft.com/office/drawing/2014/main" id="{B8338DDA-C8B6-441D-86FF-5F72CEB2EB5A}"/>
              </a:ext>
            </a:extLst>
          </p:cNvPr>
          <p:cNvSpPr>
            <a:spLocks xmlns:a="http://schemas.openxmlformats.org/drawingml/2006/main" noGrp="1"/>
          </p:cNvSpPr>
          <p:nvPr/>
        </p:nvSpPr>
        <p:spPr>
          <a:xfrm xmlns:a="http://schemas.openxmlformats.org/drawingml/2006/main">
            <a:off x="4429125" y="47625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D7654F"/>
                </a:solidFill>
              </a:defRPr>
            </a:defPPr>
            <a:lvl1pPr algn="ctr">
              <a:defRPr sz="3450" b="1" i="0">
                <a:solidFill>
                  <a:srgbClr val="D7654F"/>
                </a:solidFill>
              </a:defRPr>
            </a:lvl1pPr>
            <a:lvl2pPr algn="ctr">
              <a:defRPr sz="3450" b="1" i="0">
                <a:solidFill>
                  <a:srgbClr val="D7654F"/>
                </a:solidFill>
              </a:defRPr>
            </a:lvl2pPr>
            <a:lvl3pPr algn="ctr">
              <a:defRPr sz="3450" b="1" i="0">
                <a:solidFill>
                  <a:srgbClr val="D7654F"/>
                </a:solidFill>
              </a:defRPr>
            </a:lvl3pPr>
            <a:lvl4pPr algn="ctr">
              <a:defRPr sz="3450" b="1" i="0">
                <a:solidFill>
                  <a:srgbClr val="D7654F"/>
                </a:solidFill>
              </a:defRPr>
            </a:lvl4pPr>
            <a:lvl5pPr algn="ctr">
              <a:defRPr sz="3450" b="1" i="0">
                <a:solidFill>
                  <a:srgbClr val="D7654F"/>
                </a:solidFill>
              </a:defRPr>
            </a:lvl5pPr>
            <a:lvl6pPr algn="ctr">
              <a:defRPr sz="3450" b="1" i="0">
                <a:solidFill>
                  <a:srgbClr val="D7654F"/>
                </a:solidFill>
              </a:defRPr>
            </a:lvl6pPr>
            <a:lvl7pPr algn="ctr">
              <a:defRPr sz="3450" b="1" i="0">
                <a:solidFill>
                  <a:srgbClr val="D7654F"/>
                </a:solidFill>
              </a:defRPr>
            </a:lvl7pPr>
            <a:lvl8pPr algn="ctr">
              <a:defRPr sz="3450" b="1" i="0">
                <a:solidFill>
                  <a:srgbClr val="D7654F"/>
                </a:solidFill>
              </a:defRPr>
            </a:lvl8pPr>
            <a:lvl9pPr algn="ctr">
              <a:defRPr sz="3450" b="1" i="0">
                <a:solidFill>
                  <a:srgbClr val="D7654F"/>
                </a:solidFill>
              </a:defRPr>
            </a:lvl9pPr>
          </a:lstStyle>
          <a:p xmlns:a="http://schemas.openxmlformats.org/drawingml/2006/main">
            <a:pPr algn="ctr">
              <a:defRPr sz="3450" b="1" i="0">
                <a:solidFill>
                  <a:srgbClr val="D7654F"/>
                </a:solidFill>
              </a:defRPr>
            </a:pPr>
            <a:r>
              <a:rPr sz="3450" b="1" i="0">
                <a:solidFill>
                  <a:srgbClr val="D7654F"/>
                </a:solidFill>
              </a:rPr>
              <a:t>353</a:t>
            </a:r>
          </a:p>
        </p:txBody>
      </p:sp>
      <p:sp>
        <p:nvSpPr>
          <p:cNvPr id="17" name="">
            <a:extLst xmlns:a="http://schemas.openxmlformats.org/drawingml/2006/main">
              <a:ext uri="{FF2B5EF4-FFF2-40B4-BE49-F238E27FC236}">
                <a16:creationId xmlns:a16="http://schemas.microsoft.com/office/drawing/2014/main" id="{286877D8-9B98-4136-B854-E7A293C6012F}"/>
              </a:ext>
            </a:extLst>
          </p:cNvPr>
          <p:cNvSpPr>
            <a:spLocks xmlns:a="http://schemas.openxmlformats.org/drawingml/2006/main" noGrp="1"/>
          </p:cNvSpPr>
          <p:nvPr/>
        </p:nvSpPr>
        <p:spPr>
          <a:xfrm xmlns:a="http://schemas.openxmlformats.org/drawingml/2006/main">
            <a:off x="4429125" y="535305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paramètres entraînables</a:t>
            </a:r>
          </a:p>
        </p:txBody>
      </p:sp>
      <p:sp>
        <p:nvSpPr>
          <p:cNvPr id="18" name="">
            <a:extLst xmlns:a="http://schemas.openxmlformats.org/drawingml/2006/main">
              <a:ext uri="{FF2B5EF4-FFF2-40B4-BE49-F238E27FC236}">
                <a16:creationId xmlns:a16="http://schemas.microsoft.com/office/drawing/2014/main" id="{33417EF4-E819-4656-86BD-FA2C279DBAB2}"/>
              </a:ext>
            </a:extLst>
          </p:cNvPr>
          <p:cNvSpPr>
            <a:spLocks xmlns:a="http://schemas.openxmlformats.org/drawingml/2006/main" noGrp="1"/>
          </p:cNvSpPr>
          <p:nvPr/>
        </p:nvSpPr>
        <p:spPr>
          <a:xfrm xmlns:a="http://schemas.openxmlformats.org/drawingml/2006/main">
            <a:off x="7239000" y="47625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D7654F"/>
                </a:solidFill>
              </a:defRPr>
            </a:defPPr>
            <a:lvl1pPr algn="ctr">
              <a:defRPr sz="3450" b="1" i="0">
                <a:solidFill>
                  <a:srgbClr val="D7654F"/>
                </a:solidFill>
              </a:defRPr>
            </a:lvl1pPr>
            <a:lvl2pPr algn="ctr">
              <a:defRPr sz="3450" b="1" i="0">
                <a:solidFill>
                  <a:srgbClr val="D7654F"/>
                </a:solidFill>
              </a:defRPr>
            </a:lvl2pPr>
            <a:lvl3pPr algn="ctr">
              <a:defRPr sz="3450" b="1" i="0">
                <a:solidFill>
                  <a:srgbClr val="D7654F"/>
                </a:solidFill>
              </a:defRPr>
            </a:lvl3pPr>
            <a:lvl4pPr algn="ctr">
              <a:defRPr sz="3450" b="1" i="0">
                <a:solidFill>
                  <a:srgbClr val="D7654F"/>
                </a:solidFill>
              </a:defRPr>
            </a:lvl4pPr>
            <a:lvl5pPr algn="ctr">
              <a:defRPr sz="3450" b="1" i="0">
                <a:solidFill>
                  <a:srgbClr val="D7654F"/>
                </a:solidFill>
              </a:defRPr>
            </a:lvl5pPr>
            <a:lvl6pPr algn="ctr">
              <a:defRPr sz="3450" b="1" i="0">
                <a:solidFill>
                  <a:srgbClr val="D7654F"/>
                </a:solidFill>
              </a:defRPr>
            </a:lvl6pPr>
            <a:lvl7pPr algn="ctr">
              <a:defRPr sz="3450" b="1" i="0">
                <a:solidFill>
                  <a:srgbClr val="D7654F"/>
                </a:solidFill>
              </a:defRPr>
            </a:lvl7pPr>
            <a:lvl8pPr algn="ctr">
              <a:defRPr sz="3450" b="1" i="0">
                <a:solidFill>
                  <a:srgbClr val="D7654F"/>
                </a:solidFill>
              </a:defRPr>
            </a:lvl8pPr>
            <a:lvl9pPr algn="ctr">
              <a:defRPr sz="3450" b="1" i="0">
                <a:solidFill>
                  <a:srgbClr val="D7654F"/>
                </a:solidFill>
              </a:defRPr>
            </a:lvl9pPr>
          </a:lstStyle>
          <a:p xmlns:a="http://schemas.openxmlformats.org/drawingml/2006/main">
            <a:pPr algn="ctr">
              <a:defRPr sz="3450" b="1" i="0">
                <a:solidFill>
                  <a:srgbClr val="D7654F"/>
                </a:solidFill>
              </a:defRPr>
            </a:pPr>
            <a:r>
              <a:rPr sz="3450" b="1" i="0">
                <a:solidFill>
                  <a:srgbClr val="D7654F"/>
                </a:solidFill>
              </a:rPr>
              <a:t>54</a:t>
            </a:r>
          </a:p>
        </p:txBody>
      </p:sp>
      <p:sp>
        <p:nvSpPr>
          <p:cNvPr id="19" name="">
            <a:extLst xmlns:a="http://schemas.openxmlformats.org/drawingml/2006/main">
              <a:ext uri="{FF2B5EF4-FFF2-40B4-BE49-F238E27FC236}">
                <a16:creationId xmlns:a16="http://schemas.microsoft.com/office/drawing/2014/main" id="{0145B159-0ADF-48BC-A97F-AE49ECB6DAD0}"/>
              </a:ext>
            </a:extLst>
          </p:cNvPr>
          <p:cNvSpPr>
            <a:spLocks xmlns:a="http://schemas.openxmlformats.org/drawingml/2006/main" noGrp="1"/>
          </p:cNvSpPr>
          <p:nvPr/>
        </p:nvSpPr>
        <p:spPr>
          <a:xfrm xmlns:a="http://schemas.openxmlformats.org/drawingml/2006/main">
            <a:off x="7239000" y="535305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meilleure époque</a:t>
            </a:r>
          </a:p>
        </p:txBody>
      </p:sp>
      <p:sp>
        <p:nvSpPr>
          <p:cNvPr id="20" name="">
            <a:extLst xmlns:a="http://schemas.openxmlformats.org/drawingml/2006/main">
              <a:ext uri="{FF2B5EF4-FFF2-40B4-BE49-F238E27FC236}">
                <a16:creationId xmlns:a16="http://schemas.microsoft.com/office/drawing/2014/main" id="{67C3DB32-C7CF-4120-AB30-462C52166CC9}"/>
              </a:ext>
            </a:extLst>
          </p:cNvPr>
          <p:cNvSpPr>
            <a:spLocks xmlns:a="http://schemas.openxmlformats.org/drawingml/2006/main" noGrp="1"/>
          </p:cNvSpPr>
          <p:nvPr/>
        </p:nvSpPr>
        <p:spPr>
          <a:xfrm xmlns:a="http://schemas.openxmlformats.org/drawingml/2006/main">
            <a:off x="9953625" y="476250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D7654F"/>
                </a:solidFill>
              </a:defRPr>
            </a:defPPr>
            <a:lvl1pPr algn="ctr">
              <a:defRPr sz="3450" b="1" i="0">
                <a:solidFill>
                  <a:srgbClr val="D7654F"/>
                </a:solidFill>
              </a:defRPr>
            </a:lvl1pPr>
            <a:lvl2pPr algn="ctr">
              <a:defRPr sz="3450" b="1" i="0">
                <a:solidFill>
                  <a:srgbClr val="D7654F"/>
                </a:solidFill>
              </a:defRPr>
            </a:lvl2pPr>
            <a:lvl3pPr algn="ctr">
              <a:defRPr sz="3450" b="1" i="0">
                <a:solidFill>
                  <a:srgbClr val="D7654F"/>
                </a:solidFill>
              </a:defRPr>
            </a:lvl3pPr>
            <a:lvl4pPr algn="ctr">
              <a:defRPr sz="3450" b="1" i="0">
                <a:solidFill>
                  <a:srgbClr val="D7654F"/>
                </a:solidFill>
              </a:defRPr>
            </a:lvl4pPr>
            <a:lvl5pPr algn="ctr">
              <a:defRPr sz="3450" b="1" i="0">
                <a:solidFill>
                  <a:srgbClr val="D7654F"/>
                </a:solidFill>
              </a:defRPr>
            </a:lvl5pPr>
            <a:lvl6pPr algn="ctr">
              <a:defRPr sz="3450" b="1" i="0">
                <a:solidFill>
                  <a:srgbClr val="D7654F"/>
                </a:solidFill>
              </a:defRPr>
            </a:lvl6pPr>
            <a:lvl7pPr algn="ctr">
              <a:defRPr sz="3450" b="1" i="0">
                <a:solidFill>
                  <a:srgbClr val="D7654F"/>
                </a:solidFill>
              </a:defRPr>
            </a:lvl7pPr>
            <a:lvl8pPr algn="ctr">
              <a:defRPr sz="3450" b="1" i="0">
                <a:solidFill>
                  <a:srgbClr val="D7654F"/>
                </a:solidFill>
              </a:defRPr>
            </a:lvl8pPr>
            <a:lvl9pPr algn="ctr">
              <a:defRPr sz="3450" b="1" i="0">
                <a:solidFill>
                  <a:srgbClr val="D7654F"/>
                </a:solidFill>
              </a:defRPr>
            </a:lvl9pPr>
          </a:lstStyle>
          <a:p xmlns:a="http://schemas.openxmlformats.org/drawingml/2006/main">
            <a:pPr algn="ctr">
              <a:defRPr sz="3450" b="1" i="0">
                <a:solidFill>
                  <a:srgbClr val="D7654F"/>
                </a:solidFill>
              </a:defRPr>
            </a:pPr>
            <a:r>
              <a:rPr sz="3450" b="1" i="0">
                <a:solidFill>
                  <a:srgbClr val="D7654F"/>
                </a:solidFill>
              </a:rPr>
              <a:t>0,4525</a:t>
            </a:r>
          </a:p>
        </p:txBody>
      </p:sp>
      <p:sp>
        <p:nvSpPr>
          <p:cNvPr id="21" name="">
            <a:extLst xmlns:a="http://schemas.openxmlformats.org/drawingml/2006/main">
              <a:ext uri="{FF2B5EF4-FFF2-40B4-BE49-F238E27FC236}">
                <a16:creationId xmlns:a16="http://schemas.microsoft.com/office/drawing/2014/main" id="{DC6C29EA-333E-40C6-B225-86DABBC40765}"/>
              </a:ext>
            </a:extLst>
          </p:cNvPr>
          <p:cNvSpPr>
            <a:spLocks xmlns:a="http://schemas.openxmlformats.org/drawingml/2006/main" noGrp="1"/>
          </p:cNvSpPr>
          <p:nvPr/>
        </p:nvSpPr>
        <p:spPr>
          <a:xfrm xmlns:a="http://schemas.openxmlformats.org/drawingml/2006/main">
            <a:off x="9953625" y="5353050"/>
            <a:ext cx="171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minimum de val_loss</a:t>
            </a:r>
          </a:p>
        </p:txBody>
      </p:sp>
      <p:sp>
        <p:nvSpPr>
          <p:cNvPr id="22" name="">
            <a:extLst xmlns:a="http://schemas.openxmlformats.org/drawingml/2006/main">
              <a:ext uri="{FF2B5EF4-FFF2-40B4-BE49-F238E27FC236}">
                <a16:creationId xmlns:a16="http://schemas.microsoft.com/office/drawing/2014/main" id="{FFDC17A1-5409-4852-9EEF-615EDAA55578}"/>
              </a:ext>
            </a:extLst>
          </p:cNvPr>
          <p:cNvSpPr>
            <a:spLocks xmlns:a="http://schemas.openxmlformats.org/drawingml/2006/main" noGrp="1"/>
          </p:cNvSpPr>
          <p:nvPr/>
        </p:nvSpPr>
        <p:spPr>
          <a:xfrm xmlns:a="http://schemas.openxmlformats.org/drawingml/2006/main">
            <a:off x="4333875" y="59817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0" i="0">
                <a:solidFill>
                  <a:srgbClr val="5E6B78"/>
                </a:solidFill>
              </a:defRPr>
            </a:defPPr>
            <a:lvl1pPr algn="ctr">
              <a:defRPr sz="1275" b="0" i="0">
                <a:solidFill>
                  <a:srgbClr val="5E6B78"/>
                </a:solidFill>
              </a:defRPr>
            </a:lvl1pPr>
            <a:lvl2pPr algn="ctr">
              <a:defRPr sz="1275" b="0" i="0">
                <a:solidFill>
                  <a:srgbClr val="5E6B78"/>
                </a:solidFill>
              </a:defRPr>
            </a:lvl2pPr>
            <a:lvl3pPr algn="ctr">
              <a:defRPr sz="1275" b="0" i="0">
                <a:solidFill>
                  <a:srgbClr val="5E6B78"/>
                </a:solidFill>
              </a:defRPr>
            </a:lvl3pPr>
            <a:lvl4pPr algn="ctr">
              <a:defRPr sz="1275" b="0" i="0">
                <a:solidFill>
                  <a:srgbClr val="5E6B78"/>
                </a:solidFill>
              </a:defRPr>
            </a:lvl4pPr>
            <a:lvl5pPr algn="ctr">
              <a:defRPr sz="1275" b="0" i="0">
                <a:solidFill>
                  <a:srgbClr val="5E6B78"/>
                </a:solidFill>
              </a:defRPr>
            </a:lvl5pPr>
            <a:lvl6pPr algn="ctr">
              <a:defRPr sz="1275" b="0" i="0">
                <a:solidFill>
                  <a:srgbClr val="5E6B78"/>
                </a:solidFill>
              </a:defRPr>
            </a:lvl6pPr>
            <a:lvl7pPr algn="ctr">
              <a:defRPr sz="1275" b="0" i="0">
                <a:solidFill>
                  <a:srgbClr val="5E6B78"/>
                </a:solidFill>
              </a:defRPr>
            </a:lvl7pPr>
            <a:lvl8pPr algn="ctr">
              <a:defRPr sz="1275" b="0" i="0">
                <a:solidFill>
                  <a:srgbClr val="5E6B78"/>
                </a:solidFill>
              </a:defRPr>
            </a:lvl8pPr>
            <a:lvl9pPr algn="ctr">
              <a:defRPr sz="1275" b="0" i="0">
                <a:solidFill>
                  <a:srgbClr val="5E6B78"/>
                </a:solidFill>
              </a:defRPr>
            </a:lvl9pPr>
          </a:lstStyle>
          <a:p xmlns:a="http://schemas.openxmlformats.org/drawingml/2006/main">
            <a:pPr algn="ctr">
              <a:defRPr sz="1275" b="0" i="0">
                <a:solidFill>
                  <a:srgbClr val="5E6B78"/>
                </a:solidFill>
              </a:defRPr>
            </a:pPr>
            <a:r>
              <a:rPr sz="1275" b="0" i="0">
                <a:solidFill>
                  <a:srgbClr val="5E6B78"/>
                </a:solidFill>
              </a:rPr>
              <a:t>Adam, entropie croisée binaire, arrêt anticipé et meilleurs poids restaurés</a:t>
            </a:r>
          </a:p>
        </p:txBody>
      </p:sp>
    </p:spTree>
    <p:extLst>
      <p:ext uri="{BB962C8B-B14F-4D97-AF65-F5344CB8AC3E}">
        <p14:creationId xmlns:p14="http://schemas.microsoft.com/office/powerpoint/2010/main" val="1256849787"/>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434836-9083-45C2-9595-844C890834DA}"/>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i="0">
                <a:solidFill>
                  <a:srgbClr val="132238"/>
                </a:solidFill>
              </a:defRPr>
            </a:defPPr>
            <a:lvl1pPr algn="l">
              <a:defRPr sz="2850" b="1" i="0">
                <a:solidFill>
                  <a:srgbClr val="132238"/>
                </a:solidFill>
              </a:defRPr>
            </a:lvl1pPr>
            <a:lvl2pPr algn="l">
              <a:defRPr sz="2850" b="1" i="0">
                <a:solidFill>
                  <a:srgbClr val="132238"/>
                </a:solidFill>
              </a:defRPr>
            </a:lvl2pPr>
            <a:lvl3pPr algn="l">
              <a:defRPr sz="2850" b="1" i="0">
                <a:solidFill>
                  <a:srgbClr val="132238"/>
                </a:solidFill>
              </a:defRPr>
            </a:lvl3pPr>
            <a:lvl4pPr algn="l">
              <a:defRPr sz="2850" b="1" i="0">
                <a:solidFill>
                  <a:srgbClr val="132238"/>
                </a:solidFill>
              </a:defRPr>
            </a:lvl4pPr>
            <a:lvl5pPr algn="l">
              <a:defRPr sz="2850" b="1" i="0">
                <a:solidFill>
                  <a:srgbClr val="132238"/>
                </a:solidFill>
              </a:defRPr>
            </a:lvl5pPr>
            <a:lvl6pPr algn="l">
              <a:defRPr sz="2850" b="1" i="0">
                <a:solidFill>
                  <a:srgbClr val="132238"/>
                </a:solidFill>
              </a:defRPr>
            </a:lvl6pPr>
            <a:lvl7pPr algn="l">
              <a:defRPr sz="2850" b="1" i="0">
                <a:solidFill>
                  <a:srgbClr val="132238"/>
                </a:solidFill>
              </a:defRPr>
            </a:lvl7pPr>
            <a:lvl8pPr algn="l">
              <a:defRPr sz="2850" b="1" i="0">
                <a:solidFill>
                  <a:srgbClr val="132238"/>
                </a:solidFill>
              </a:defRPr>
            </a:lvl8pPr>
            <a:lvl9pPr algn="l">
              <a:defRPr sz="2850" b="1" i="0">
                <a:solidFill>
                  <a:srgbClr val="132238"/>
                </a:solidFill>
              </a:defRPr>
            </a:lvl9pPr>
          </a:lstStyle>
          <a:p xmlns:a="http://schemas.openxmlformats.org/drawingml/2006/main">
            <a:pPr algn="l">
              <a:defRPr sz="2850" b="1" i="0">
                <a:solidFill>
                  <a:srgbClr val="132238"/>
                </a:solidFill>
              </a:defRPr>
            </a:pPr>
            <a:r>
              <a:rPr sz="2850" b="1" i="0">
                <a:solidFill>
                  <a:srgbClr val="132238"/>
                </a:solidFill>
              </a:rPr>
              <a:t>MLP : 80,4 % d’accuracy, avec un rappel survivant limité</a:t>
            </a:r>
          </a:p>
        </p:txBody>
      </p:sp>
      <p:sp>
        <p:nvSpPr>
          <p:cNvPr id="2" name="">
            <a:extLst xmlns:a="http://schemas.openxmlformats.org/drawingml/2006/main">
              <a:ext uri="{FF2B5EF4-FFF2-40B4-BE49-F238E27FC236}">
                <a16:creationId xmlns:a16="http://schemas.microsoft.com/office/drawing/2014/main" id="{64670316-ED79-4EBA-9897-C2462305F14A}"/>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D7654F"/>
          </a:solidFill>
          <a:ln xmlns:a="http://schemas.openxmlformats.org/drawingml/2006/main" w="0">
            <a:solidFill>
              <a:srgbClr val="D7654F"/>
            </a:solidFill>
            <a:prstDash val="solid"/>
          </a:ln>
        </p:spPr>
      </p:sp>
      <p:sp>
        <p:nvSpPr>
          <p:cNvPr id="3" name="">
            <a:extLst xmlns:a="http://schemas.openxmlformats.org/drawingml/2006/main">
              <a:ext uri="{FF2B5EF4-FFF2-40B4-BE49-F238E27FC236}">
                <a16:creationId xmlns:a16="http://schemas.microsoft.com/office/drawing/2014/main" id="{D1907A72-76B5-4E95-9508-4B4D01080652}"/>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04</a:t>
            </a:r>
          </a:p>
        </p:txBody>
      </p:sp>
      <p:sp>
        <p:nvSpPr>
          <p:cNvPr id="4" name="">
            <a:extLst xmlns:a="http://schemas.openxmlformats.org/drawingml/2006/main">
              <a:ext uri="{FF2B5EF4-FFF2-40B4-BE49-F238E27FC236}">
                <a16:creationId xmlns:a16="http://schemas.microsoft.com/office/drawing/2014/main" id="{72DDB345-EBB6-4414-9281-19E3CB6B62C8}"/>
              </a:ext>
            </a:extLst>
          </p:cNvPr>
          <p:cNvSpPr>
            <a:spLocks xmlns:a="http://schemas.openxmlformats.org/drawingml/2006/main" noGrp="1"/>
          </p:cNvSpPr>
          <p:nvPr/>
        </p:nvSpPr>
        <p:spPr>
          <a:xfrm xmlns:a="http://schemas.openxmlformats.org/drawingml/2006/main">
            <a:off x="666750" y="13144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i="0">
                <a:solidFill>
                  <a:srgbClr val="132238"/>
                </a:solidFill>
              </a:defRPr>
            </a:defPPr>
            <a:lvl1pPr algn="l">
              <a:defRPr sz="1650" b="1" i="0">
                <a:solidFill>
                  <a:srgbClr val="132238"/>
                </a:solidFill>
              </a:defRPr>
            </a:lvl1pPr>
            <a:lvl2pPr algn="l">
              <a:defRPr sz="1650" b="1" i="0">
                <a:solidFill>
                  <a:srgbClr val="132238"/>
                </a:solidFill>
              </a:defRPr>
            </a:lvl2pPr>
            <a:lvl3pPr algn="l">
              <a:defRPr sz="1650" b="1" i="0">
                <a:solidFill>
                  <a:srgbClr val="132238"/>
                </a:solidFill>
              </a:defRPr>
            </a:lvl3pPr>
            <a:lvl4pPr algn="l">
              <a:defRPr sz="1650" b="1" i="0">
                <a:solidFill>
                  <a:srgbClr val="132238"/>
                </a:solidFill>
              </a:defRPr>
            </a:lvl4pPr>
            <a:lvl5pPr algn="l">
              <a:defRPr sz="1650" b="1" i="0">
                <a:solidFill>
                  <a:srgbClr val="132238"/>
                </a:solidFill>
              </a:defRPr>
            </a:lvl5pPr>
            <a:lvl6pPr algn="l">
              <a:defRPr sz="1650" b="1" i="0">
                <a:solidFill>
                  <a:srgbClr val="132238"/>
                </a:solidFill>
              </a:defRPr>
            </a:lvl6pPr>
            <a:lvl7pPr algn="l">
              <a:defRPr sz="1650" b="1" i="0">
                <a:solidFill>
                  <a:srgbClr val="132238"/>
                </a:solidFill>
              </a:defRPr>
            </a:lvl7pPr>
            <a:lvl8pPr algn="l">
              <a:defRPr sz="1650" b="1" i="0">
                <a:solidFill>
                  <a:srgbClr val="132238"/>
                </a:solidFill>
              </a:defRPr>
            </a:lvl8pPr>
            <a:lvl9pPr algn="l">
              <a:defRPr sz="1650" b="1" i="0">
                <a:solidFill>
                  <a:srgbClr val="132238"/>
                </a:solidFill>
              </a:defRPr>
            </a:lvl9pPr>
          </a:lstStyle>
          <a:p xmlns:a="http://schemas.openxmlformats.org/drawingml/2006/main">
            <a:pPr algn="l">
              <a:defRPr sz="1650" b="1" i="0">
                <a:solidFill>
                  <a:srgbClr val="132238"/>
                </a:solidFill>
              </a:defRPr>
            </a:pPr>
            <a:r>
              <a:rPr sz="1650" b="1" i="0">
                <a:solidFill>
                  <a:srgbClr val="132238"/>
                </a:solidFill>
              </a:rPr>
              <a:t>Accuracy sur le test (%)</a:t>
            </a:r>
          </a:p>
        </p:txBody>
      </p:sp>
      <p:graphicFrame>
        <p:nvGraphicFramePr>
          <p:cNvPr id="5" name="Chart">
            <a:extLst xmlns:a="http://schemas.openxmlformats.org/drawingml/2006/main">
              <a:ext uri="{FF2B5EF4-FFF2-40B4-BE49-F238E27FC236}">
                <a16:creationId xmlns:a16="http://schemas.microsoft.com/office/drawing/2014/main" id="{8F3626E1-710B-4CA4-B96C-5E9080461998}"/>
              </a:ext>
            </a:extLst>
          </p:cNvPr>
          <p:cNvGraphicFramePr/>
          <p:nvPr/>
        </p:nvGraphicFramePr>
        <p:xfrm>
          <a:off xmlns:a="http://schemas.openxmlformats.org/drawingml/2006/main" x="571500" y="1714500"/>
          <a:ext xmlns:a="http://schemas.openxmlformats.org/drawingml/2006/main" cx="4762500" cy="3429000"/>
        </p:xfrm>
        <a:graphic xmlns:a="http://schemas.openxmlformats.org/drawingml/2006/main">
          <a:graphicData uri="http://schemas.openxmlformats.org/drawingml/2006/chart">
            <c:chart xmlns:r="http://schemas.openxmlformats.org/officeDocument/2006/relationships" xmlns:c="http://schemas.openxmlformats.org/drawingml/2006/chart" r:id="Rbc9cfaeda94c4bb1"/>
          </a:graphicData>
        </a:graphic>
      </p:graphicFrame>
      <p:sp>
        <p:nvSpPr>
          <p:cNvPr id="6" name="">
            <a:extLst xmlns:a="http://schemas.openxmlformats.org/drawingml/2006/main">
              <a:ext uri="{FF2B5EF4-FFF2-40B4-BE49-F238E27FC236}">
                <a16:creationId xmlns:a16="http://schemas.microsoft.com/office/drawing/2014/main" id="{DE0BE93D-9018-4AFA-901A-65C04345F047}"/>
              </a:ext>
            </a:extLst>
          </p:cNvPr>
          <p:cNvSpPr>
            <a:spLocks xmlns:a="http://schemas.openxmlformats.org/drawingml/2006/main" noGrp="1"/>
          </p:cNvSpPr>
          <p:nvPr/>
        </p:nvSpPr>
        <p:spPr>
          <a:xfrm xmlns:a="http://schemas.openxmlformats.org/drawingml/2006/main">
            <a:off x="6191250" y="13144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i="0">
                <a:solidFill>
                  <a:srgbClr val="132238"/>
                </a:solidFill>
              </a:defRPr>
            </a:defPPr>
            <a:lvl1pPr algn="l">
              <a:defRPr sz="1650" b="1" i="0">
                <a:solidFill>
                  <a:srgbClr val="132238"/>
                </a:solidFill>
              </a:defRPr>
            </a:lvl1pPr>
            <a:lvl2pPr algn="l">
              <a:defRPr sz="1650" b="1" i="0">
                <a:solidFill>
                  <a:srgbClr val="132238"/>
                </a:solidFill>
              </a:defRPr>
            </a:lvl2pPr>
            <a:lvl3pPr algn="l">
              <a:defRPr sz="1650" b="1" i="0">
                <a:solidFill>
                  <a:srgbClr val="132238"/>
                </a:solidFill>
              </a:defRPr>
            </a:lvl3pPr>
            <a:lvl4pPr algn="l">
              <a:defRPr sz="1650" b="1" i="0">
                <a:solidFill>
                  <a:srgbClr val="132238"/>
                </a:solidFill>
              </a:defRPr>
            </a:lvl4pPr>
            <a:lvl5pPr algn="l">
              <a:defRPr sz="1650" b="1" i="0">
                <a:solidFill>
                  <a:srgbClr val="132238"/>
                </a:solidFill>
              </a:defRPr>
            </a:lvl5pPr>
            <a:lvl6pPr algn="l">
              <a:defRPr sz="1650" b="1" i="0">
                <a:solidFill>
                  <a:srgbClr val="132238"/>
                </a:solidFill>
              </a:defRPr>
            </a:lvl6pPr>
            <a:lvl7pPr algn="l">
              <a:defRPr sz="1650" b="1" i="0">
                <a:solidFill>
                  <a:srgbClr val="132238"/>
                </a:solidFill>
              </a:defRPr>
            </a:lvl7pPr>
            <a:lvl8pPr algn="l">
              <a:defRPr sz="1650" b="1" i="0">
                <a:solidFill>
                  <a:srgbClr val="132238"/>
                </a:solidFill>
              </a:defRPr>
            </a:lvl8pPr>
            <a:lvl9pPr algn="l">
              <a:defRPr sz="1650" b="1" i="0">
                <a:solidFill>
                  <a:srgbClr val="132238"/>
                </a:solidFill>
              </a:defRPr>
            </a:lvl9pPr>
          </a:lstStyle>
          <a:p xmlns:a="http://schemas.openxmlformats.org/drawingml/2006/main">
            <a:pPr algn="l">
              <a:defRPr sz="1650" b="1" i="0">
                <a:solidFill>
                  <a:srgbClr val="132238"/>
                </a:solidFill>
              </a:defRPr>
            </a:pPr>
            <a:r>
              <a:rPr sz="1650" b="1" i="0">
                <a:solidFill>
                  <a:srgbClr val="132238"/>
                </a:solidFill>
              </a:rPr>
              <a:t>Matrice de confusion</a:t>
            </a:r>
          </a:p>
        </p:txBody>
      </p:sp>
      <p:graphicFrame>
        <p:nvGraphicFramePr>
          <p:cNvPr id="7" name="">
            <a:extLst xmlns:a="http://schemas.openxmlformats.org/drawingml/2006/main">
              <a:ext uri="{FF2B5EF4-FFF2-40B4-BE49-F238E27FC236}">
                <a16:creationId xmlns:a16="http://schemas.microsoft.com/office/drawing/2014/main" id="{FB707322-C364-42F3-8A3A-D60E98981285}"/>
              </a:ext>
            </a:extLst>
          </p:cNvPr>
          <p:cNvGraphicFramePr/>
          <p:nvPr/>
        </p:nvGraphicFramePr>
        <p:xfrm>
          <a:off xmlns:a="http://schemas.openxmlformats.org/drawingml/2006/main" x="6191250" y="1790700"/>
          <a:ext xmlns:a="http://schemas.openxmlformats.org/drawingml/2006/main" cx="4953000" cy="2095500"/>
        </p:xfrm>
        <a:graphic xmlns:a="http://schemas.openxmlformats.org/drawingml/2006/main">
          <a:graphicData uri="http://schemas.openxmlformats.org/drawingml/2006/table">
            <a:tbl>
              <a:tblPr firstRow="1" firstCol="0" bandRow="1">
                <a:tableStyleId>{5C22544A-7EE6-4342-B048-85BDC9FD1C3A}</a:tableStyleId>
              </a:tblPr>
              <a:tblGrid>
                <a:gridCol w="2095500"/>
                <a:gridCol w="1428750"/>
                <a:gridCol w="1428750"/>
              </a:tblGrid>
              <a:tr h="698500">
                <a:tc>
                  <a:txBody>
                    <a:bodyPr/>
                    <a:lstStyle/>
                    <a:p>
                      <a:r>
                        <a:rPr sz="1200" b="1">
                          <a:solidFill>
                            <a:srgbClr val="FFFFFF"/>
                          </a:solidFill>
                          <a:latin typeface="Aptos"/>
                          <a:ea typeface="Aptos"/>
                          <a:cs typeface="Aptos"/>
                        </a:rPr>
                        <a:t>Réel / prédit</a:t>
                      </a:r>
                    </a:p>
                  </a:txBody>
                  <a:tcPr marL="91440" marR="91440" marT="45720" marB="45720">
                    <a:solidFill>
                      <a:srgbClr val="D7654F"/>
                    </a:solidFill>
                  </a:tcPr>
                </a:tc>
                <a:tc>
                  <a:txBody>
                    <a:bodyPr/>
                    <a:lstStyle/>
                    <a:p>
                      <a:r>
                        <a:rPr sz="1200" b="1">
                          <a:solidFill>
                            <a:srgbClr val="FFFFFF"/>
                          </a:solidFill>
                          <a:latin typeface="Aptos"/>
                          <a:ea typeface="Aptos"/>
                          <a:cs typeface="Aptos"/>
                        </a:rPr>
                        <a:t>Non-survivant</a:t>
                      </a:r>
                    </a:p>
                  </a:txBody>
                  <a:tcPr marL="91440" marR="91440" marT="45720" marB="45720">
                    <a:solidFill>
                      <a:srgbClr val="D7654F"/>
                    </a:solidFill>
                  </a:tcPr>
                </a:tc>
                <a:tc>
                  <a:txBody>
                    <a:bodyPr/>
                    <a:lstStyle/>
                    <a:p>
                      <a:r>
                        <a:rPr sz="1200" b="1">
                          <a:solidFill>
                            <a:srgbClr val="FFFFFF"/>
                          </a:solidFill>
                          <a:latin typeface="Aptos"/>
                          <a:ea typeface="Aptos"/>
                          <a:cs typeface="Aptos"/>
                        </a:rPr>
                        <a:t>Survivant</a:t>
                      </a:r>
                    </a:p>
                  </a:txBody>
                  <a:tcPr marL="91440" marR="91440" marT="45720" marB="45720">
                    <a:solidFill>
                      <a:srgbClr val="D7654F"/>
                    </a:solidFill>
                  </a:tcPr>
                </a:tc>
              </a:tr>
              <a:tr h="698500">
                <a:tc>
                  <a:txBody>
                    <a:bodyPr/>
                    <a:lstStyle/>
                    <a:p>
                      <a:r>
                        <a:rPr sz="1125">
                          <a:solidFill>
                            <a:srgbClr val="132238"/>
                          </a:solidFill>
                          <a:latin typeface="Aptos"/>
                          <a:ea typeface="Aptos"/>
                          <a:cs typeface="Aptos"/>
                        </a:rPr>
                        <a:t>Non-survivant</a:t>
                      </a:r>
                    </a:p>
                  </a:txBody>
                  <a:tcPr marL="91440" marR="91440" marT="45720" marB="45720"/>
                </a:tc>
                <a:tc>
                  <a:txBody>
                    <a:bodyPr/>
                    <a:lstStyle/>
                    <a:p>
                      <a:r>
                        <a:rPr sz="1125">
                          <a:solidFill>
                            <a:srgbClr val="132238"/>
                          </a:solidFill>
                          <a:latin typeface="Aptos"/>
                          <a:ea typeface="Aptos"/>
                          <a:cs typeface="Aptos"/>
                        </a:rPr>
                        <a:t>104</a:t>
                      </a:r>
                    </a:p>
                  </a:txBody>
                  <a:tcPr marL="91440" marR="91440" marT="45720" marB="45720"/>
                </a:tc>
                <a:tc>
                  <a:txBody>
                    <a:bodyPr/>
                    <a:lstStyle/>
                    <a:p>
                      <a:r>
                        <a:rPr sz="1125">
                          <a:solidFill>
                            <a:srgbClr val="132238"/>
                          </a:solidFill>
                          <a:latin typeface="Aptos"/>
                          <a:ea typeface="Aptos"/>
                          <a:cs typeface="Aptos"/>
                        </a:rPr>
                        <a:t>6</a:t>
                      </a:r>
                    </a:p>
                  </a:txBody>
                  <a:tcPr marL="91440" marR="91440" marT="45720" marB="45720"/>
                </a:tc>
              </a:tr>
              <a:tr h="698500">
                <a:tc>
                  <a:txBody>
                    <a:bodyPr/>
                    <a:lstStyle/>
                    <a:p>
                      <a:r>
                        <a:rPr sz="1125">
                          <a:solidFill>
                            <a:srgbClr val="132238"/>
                          </a:solidFill>
                          <a:latin typeface="Aptos"/>
                          <a:ea typeface="Aptos"/>
                          <a:cs typeface="Aptos"/>
                        </a:rPr>
                        <a:t>Survivant</a:t>
                      </a:r>
                    </a:p>
                  </a:txBody>
                  <a:tcPr marL="91440" marR="91440" marT="45720" marB="45720"/>
                </a:tc>
                <a:tc>
                  <a:txBody>
                    <a:bodyPr/>
                    <a:lstStyle/>
                    <a:p>
                      <a:r>
                        <a:rPr sz="1125">
                          <a:solidFill>
                            <a:srgbClr val="132238"/>
                          </a:solidFill>
                          <a:latin typeface="Aptos"/>
                          <a:ea typeface="Aptos"/>
                          <a:cs typeface="Aptos"/>
                        </a:rPr>
                        <a:t>29</a:t>
                      </a:r>
                    </a:p>
                  </a:txBody>
                  <a:tcPr marL="91440" marR="91440" marT="45720" marB="45720"/>
                </a:tc>
                <a:tc>
                  <a:txBody>
                    <a:bodyPr/>
                    <a:lstStyle/>
                    <a:p>
                      <a:r>
                        <a:rPr sz="1125">
                          <a:solidFill>
                            <a:srgbClr val="132238"/>
                          </a:solidFill>
                          <a:latin typeface="Aptos"/>
                          <a:ea typeface="Aptos"/>
                          <a:cs typeface="Aptos"/>
                        </a:rPr>
                        <a:t>40</a:t>
                      </a:r>
                    </a:p>
                  </a:txBody>
                  <a:tcPr marL="91440" marR="91440" marT="45720" marB="45720"/>
                </a:tc>
              </a:tr>
            </a:tbl>
          </a:graphicData>
        </a:graphic>
      </p:graphicFrame>
      <p:sp>
        <p:nvSpPr>
          <p:cNvPr id="8" name="">
            <a:extLst xmlns:a="http://schemas.openxmlformats.org/drawingml/2006/main">
              <a:ext uri="{FF2B5EF4-FFF2-40B4-BE49-F238E27FC236}">
                <a16:creationId xmlns:a16="http://schemas.microsoft.com/office/drawing/2014/main" id="{07141FCD-D30F-43C2-9793-8F91546BC45F}"/>
              </a:ext>
            </a:extLst>
          </p:cNvPr>
          <p:cNvSpPr>
            <a:spLocks xmlns:a="http://schemas.openxmlformats.org/drawingml/2006/main" noGrp="1"/>
          </p:cNvSpPr>
          <p:nvPr/>
        </p:nvSpPr>
        <p:spPr>
          <a:xfrm xmlns:a="http://schemas.openxmlformats.org/drawingml/2006/main">
            <a:off x="6000750" y="4238625"/>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D7654F"/>
                </a:solidFill>
              </a:defRPr>
            </a:defPPr>
            <a:lvl1pPr algn="ctr">
              <a:defRPr sz="3450" b="1" i="0">
                <a:solidFill>
                  <a:srgbClr val="D7654F"/>
                </a:solidFill>
              </a:defRPr>
            </a:lvl1pPr>
            <a:lvl2pPr algn="ctr">
              <a:defRPr sz="3450" b="1" i="0">
                <a:solidFill>
                  <a:srgbClr val="D7654F"/>
                </a:solidFill>
              </a:defRPr>
            </a:lvl2pPr>
            <a:lvl3pPr algn="ctr">
              <a:defRPr sz="3450" b="1" i="0">
                <a:solidFill>
                  <a:srgbClr val="D7654F"/>
                </a:solidFill>
              </a:defRPr>
            </a:lvl3pPr>
            <a:lvl4pPr algn="ctr">
              <a:defRPr sz="3450" b="1" i="0">
                <a:solidFill>
                  <a:srgbClr val="D7654F"/>
                </a:solidFill>
              </a:defRPr>
            </a:lvl4pPr>
            <a:lvl5pPr algn="ctr">
              <a:defRPr sz="3450" b="1" i="0">
                <a:solidFill>
                  <a:srgbClr val="D7654F"/>
                </a:solidFill>
              </a:defRPr>
            </a:lvl5pPr>
            <a:lvl6pPr algn="ctr">
              <a:defRPr sz="3450" b="1" i="0">
                <a:solidFill>
                  <a:srgbClr val="D7654F"/>
                </a:solidFill>
              </a:defRPr>
            </a:lvl6pPr>
            <a:lvl7pPr algn="ctr">
              <a:defRPr sz="3450" b="1" i="0">
                <a:solidFill>
                  <a:srgbClr val="D7654F"/>
                </a:solidFill>
              </a:defRPr>
            </a:lvl7pPr>
            <a:lvl8pPr algn="ctr">
              <a:defRPr sz="3450" b="1" i="0">
                <a:solidFill>
                  <a:srgbClr val="D7654F"/>
                </a:solidFill>
              </a:defRPr>
            </a:lvl8pPr>
            <a:lvl9pPr algn="ctr">
              <a:defRPr sz="3450" b="1" i="0">
                <a:solidFill>
                  <a:srgbClr val="D7654F"/>
                </a:solidFill>
              </a:defRPr>
            </a:lvl9pPr>
          </a:lstStyle>
          <a:p xmlns:a="http://schemas.openxmlformats.org/drawingml/2006/main">
            <a:pPr algn="ctr">
              <a:defRPr sz="3450" b="1" i="0">
                <a:solidFill>
                  <a:srgbClr val="D7654F"/>
                </a:solidFill>
              </a:defRPr>
            </a:pPr>
            <a:r>
              <a:rPr sz="3450" b="1" i="0">
                <a:solidFill>
                  <a:srgbClr val="D7654F"/>
                </a:solidFill>
              </a:rPr>
              <a:t>87,0 %</a:t>
            </a:r>
          </a:p>
        </p:txBody>
      </p:sp>
      <p:sp>
        <p:nvSpPr>
          <p:cNvPr id="9" name="">
            <a:extLst xmlns:a="http://schemas.openxmlformats.org/drawingml/2006/main">
              <a:ext uri="{FF2B5EF4-FFF2-40B4-BE49-F238E27FC236}">
                <a16:creationId xmlns:a16="http://schemas.microsoft.com/office/drawing/2014/main" id="{A5E12F39-952C-4E78-BC20-9D62CCE7D1AD}"/>
              </a:ext>
            </a:extLst>
          </p:cNvPr>
          <p:cNvSpPr>
            <a:spLocks xmlns:a="http://schemas.openxmlformats.org/drawingml/2006/main" noGrp="1"/>
          </p:cNvSpPr>
          <p:nvPr/>
        </p:nvSpPr>
        <p:spPr>
          <a:xfrm xmlns:a="http://schemas.openxmlformats.org/drawingml/2006/main">
            <a:off x="6000750" y="48291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précision pour « survivant »</a:t>
            </a:r>
          </a:p>
        </p:txBody>
      </p:sp>
      <p:sp>
        <p:nvSpPr>
          <p:cNvPr id="10" name="">
            <a:extLst xmlns:a="http://schemas.openxmlformats.org/drawingml/2006/main">
              <a:ext uri="{FF2B5EF4-FFF2-40B4-BE49-F238E27FC236}">
                <a16:creationId xmlns:a16="http://schemas.microsoft.com/office/drawing/2014/main" id="{EF0BE16D-039B-4DAF-82AB-9E1A9657F47B}"/>
              </a:ext>
            </a:extLst>
          </p:cNvPr>
          <p:cNvSpPr>
            <a:spLocks xmlns:a="http://schemas.openxmlformats.org/drawingml/2006/main" noGrp="1"/>
          </p:cNvSpPr>
          <p:nvPr/>
        </p:nvSpPr>
        <p:spPr>
          <a:xfrm xmlns:a="http://schemas.openxmlformats.org/drawingml/2006/main">
            <a:off x="8715375" y="4238625"/>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B94A48"/>
                </a:solidFill>
              </a:defRPr>
            </a:defPPr>
            <a:lvl1pPr algn="ctr">
              <a:defRPr sz="3450" b="1" i="0">
                <a:solidFill>
                  <a:srgbClr val="B94A48"/>
                </a:solidFill>
              </a:defRPr>
            </a:lvl1pPr>
            <a:lvl2pPr algn="ctr">
              <a:defRPr sz="3450" b="1" i="0">
                <a:solidFill>
                  <a:srgbClr val="B94A48"/>
                </a:solidFill>
              </a:defRPr>
            </a:lvl2pPr>
            <a:lvl3pPr algn="ctr">
              <a:defRPr sz="3450" b="1" i="0">
                <a:solidFill>
                  <a:srgbClr val="B94A48"/>
                </a:solidFill>
              </a:defRPr>
            </a:lvl3pPr>
            <a:lvl4pPr algn="ctr">
              <a:defRPr sz="3450" b="1" i="0">
                <a:solidFill>
                  <a:srgbClr val="B94A48"/>
                </a:solidFill>
              </a:defRPr>
            </a:lvl4pPr>
            <a:lvl5pPr algn="ctr">
              <a:defRPr sz="3450" b="1" i="0">
                <a:solidFill>
                  <a:srgbClr val="B94A48"/>
                </a:solidFill>
              </a:defRPr>
            </a:lvl5pPr>
            <a:lvl6pPr algn="ctr">
              <a:defRPr sz="3450" b="1" i="0">
                <a:solidFill>
                  <a:srgbClr val="B94A48"/>
                </a:solidFill>
              </a:defRPr>
            </a:lvl6pPr>
            <a:lvl7pPr algn="ctr">
              <a:defRPr sz="3450" b="1" i="0">
                <a:solidFill>
                  <a:srgbClr val="B94A48"/>
                </a:solidFill>
              </a:defRPr>
            </a:lvl7pPr>
            <a:lvl8pPr algn="ctr">
              <a:defRPr sz="3450" b="1" i="0">
                <a:solidFill>
                  <a:srgbClr val="B94A48"/>
                </a:solidFill>
              </a:defRPr>
            </a:lvl8pPr>
            <a:lvl9pPr algn="ctr">
              <a:defRPr sz="3450" b="1" i="0">
                <a:solidFill>
                  <a:srgbClr val="B94A48"/>
                </a:solidFill>
              </a:defRPr>
            </a:lvl9pPr>
          </a:lstStyle>
          <a:p xmlns:a="http://schemas.openxmlformats.org/drawingml/2006/main">
            <a:pPr algn="ctr">
              <a:defRPr sz="3450" b="1" i="0">
                <a:solidFill>
                  <a:srgbClr val="B94A48"/>
                </a:solidFill>
              </a:defRPr>
            </a:pPr>
            <a:r>
              <a:rPr sz="3450" b="1" i="0">
                <a:solidFill>
                  <a:srgbClr val="B94A48"/>
                </a:solidFill>
              </a:rPr>
              <a:t>58,0 %</a:t>
            </a:r>
          </a:p>
        </p:txBody>
      </p:sp>
      <p:sp>
        <p:nvSpPr>
          <p:cNvPr id="11" name="">
            <a:extLst xmlns:a="http://schemas.openxmlformats.org/drawingml/2006/main">
              <a:ext uri="{FF2B5EF4-FFF2-40B4-BE49-F238E27FC236}">
                <a16:creationId xmlns:a16="http://schemas.microsoft.com/office/drawing/2014/main" id="{A9D62D3E-C4F3-4407-96F1-806F174C5419}"/>
              </a:ext>
            </a:extLst>
          </p:cNvPr>
          <p:cNvSpPr>
            <a:spLocks xmlns:a="http://schemas.openxmlformats.org/drawingml/2006/main" noGrp="1"/>
          </p:cNvSpPr>
          <p:nvPr/>
        </p:nvSpPr>
        <p:spPr>
          <a:xfrm xmlns:a="http://schemas.openxmlformats.org/drawingml/2006/main">
            <a:off x="8715375" y="48291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rappel pour « survivant »</a:t>
            </a:r>
          </a:p>
        </p:txBody>
      </p:sp>
      <p:sp>
        <p:nvSpPr>
          <p:cNvPr id="12" name="">
            <a:extLst xmlns:a="http://schemas.openxmlformats.org/drawingml/2006/main">
              <a:ext uri="{FF2B5EF4-FFF2-40B4-BE49-F238E27FC236}">
                <a16:creationId xmlns:a16="http://schemas.microsoft.com/office/drawing/2014/main" id="{1B1AFBAB-5B38-4D87-89EB-E5191C7FFEB3}"/>
              </a:ext>
            </a:extLst>
          </p:cNvPr>
          <p:cNvSpPr>
            <a:spLocks xmlns:a="http://schemas.openxmlformats.org/drawingml/2006/main" noGrp="1"/>
          </p:cNvSpPr>
          <p:nvPr/>
        </p:nvSpPr>
        <p:spPr>
          <a:xfrm xmlns:a="http://schemas.openxmlformats.org/drawingml/2006/main">
            <a:off x="6191250" y="560070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132238"/>
                </a:solidFill>
              </a:defRPr>
            </a:defPPr>
            <a:lvl1pPr algn="ctr">
              <a:defRPr sz="1500" b="1" i="0">
                <a:solidFill>
                  <a:srgbClr val="132238"/>
                </a:solidFill>
              </a:defRPr>
            </a:lvl1pPr>
            <a:lvl2pPr algn="ctr">
              <a:defRPr sz="1500" b="1" i="0">
                <a:solidFill>
                  <a:srgbClr val="132238"/>
                </a:solidFill>
              </a:defRPr>
            </a:lvl2pPr>
            <a:lvl3pPr algn="ctr">
              <a:defRPr sz="1500" b="1" i="0">
                <a:solidFill>
                  <a:srgbClr val="132238"/>
                </a:solidFill>
              </a:defRPr>
            </a:lvl3pPr>
            <a:lvl4pPr algn="ctr">
              <a:defRPr sz="1500" b="1" i="0">
                <a:solidFill>
                  <a:srgbClr val="132238"/>
                </a:solidFill>
              </a:defRPr>
            </a:lvl4pPr>
            <a:lvl5pPr algn="ctr">
              <a:defRPr sz="1500" b="1" i="0">
                <a:solidFill>
                  <a:srgbClr val="132238"/>
                </a:solidFill>
              </a:defRPr>
            </a:lvl5pPr>
            <a:lvl6pPr algn="ctr">
              <a:defRPr sz="1500" b="1" i="0">
                <a:solidFill>
                  <a:srgbClr val="132238"/>
                </a:solidFill>
              </a:defRPr>
            </a:lvl6pPr>
            <a:lvl7pPr algn="ctr">
              <a:defRPr sz="1500" b="1" i="0">
                <a:solidFill>
                  <a:srgbClr val="132238"/>
                </a:solidFill>
              </a:defRPr>
            </a:lvl7pPr>
            <a:lvl8pPr algn="ctr">
              <a:defRPr sz="1500" b="1" i="0">
                <a:solidFill>
                  <a:srgbClr val="132238"/>
                </a:solidFill>
              </a:defRPr>
            </a:lvl8pPr>
            <a:lvl9pPr algn="ctr">
              <a:defRPr sz="1500" b="1" i="0">
                <a:solidFill>
                  <a:srgbClr val="132238"/>
                </a:solidFill>
              </a:defRPr>
            </a:lvl9pPr>
          </a:lstStyle>
          <a:p xmlns:a="http://schemas.openxmlformats.org/drawingml/2006/main">
            <a:pPr algn="ctr">
              <a:defRPr sz="1500" b="1" i="0">
                <a:solidFill>
                  <a:srgbClr val="132238"/>
                </a:solidFill>
              </a:defRPr>
            </a:pPr>
            <a:r>
              <a:rPr sz="1500" b="1" i="0">
                <a:solidFill>
                  <a:srgbClr val="132238"/>
                </a:solidFill>
              </a:rPr>
              <a:t>Le modèle dépasse nettement la référence, mais 29 survivants sur 69 sont classés comme non-survivants.</a:t>
            </a:r>
          </a:p>
        </p:txBody>
      </p:sp>
    </p:spTree>
    <p:extLst>
      <p:ext uri="{BB962C8B-B14F-4D97-AF65-F5344CB8AC3E}">
        <p14:creationId xmlns:p14="http://schemas.microsoft.com/office/powerpoint/2010/main" val="1844511547"/>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47BCAD19-89F4-41A3-A29C-7D2CA3BD759F}"/>
              </a:ext>
            </a:extLst>
          </p:cNvPr>
          <p:cNvCxnSpPr>
            <a:stCxn xmlns:a="http://schemas.openxmlformats.org/drawingml/2006/main" id="12" idx="3"/>
            <a:endCxn xmlns:a="http://schemas.openxmlformats.org/drawingml/2006/main" id="13" idx="1"/>
          </p:cNvCxnSpPr>
          <p:nvPr/>
        </p:nvCxnSpPr>
        <p:spPr>
          <a:xfrm xmlns:a="http://schemas.openxmlformats.org/drawingml/2006/main">
            <a:off x="7905750" y="4238625"/>
            <a:ext cx="1047750" cy="0"/>
          </a:xfrm>
          <a:prstGeom xmlns:a="http://schemas.openxmlformats.org/drawingml/2006/main" prst="straightConnector1">
            <a:avLst/>
          </a:prstGeom>
          <a:ln xmlns:a="http://schemas.openxmlformats.org/drawingml/2006/main" w="19050">
            <a:solidFill>
              <a:srgbClr val="238A7A"/>
            </a:solidFill>
            <a:prstDash val="solid"/>
          </a:ln>
        </p:spPr>
      </p:cxnSp>
      <p:cxnSp>
        <p:nvCxnSpPr>
          <p:cNvPr id="18" name="">
            <a:extLst xmlns:a="http://schemas.openxmlformats.org/drawingml/2006/main">
              <a:ext uri="{FF2B5EF4-FFF2-40B4-BE49-F238E27FC236}">
                <a16:creationId xmlns:a16="http://schemas.microsoft.com/office/drawing/2014/main" id="{C0414617-37AA-4620-AE93-A36588E6188A}"/>
              </a:ext>
            </a:extLst>
          </p:cNvPr>
          <p:cNvCxnSpPr>
            <a:stCxn xmlns:a="http://schemas.openxmlformats.org/drawingml/2006/main" id="11" idx="2"/>
            <a:endCxn xmlns:a="http://schemas.openxmlformats.org/drawingml/2006/main" id="12" idx="0"/>
          </p:cNvCxnSpPr>
          <p:nvPr/>
        </p:nvCxnSpPr>
        <p:spPr>
          <a:xfrm xmlns:a="http://schemas.openxmlformats.org/drawingml/2006/main" flipH="1">
            <a:off x="6858000" y="2819400"/>
            <a:ext cx="4048125" cy="847725"/>
          </a:xfrm>
          <a:prstGeom xmlns:a="http://schemas.openxmlformats.org/drawingml/2006/main" prst="bentConnector4">
            <a:avLst>
              <a:gd name="adj1" fmla="val 0"/>
              <a:gd name="adj2" fmla="val 50000"/>
            </a:avLst>
          </a:prstGeom>
          <a:ln xmlns:a="http://schemas.openxmlformats.org/drawingml/2006/main" w="19050">
            <a:solidFill>
              <a:srgbClr val="238A7A"/>
            </a:solidFill>
            <a:prstDash val="solid"/>
          </a:ln>
        </p:spPr>
      </p:cxnSp>
      <p:cxnSp>
        <p:nvCxnSpPr>
          <p:cNvPr id="17" name="">
            <a:extLst xmlns:a="http://schemas.openxmlformats.org/drawingml/2006/main">
              <a:ext uri="{FF2B5EF4-FFF2-40B4-BE49-F238E27FC236}">
                <a16:creationId xmlns:a16="http://schemas.microsoft.com/office/drawing/2014/main" id="{1C3EEB4E-16FB-46A7-BF0C-0AFF0FCE4698}"/>
              </a:ext>
            </a:extLst>
          </p:cNvPr>
          <p:cNvCxnSpPr>
            <a:stCxn xmlns:a="http://schemas.openxmlformats.org/drawingml/2006/main" id="10" idx="3"/>
            <a:endCxn xmlns:a="http://schemas.openxmlformats.org/drawingml/2006/main" id="11" idx="1"/>
          </p:cNvCxnSpPr>
          <p:nvPr/>
        </p:nvCxnSpPr>
        <p:spPr>
          <a:xfrm xmlns:a="http://schemas.openxmlformats.org/drawingml/2006/main">
            <a:off x="10048875" y="2457450"/>
            <a:ext cx="333375" cy="0"/>
          </a:xfrm>
          <a:prstGeom xmlns:a="http://schemas.openxmlformats.org/drawingml/2006/main" prst="straightConnector1">
            <a:avLst/>
          </a:prstGeom>
          <a:ln xmlns:a="http://schemas.openxmlformats.org/drawingml/2006/main" w="19050">
            <a:solidFill>
              <a:srgbClr val="238A7A"/>
            </a:solidFill>
            <a:prstDash val="solid"/>
          </a:ln>
        </p:spPr>
      </p:cxnSp>
      <p:cxnSp>
        <p:nvCxnSpPr>
          <p:cNvPr id="16" name="">
            <a:extLst xmlns:a="http://schemas.openxmlformats.org/drawingml/2006/main">
              <a:ext uri="{FF2B5EF4-FFF2-40B4-BE49-F238E27FC236}">
                <a16:creationId xmlns:a16="http://schemas.microsoft.com/office/drawing/2014/main" id="{D6FCC699-9562-4E13-9BBC-76455AA62DD5}"/>
              </a:ext>
            </a:extLst>
          </p:cNvPr>
          <p:cNvCxnSpPr>
            <a:stCxn xmlns:a="http://schemas.openxmlformats.org/drawingml/2006/main" id="9" idx="3"/>
            <a:endCxn xmlns:a="http://schemas.openxmlformats.org/drawingml/2006/main" id="10" idx="1"/>
          </p:cNvCxnSpPr>
          <p:nvPr/>
        </p:nvCxnSpPr>
        <p:spPr>
          <a:xfrm xmlns:a="http://schemas.openxmlformats.org/drawingml/2006/main">
            <a:off x="8334375" y="2457450"/>
            <a:ext cx="333375" cy="0"/>
          </a:xfrm>
          <a:prstGeom xmlns:a="http://schemas.openxmlformats.org/drawingml/2006/main" prst="straightConnector1">
            <a:avLst/>
          </a:prstGeom>
          <a:ln xmlns:a="http://schemas.openxmlformats.org/drawingml/2006/main" w="19050">
            <a:solidFill>
              <a:srgbClr val="238A7A"/>
            </a:solidFill>
            <a:prstDash val="solid"/>
          </a:ln>
        </p:spPr>
      </p:cxnSp>
      <p:cxnSp>
        <p:nvCxnSpPr>
          <p:cNvPr id="15" name="">
            <a:extLst xmlns:a="http://schemas.openxmlformats.org/drawingml/2006/main">
              <a:ext uri="{FF2B5EF4-FFF2-40B4-BE49-F238E27FC236}">
                <a16:creationId xmlns:a16="http://schemas.microsoft.com/office/drawing/2014/main" id="{D669B3FB-14C6-4AC4-99BE-FA1729F67211}"/>
              </a:ext>
            </a:extLst>
          </p:cNvPr>
          <p:cNvCxnSpPr>
            <a:stCxn xmlns:a="http://schemas.openxmlformats.org/drawingml/2006/main" id="8" idx="3"/>
            <a:endCxn xmlns:a="http://schemas.openxmlformats.org/drawingml/2006/main" id="9" idx="1"/>
          </p:cNvCxnSpPr>
          <p:nvPr/>
        </p:nvCxnSpPr>
        <p:spPr>
          <a:xfrm xmlns:a="http://schemas.openxmlformats.org/drawingml/2006/main">
            <a:off x="6953250" y="2457450"/>
            <a:ext cx="333375" cy="0"/>
          </a:xfrm>
          <a:prstGeom xmlns:a="http://schemas.openxmlformats.org/drawingml/2006/main" prst="straightConnector1">
            <a:avLst/>
          </a:prstGeom>
          <a:ln xmlns:a="http://schemas.openxmlformats.org/drawingml/2006/main" w="19050">
            <a:solidFill>
              <a:srgbClr val="238A7A"/>
            </a:solidFill>
            <a:prstDash val="solid"/>
          </a:ln>
        </p:spPr>
      </p:cxnSp>
      <p:cxnSp>
        <p:nvCxnSpPr>
          <p:cNvPr id="14" name="">
            <a:extLst xmlns:a="http://schemas.openxmlformats.org/drawingml/2006/main">
              <a:ext uri="{FF2B5EF4-FFF2-40B4-BE49-F238E27FC236}">
                <a16:creationId xmlns:a16="http://schemas.microsoft.com/office/drawing/2014/main" id="{E2C5C207-DD97-4246-A5CE-44695F6F5A68}"/>
              </a:ext>
            </a:extLst>
          </p:cNvPr>
          <p:cNvCxnSpPr>
            <a:stCxn xmlns:a="http://schemas.openxmlformats.org/drawingml/2006/main" id="7" idx="3"/>
            <a:endCxn xmlns:a="http://schemas.openxmlformats.org/drawingml/2006/main" id="8" idx="1"/>
          </p:cNvCxnSpPr>
          <p:nvPr/>
        </p:nvCxnSpPr>
        <p:spPr>
          <a:xfrm xmlns:a="http://schemas.openxmlformats.org/drawingml/2006/main">
            <a:off x="5238750" y="2457450"/>
            <a:ext cx="333375" cy="0"/>
          </a:xfrm>
          <a:prstGeom xmlns:a="http://schemas.openxmlformats.org/drawingml/2006/main" prst="straightConnector1">
            <a:avLst/>
          </a:prstGeom>
          <a:ln xmlns:a="http://schemas.openxmlformats.org/drawingml/2006/main" w="19050">
            <a:solidFill>
              <a:srgbClr val="238A7A"/>
            </a:solidFill>
            <a:prstDash val="solid"/>
          </a:ln>
        </p:spPr>
      </p:cxnSp>
      <p:sp>
        <p:nvSpPr>
          <p:cNvPr id="26" name="">
            <a:extLst xmlns:a="http://schemas.openxmlformats.org/drawingml/2006/main">
              <a:ext uri="{FF2B5EF4-FFF2-40B4-BE49-F238E27FC236}">
                <a16:creationId xmlns:a16="http://schemas.microsoft.com/office/drawing/2014/main" id="{B9D32791-1462-459C-8B5A-4E7C377E5C1D}"/>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i="0">
                <a:solidFill>
                  <a:srgbClr val="132238"/>
                </a:solidFill>
              </a:defRPr>
            </a:defPPr>
            <a:lvl1pPr algn="l">
              <a:defRPr sz="2850" b="1" i="0">
                <a:solidFill>
                  <a:srgbClr val="132238"/>
                </a:solidFill>
              </a:defRPr>
            </a:lvl1pPr>
            <a:lvl2pPr algn="l">
              <a:defRPr sz="2850" b="1" i="0">
                <a:solidFill>
                  <a:srgbClr val="132238"/>
                </a:solidFill>
              </a:defRPr>
            </a:lvl2pPr>
            <a:lvl3pPr algn="l">
              <a:defRPr sz="2850" b="1" i="0">
                <a:solidFill>
                  <a:srgbClr val="132238"/>
                </a:solidFill>
              </a:defRPr>
            </a:lvl3pPr>
            <a:lvl4pPr algn="l">
              <a:defRPr sz="2850" b="1" i="0">
                <a:solidFill>
                  <a:srgbClr val="132238"/>
                </a:solidFill>
              </a:defRPr>
            </a:lvl4pPr>
            <a:lvl5pPr algn="l">
              <a:defRPr sz="2850" b="1" i="0">
                <a:solidFill>
                  <a:srgbClr val="132238"/>
                </a:solidFill>
              </a:defRPr>
            </a:lvl5pPr>
            <a:lvl6pPr algn="l">
              <a:defRPr sz="2850" b="1" i="0">
                <a:solidFill>
                  <a:srgbClr val="132238"/>
                </a:solidFill>
              </a:defRPr>
            </a:lvl6pPr>
            <a:lvl7pPr algn="l">
              <a:defRPr sz="2850" b="1" i="0">
                <a:solidFill>
                  <a:srgbClr val="132238"/>
                </a:solidFill>
              </a:defRPr>
            </a:lvl7pPr>
            <a:lvl8pPr algn="l">
              <a:defRPr sz="2850" b="1" i="0">
                <a:solidFill>
                  <a:srgbClr val="132238"/>
                </a:solidFill>
              </a:defRPr>
            </a:lvl8pPr>
            <a:lvl9pPr algn="l">
              <a:defRPr sz="2850" b="1" i="0">
                <a:solidFill>
                  <a:srgbClr val="132238"/>
                </a:solidFill>
              </a:defRPr>
            </a:lvl9pPr>
          </a:lstStyle>
          <a:p xmlns:a="http://schemas.openxmlformats.org/drawingml/2006/main">
            <a:pPr algn="l">
              <a:defRPr sz="2850" b="1" i="0">
                <a:solidFill>
                  <a:srgbClr val="132238"/>
                </a:solidFill>
              </a:defRPr>
            </a:pPr>
            <a:r>
              <a:rPr sz="2850" b="1" i="0">
                <a:solidFill>
                  <a:srgbClr val="132238"/>
                </a:solidFill>
              </a:rPr>
              <a:t>Fashion-MNIST : le CNN exploite la structure 2D</a:t>
            </a:r>
          </a:p>
        </p:txBody>
      </p:sp>
      <p:sp>
        <p:nvSpPr>
          <p:cNvPr id="2" name="">
            <a:extLst xmlns:a="http://schemas.openxmlformats.org/drawingml/2006/main">
              <a:ext uri="{FF2B5EF4-FFF2-40B4-BE49-F238E27FC236}">
                <a16:creationId xmlns:a16="http://schemas.microsoft.com/office/drawing/2014/main" id="{213B1235-9D53-4E79-9F3D-A4AE49F9E458}"/>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238A7A"/>
          </a:solidFill>
          <a:ln xmlns:a="http://schemas.openxmlformats.org/drawingml/2006/main" w="0">
            <a:solidFill>
              <a:srgbClr val="238A7A"/>
            </a:solidFill>
            <a:prstDash val="solid"/>
          </a:ln>
        </p:spPr>
      </p:sp>
      <p:sp>
        <p:nvSpPr>
          <p:cNvPr id="3" name="">
            <a:extLst xmlns:a="http://schemas.openxmlformats.org/drawingml/2006/main">
              <a:ext uri="{FF2B5EF4-FFF2-40B4-BE49-F238E27FC236}">
                <a16:creationId xmlns:a16="http://schemas.microsoft.com/office/drawing/2014/main" id="{DC8F46E3-94D4-48ED-882D-E466A4D73E38}"/>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05</a:t>
            </a:r>
          </a:p>
        </p:txBody>
      </p:sp>
      <p:sp>
        <p:nvSpPr>
          <p:cNvPr id="4" name="">
            <a:extLst xmlns:a="http://schemas.openxmlformats.org/drawingml/2006/main">
              <a:ext uri="{FF2B5EF4-FFF2-40B4-BE49-F238E27FC236}">
                <a16:creationId xmlns:a16="http://schemas.microsoft.com/office/drawing/2014/main" id="{A1D4F63C-B5DC-463F-BA23-F83ADCBD85FA}"/>
              </a:ext>
            </a:extLst>
          </p:cNvPr>
          <p:cNvSpPr>
            <a:spLocks xmlns:a="http://schemas.openxmlformats.org/drawingml/2006/main" noGrp="1"/>
          </p:cNvSpPr>
          <p:nvPr/>
        </p:nvSpPr>
        <p:spPr>
          <a:xfrm xmlns:a="http://schemas.openxmlformats.org/drawingml/2006/main">
            <a:off x="666750" y="13811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800" b="1" i="0">
                <a:solidFill>
                  <a:srgbClr val="238A7A"/>
                </a:solidFill>
              </a:defRPr>
            </a:defPPr>
            <a:lvl1pPr algn="l">
              <a:defRPr sz="1800" b="1" i="0">
                <a:solidFill>
                  <a:srgbClr val="238A7A"/>
                </a:solidFill>
              </a:defRPr>
            </a:lvl1pPr>
            <a:lvl2pPr algn="l">
              <a:defRPr sz="1800" b="1" i="0">
                <a:solidFill>
                  <a:srgbClr val="238A7A"/>
                </a:solidFill>
              </a:defRPr>
            </a:lvl2pPr>
            <a:lvl3pPr algn="l">
              <a:defRPr sz="1800" b="1" i="0">
                <a:solidFill>
                  <a:srgbClr val="238A7A"/>
                </a:solidFill>
              </a:defRPr>
            </a:lvl3pPr>
            <a:lvl4pPr algn="l">
              <a:defRPr sz="1800" b="1" i="0">
                <a:solidFill>
                  <a:srgbClr val="238A7A"/>
                </a:solidFill>
              </a:defRPr>
            </a:lvl4pPr>
            <a:lvl5pPr algn="l">
              <a:defRPr sz="1800" b="1" i="0">
                <a:solidFill>
                  <a:srgbClr val="238A7A"/>
                </a:solidFill>
              </a:defRPr>
            </a:lvl5pPr>
            <a:lvl6pPr algn="l">
              <a:defRPr sz="1800" b="1" i="0">
                <a:solidFill>
                  <a:srgbClr val="238A7A"/>
                </a:solidFill>
              </a:defRPr>
            </a:lvl6pPr>
            <a:lvl7pPr algn="l">
              <a:defRPr sz="1800" b="1" i="0">
                <a:solidFill>
                  <a:srgbClr val="238A7A"/>
                </a:solidFill>
              </a:defRPr>
            </a:lvl7pPr>
            <a:lvl8pPr algn="l">
              <a:defRPr sz="1800" b="1" i="0">
                <a:solidFill>
                  <a:srgbClr val="238A7A"/>
                </a:solidFill>
              </a:defRPr>
            </a:lvl8pPr>
            <a:lvl9pPr algn="l">
              <a:defRPr sz="1800" b="1" i="0">
                <a:solidFill>
                  <a:srgbClr val="238A7A"/>
                </a:solidFill>
              </a:defRPr>
            </a:lvl9pPr>
          </a:lstStyle>
          <a:p xmlns:a="http://schemas.openxmlformats.org/drawingml/2006/main">
            <a:pPr algn="l">
              <a:defRPr sz="1800" b="1" i="0">
                <a:solidFill>
                  <a:srgbClr val="238A7A"/>
                </a:solidFill>
              </a:defRPr>
            </a:pPr>
            <a:r>
              <a:rPr sz="1800" b="1" i="0">
                <a:solidFill>
                  <a:srgbClr val="238A7A"/>
                </a:solidFill>
              </a:rPr>
              <a:t>Données</a:t>
            </a:r>
          </a:p>
        </p:txBody>
      </p:sp>
      <p:sp>
        <p:nvSpPr>
          <p:cNvPr id="5" name="">
            <a:extLst xmlns:a="http://schemas.openxmlformats.org/drawingml/2006/main">
              <a:ext uri="{FF2B5EF4-FFF2-40B4-BE49-F238E27FC236}">
                <a16:creationId xmlns:a16="http://schemas.microsoft.com/office/drawing/2014/main" id="{BBC0B07B-9D9C-4838-80E3-37E2EED3B323}"/>
              </a:ext>
            </a:extLst>
          </p:cNvPr>
          <p:cNvSpPr>
            <a:spLocks xmlns:a="http://schemas.openxmlformats.org/drawingml/2006/main" noGrp="1"/>
          </p:cNvSpPr>
          <p:nvPr/>
        </p:nvSpPr>
        <p:spPr>
          <a:xfrm xmlns:a="http://schemas.openxmlformats.org/drawingml/2006/main">
            <a:off x="666750" y="1828800"/>
            <a:ext cx="3048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0" i="0">
                <a:solidFill>
                  <a:srgbClr val="132238"/>
                </a:solidFill>
              </a:defRPr>
            </a:defPPr>
            <a:lvl1pPr algn="l">
              <a:defRPr sz="1575" b="0" i="0">
                <a:solidFill>
                  <a:srgbClr val="132238"/>
                </a:solidFill>
              </a:defRPr>
            </a:lvl1pPr>
            <a:lvl2pPr algn="l">
              <a:defRPr sz="1575" b="0" i="0">
                <a:solidFill>
                  <a:srgbClr val="132238"/>
                </a:solidFill>
              </a:defRPr>
            </a:lvl2pPr>
            <a:lvl3pPr algn="l">
              <a:defRPr sz="1575" b="0" i="0">
                <a:solidFill>
                  <a:srgbClr val="132238"/>
                </a:solidFill>
              </a:defRPr>
            </a:lvl3pPr>
            <a:lvl4pPr algn="l">
              <a:defRPr sz="1575" b="0" i="0">
                <a:solidFill>
                  <a:srgbClr val="132238"/>
                </a:solidFill>
              </a:defRPr>
            </a:lvl4pPr>
            <a:lvl5pPr algn="l">
              <a:defRPr sz="1575" b="0" i="0">
                <a:solidFill>
                  <a:srgbClr val="132238"/>
                </a:solidFill>
              </a:defRPr>
            </a:lvl5pPr>
            <a:lvl6pPr algn="l">
              <a:defRPr sz="1575" b="0" i="0">
                <a:solidFill>
                  <a:srgbClr val="132238"/>
                </a:solidFill>
              </a:defRPr>
            </a:lvl6pPr>
            <a:lvl7pPr algn="l">
              <a:defRPr sz="1575" b="0" i="0">
                <a:solidFill>
                  <a:srgbClr val="132238"/>
                </a:solidFill>
              </a:defRPr>
            </a:lvl7pPr>
            <a:lvl8pPr algn="l">
              <a:defRPr sz="1575" b="0" i="0">
                <a:solidFill>
                  <a:srgbClr val="132238"/>
                </a:solidFill>
              </a:defRPr>
            </a:lvl8pPr>
            <a:lvl9pPr algn="l">
              <a:defRPr sz="1575" b="0" i="0">
                <a:solidFill>
                  <a:srgbClr val="132238"/>
                </a:solidFill>
              </a:defRPr>
            </a:lvl9pPr>
          </a:lstStyle>
          <a:p xmlns:a="http://schemas.openxmlformats.org/drawingml/2006/main">
            <a:pPr algn="l">
              <a:defRPr sz="1575" b="0" i="0">
                <a:solidFill>
                  <a:srgbClr val="132238"/>
                </a:solidFill>
              </a:defRPr>
            </a:pPr>
            <a:r>
              <a:rPr sz="1575" b="0" i="0">
                <a:solidFill>
                  <a:srgbClr val="132238"/>
                </a:solidFill>
              </a:rPr>
              <a:t>48 000 images pour apprendre</a:t>
            </a:r>
          </a:p>
          <a:p xmlns:a="http://schemas.openxmlformats.org/drawingml/2006/main">
            <a:pPr algn="l">
              <a:defRPr sz="1575" b="0" i="0">
                <a:solidFill>
                  <a:srgbClr val="132238"/>
                </a:solidFill>
              </a:defRPr>
            </a:pPr>
            <a:r>
              <a:rPr sz="1575" b="0" i="0">
                <a:solidFill>
                  <a:srgbClr val="132238"/>
                </a:solidFill>
              </a:rPr>
              <a:t>12 000 pour valider</a:t>
            </a:r>
          </a:p>
          <a:p xmlns:a="http://schemas.openxmlformats.org/drawingml/2006/main">
            <a:pPr algn="l">
              <a:defRPr sz="1575" b="0" i="0">
                <a:solidFill>
                  <a:srgbClr val="132238"/>
                </a:solidFill>
              </a:defRPr>
            </a:pPr>
            <a:r>
              <a:rPr sz="1575" b="0" i="0">
                <a:solidFill>
                  <a:srgbClr val="132238"/>
                </a:solidFill>
              </a:rPr>
              <a:t>10 000 gardées pour le test</a:t>
            </a:r>
          </a:p>
          <a:p xmlns:a="http://schemas.openxmlformats.org/drawingml/2006/main">
            <a:r>
              <a:t/>
            </a:r>
          </a:p>
          <a:p xmlns:a="http://schemas.openxmlformats.org/drawingml/2006/main">
            <a:pPr algn="l">
              <a:defRPr sz="1575" b="0" i="0">
                <a:solidFill>
                  <a:srgbClr val="132238"/>
                </a:solidFill>
              </a:defRPr>
            </a:pPr>
            <a:r>
              <a:rPr sz="1575" b="0" i="0">
                <a:solidFill>
                  <a:srgbClr val="132238"/>
                </a:solidFill>
              </a:rPr>
              <a:t>Images 28 × 28 en niveaux de gris</a:t>
            </a:r>
          </a:p>
          <a:p xmlns:a="http://schemas.openxmlformats.org/drawingml/2006/main">
            <a:pPr algn="l">
              <a:defRPr sz="1575" b="0" i="0">
                <a:solidFill>
                  <a:srgbClr val="132238"/>
                </a:solidFill>
              </a:defRPr>
            </a:pPr>
            <a:r>
              <a:rPr sz="1575" b="0" i="0">
                <a:solidFill>
                  <a:srgbClr val="132238"/>
                </a:solidFill>
              </a:rPr>
              <a:t>Pixels normalisés entre 0 et 1</a:t>
            </a:r>
          </a:p>
        </p:txBody>
      </p:sp>
      <p:sp>
        <p:nvSpPr>
          <p:cNvPr id="6" name="">
            <a:extLst xmlns:a="http://schemas.openxmlformats.org/drawingml/2006/main">
              <a:ext uri="{FF2B5EF4-FFF2-40B4-BE49-F238E27FC236}">
                <a16:creationId xmlns:a16="http://schemas.microsoft.com/office/drawing/2014/main" id="{33B035AD-0139-40DF-B8F0-1BF95559561D}"/>
              </a:ext>
            </a:extLst>
          </p:cNvPr>
          <p:cNvSpPr>
            <a:spLocks xmlns:a="http://schemas.openxmlformats.org/drawingml/2006/main" noGrp="1"/>
          </p:cNvSpPr>
          <p:nvPr/>
        </p:nvSpPr>
        <p:spPr>
          <a:xfrm xmlns:a="http://schemas.openxmlformats.org/drawingml/2006/main">
            <a:off x="4000500" y="13811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800" b="1" i="0">
                <a:solidFill>
                  <a:srgbClr val="238A7A"/>
                </a:solidFill>
              </a:defRPr>
            </a:defPPr>
            <a:lvl1pPr algn="l">
              <a:defRPr sz="1800" b="1" i="0">
                <a:solidFill>
                  <a:srgbClr val="238A7A"/>
                </a:solidFill>
              </a:defRPr>
            </a:lvl1pPr>
            <a:lvl2pPr algn="l">
              <a:defRPr sz="1800" b="1" i="0">
                <a:solidFill>
                  <a:srgbClr val="238A7A"/>
                </a:solidFill>
              </a:defRPr>
            </a:lvl2pPr>
            <a:lvl3pPr algn="l">
              <a:defRPr sz="1800" b="1" i="0">
                <a:solidFill>
                  <a:srgbClr val="238A7A"/>
                </a:solidFill>
              </a:defRPr>
            </a:lvl3pPr>
            <a:lvl4pPr algn="l">
              <a:defRPr sz="1800" b="1" i="0">
                <a:solidFill>
                  <a:srgbClr val="238A7A"/>
                </a:solidFill>
              </a:defRPr>
            </a:lvl4pPr>
            <a:lvl5pPr algn="l">
              <a:defRPr sz="1800" b="1" i="0">
                <a:solidFill>
                  <a:srgbClr val="238A7A"/>
                </a:solidFill>
              </a:defRPr>
            </a:lvl5pPr>
            <a:lvl6pPr algn="l">
              <a:defRPr sz="1800" b="1" i="0">
                <a:solidFill>
                  <a:srgbClr val="238A7A"/>
                </a:solidFill>
              </a:defRPr>
            </a:lvl6pPr>
            <a:lvl7pPr algn="l">
              <a:defRPr sz="1800" b="1" i="0">
                <a:solidFill>
                  <a:srgbClr val="238A7A"/>
                </a:solidFill>
              </a:defRPr>
            </a:lvl7pPr>
            <a:lvl8pPr algn="l">
              <a:defRPr sz="1800" b="1" i="0">
                <a:solidFill>
                  <a:srgbClr val="238A7A"/>
                </a:solidFill>
              </a:defRPr>
            </a:lvl8pPr>
            <a:lvl9pPr algn="l">
              <a:defRPr sz="1800" b="1" i="0">
                <a:solidFill>
                  <a:srgbClr val="238A7A"/>
                </a:solidFill>
              </a:defRPr>
            </a:lvl9pPr>
          </a:lstStyle>
          <a:p xmlns:a="http://schemas.openxmlformats.org/drawingml/2006/main">
            <a:pPr algn="l">
              <a:defRPr sz="1800" b="1" i="0">
                <a:solidFill>
                  <a:srgbClr val="238A7A"/>
                </a:solidFill>
              </a:defRPr>
            </a:pPr>
            <a:r>
              <a:rPr sz="1800" b="1" i="0">
                <a:solidFill>
                  <a:srgbClr val="238A7A"/>
                </a:solidFill>
              </a:rPr>
              <a:t>Architecture convolutionnelle</a:t>
            </a:r>
          </a:p>
        </p:txBody>
      </p:sp>
      <p:sp>
        <p:nvSpPr>
          <p:cNvPr id="7" name="">
            <a:extLst xmlns:a="http://schemas.openxmlformats.org/drawingml/2006/main">
              <a:ext uri="{FF2B5EF4-FFF2-40B4-BE49-F238E27FC236}">
                <a16:creationId xmlns:a16="http://schemas.microsoft.com/office/drawing/2014/main" id="{1CD97B4D-0686-4762-A035-E55C3A70BAEB}"/>
              </a:ext>
            </a:extLst>
          </p:cNvPr>
          <p:cNvSpPr>
            <a:spLocks xmlns:a="http://schemas.openxmlformats.org/drawingml/2006/main" noGrp="1"/>
          </p:cNvSpPr>
          <p:nvPr/>
        </p:nvSpPr>
        <p:spPr>
          <a:xfrm xmlns:a="http://schemas.openxmlformats.org/drawingml/2006/main">
            <a:off x="4000500" y="2047875"/>
            <a:ext cx="1238250" cy="819150"/>
          </a:xfrm>
          <a:prstGeom xmlns:a="http://schemas.openxmlformats.org/drawingml/2006/main" prst="roundRect">
            <a:avLst>
              <a:gd name="adj" fmla="val 9302"/>
            </a:avLst>
          </a:prstGeom>
          <a:solidFill xmlns:a="http://schemas.openxmlformats.org/drawingml/2006/main">
            <a:srgbClr val="FFFDFC"/>
          </a:solidFill>
          <a:ln xmlns:a="http://schemas.openxmlformats.org/drawingml/2006/main" w="19050">
            <a:solidFill>
              <a:srgbClr val="238A7A"/>
            </a:solidFill>
            <a:prstDash val="solid"/>
          </a:ln>
        </p:spPr>
        <p:txBody>
          <a:bodyPr xmlns:a="http://schemas.openxmlformats.org/drawingml/2006/main" anchor="ctr"/>
          <a:lstStyle xmlns:a="http://schemas.openxmlformats.org/drawingml/2006/main">
            <a:defPPr algn="ctr">
              <a:defRPr sz="1350" b="1">
                <a:solidFill>
                  <a:srgbClr val="132238"/>
                </a:solidFill>
              </a:defRPr>
            </a:defPPr>
            <a:lvl1pPr algn="ctr">
              <a:defRPr sz="1350" b="1">
                <a:solidFill>
                  <a:srgbClr val="132238"/>
                </a:solidFill>
              </a:defRPr>
            </a:lvl1pPr>
            <a:lvl2pPr algn="ctr">
              <a:defRPr sz="1350" b="1">
                <a:solidFill>
                  <a:srgbClr val="132238"/>
                </a:solidFill>
              </a:defRPr>
            </a:lvl2pPr>
            <a:lvl3pPr algn="ctr">
              <a:defRPr sz="1350" b="1">
                <a:solidFill>
                  <a:srgbClr val="132238"/>
                </a:solidFill>
              </a:defRPr>
            </a:lvl3pPr>
            <a:lvl4pPr algn="ctr">
              <a:defRPr sz="1350" b="1">
                <a:solidFill>
                  <a:srgbClr val="132238"/>
                </a:solidFill>
              </a:defRPr>
            </a:lvl4pPr>
            <a:lvl5pPr algn="ctr">
              <a:defRPr sz="1350" b="1">
                <a:solidFill>
                  <a:srgbClr val="132238"/>
                </a:solidFill>
              </a:defRPr>
            </a:lvl5pPr>
            <a:lvl6pPr algn="ctr">
              <a:defRPr sz="1350" b="1">
                <a:solidFill>
                  <a:srgbClr val="132238"/>
                </a:solidFill>
              </a:defRPr>
            </a:lvl6pPr>
            <a:lvl7pPr algn="ctr">
              <a:defRPr sz="1350" b="1">
                <a:solidFill>
                  <a:srgbClr val="132238"/>
                </a:solidFill>
              </a:defRPr>
            </a:lvl7pPr>
            <a:lvl8pPr algn="ctr">
              <a:defRPr sz="1350" b="1">
                <a:solidFill>
                  <a:srgbClr val="132238"/>
                </a:solidFill>
              </a:defRPr>
            </a:lvl8pPr>
            <a:lvl9pPr algn="ctr">
              <a:defRPr sz="1350" b="1">
                <a:solidFill>
                  <a:srgbClr val="132238"/>
                </a:solidFill>
              </a:defRPr>
            </a:lvl9pPr>
          </a:lstStyle>
          <a:p xmlns:a="http://schemas.openxmlformats.org/drawingml/2006/main">
            <a:pPr algn="ctr">
              <a:defRPr sz="1350" b="1">
                <a:solidFill>
                  <a:srgbClr val="132238"/>
                </a:solidFill>
              </a:defRPr>
            </a:pPr>
            <a:r>
              <a:rPr sz="1350" b="1">
                <a:solidFill>
                  <a:srgbClr val="132238"/>
                </a:solidFill>
              </a:rPr>
              <a:t>28 × 28 × 1</a:t>
            </a:r>
          </a:p>
        </p:txBody>
      </p:sp>
      <p:sp>
        <p:nvSpPr>
          <p:cNvPr id="8" name="">
            <a:extLst xmlns:a="http://schemas.openxmlformats.org/drawingml/2006/main">
              <a:ext uri="{FF2B5EF4-FFF2-40B4-BE49-F238E27FC236}">
                <a16:creationId xmlns:a16="http://schemas.microsoft.com/office/drawing/2014/main" id="{2E4CE488-5FA6-475F-A1C9-DB3418A36140}"/>
              </a:ext>
            </a:extLst>
          </p:cNvPr>
          <p:cNvSpPr>
            <a:spLocks xmlns:a="http://schemas.openxmlformats.org/drawingml/2006/main" noGrp="1"/>
          </p:cNvSpPr>
          <p:nvPr/>
        </p:nvSpPr>
        <p:spPr>
          <a:xfrm xmlns:a="http://schemas.openxmlformats.org/drawingml/2006/main">
            <a:off x="5572125" y="1952625"/>
            <a:ext cx="1381125" cy="1009650"/>
          </a:xfrm>
          <a:prstGeom xmlns:a="http://schemas.openxmlformats.org/drawingml/2006/main" prst="roundRect">
            <a:avLst>
              <a:gd name="adj" fmla="val 7547"/>
            </a:avLst>
          </a:prstGeom>
          <a:solidFill xmlns:a="http://schemas.openxmlformats.org/drawingml/2006/main">
            <a:srgbClr val="E8F5F2"/>
          </a:solidFill>
          <a:ln xmlns:a="http://schemas.openxmlformats.org/drawingml/2006/main" w="19050">
            <a:solidFill>
              <a:srgbClr val="238A7A"/>
            </a:solidFill>
            <a:prstDash val="solid"/>
          </a:ln>
        </p:spPr>
        <p:txBody>
          <a:bodyPr xmlns:a="http://schemas.openxmlformats.org/drawingml/2006/main" anchor="ctr"/>
          <a:lstStyle xmlns:a="http://schemas.openxmlformats.org/drawingml/2006/main">
            <a:defPPr algn="ctr">
              <a:defRPr sz="1350" b="1">
                <a:solidFill>
                  <a:srgbClr val="132238"/>
                </a:solidFill>
              </a:defRPr>
            </a:defPPr>
            <a:lvl1pPr algn="ctr">
              <a:defRPr sz="1350" b="1">
                <a:solidFill>
                  <a:srgbClr val="132238"/>
                </a:solidFill>
              </a:defRPr>
            </a:lvl1pPr>
            <a:lvl2pPr algn="ctr">
              <a:defRPr sz="1350" b="1">
                <a:solidFill>
                  <a:srgbClr val="132238"/>
                </a:solidFill>
              </a:defRPr>
            </a:lvl2pPr>
            <a:lvl3pPr algn="ctr">
              <a:defRPr sz="1350" b="1">
                <a:solidFill>
                  <a:srgbClr val="132238"/>
                </a:solidFill>
              </a:defRPr>
            </a:lvl3pPr>
            <a:lvl4pPr algn="ctr">
              <a:defRPr sz="1350" b="1">
                <a:solidFill>
                  <a:srgbClr val="132238"/>
                </a:solidFill>
              </a:defRPr>
            </a:lvl4pPr>
            <a:lvl5pPr algn="ctr">
              <a:defRPr sz="1350" b="1">
                <a:solidFill>
                  <a:srgbClr val="132238"/>
                </a:solidFill>
              </a:defRPr>
            </a:lvl5pPr>
            <a:lvl6pPr algn="ctr">
              <a:defRPr sz="1350" b="1">
                <a:solidFill>
                  <a:srgbClr val="132238"/>
                </a:solidFill>
              </a:defRPr>
            </a:lvl6pPr>
            <a:lvl7pPr algn="ctr">
              <a:defRPr sz="1350" b="1">
                <a:solidFill>
                  <a:srgbClr val="132238"/>
                </a:solidFill>
              </a:defRPr>
            </a:lvl7pPr>
            <a:lvl8pPr algn="ctr">
              <a:defRPr sz="1350" b="1">
                <a:solidFill>
                  <a:srgbClr val="132238"/>
                </a:solidFill>
              </a:defRPr>
            </a:lvl8pPr>
            <a:lvl9pPr algn="ctr">
              <a:defRPr sz="1350" b="1">
                <a:solidFill>
                  <a:srgbClr val="132238"/>
                </a:solidFill>
              </a:defRPr>
            </a:lvl9pPr>
          </a:lstStyle>
          <a:p xmlns:a="http://schemas.openxmlformats.org/drawingml/2006/main">
            <a:pPr algn="ctr">
              <a:defRPr sz="1350" b="1">
                <a:solidFill>
                  <a:srgbClr val="132238"/>
                </a:solidFill>
              </a:defRPr>
            </a:pPr>
            <a:r>
              <a:rPr sz="1350" b="1">
                <a:solidFill>
                  <a:srgbClr val="132238"/>
                </a:solidFill>
              </a:rPr>
              <a:t>Conv 3 × 3</a:t>
            </a:r>
          </a:p>
          <a:p xmlns:a="http://schemas.openxmlformats.org/drawingml/2006/main">
            <a:pPr algn="ctr">
              <a:defRPr sz="1350" b="1">
                <a:solidFill>
                  <a:srgbClr val="132238"/>
                </a:solidFill>
              </a:defRPr>
            </a:pPr>
            <a:r>
              <a:rPr sz="1350" b="1">
                <a:solidFill>
                  <a:srgbClr val="132238"/>
                </a:solidFill>
              </a:rPr>
              <a:t>32 filtres</a:t>
            </a:r>
          </a:p>
        </p:txBody>
      </p:sp>
      <p:sp>
        <p:nvSpPr>
          <p:cNvPr id="9" name="">
            <a:extLst xmlns:a="http://schemas.openxmlformats.org/drawingml/2006/main">
              <a:ext uri="{FF2B5EF4-FFF2-40B4-BE49-F238E27FC236}">
                <a16:creationId xmlns:a16="http://schemas.microsoft.com/office/drawing/2014/main" id="{46B4E37D-E4E3-45C3-981D-D1FB3C57D616}"/>
              </a:ext>
            </a:extLst>
          </p:cNvPr>
          <p:cNvSpPr>
            <a:spLocks xmlns:a="http://schemas.openxmlformats.org/drawingml/2006/main" noGrp="1"/>
          </p:cNvSpPr>
          <p:nvPr/>
        </p:nvSpPr>
        <p:spPr>
          <a:xfrm xmlns:a="http://schemas.openxmlformats.org/drawingml/2006/main">
            <a:off x="7286625" y="2095500"/>
            <a:ext cx="1047750" cy="723900"/>
          </a:xfrm>
          <a:prstGeom xmlns:a="http://schemas.openxmlformats.org/drawingml/2006/main" prst="roundRect">
            <a:avLst>
              <a:gd name="adj" fmla="val 10526"/>
            </a:avLst>
          </a:prstGeom>
          <a:solidFill xmlns:a="http://schemas.openxmlformats.org/drawingml/2006/main">
            <a:srgbClr val="E8F5F2"/>
          </a:solidFill>
          <a:ln xmlns:a="http://schemas.openxmlformats.org/drawingml/2006/main" w="19050">
            <a:solidFill>
              <a:srgbClr val="238A7A"/>
            </a:solidFill>
            <a:prstDash val="solid"/>
          </a:ln>
        </p:spPr>
        <p:txBody>
          <a:bodyPr xmlns:a="http://schemas.openxmlformats.org/drawingml/2006/main" anchor="ctr"/>
          <a:lstStyle xmlns:a="http://schemas.openxmlformats.org/drawingml/2006/main">
            <a:defPPr algn="ctr">
              <a:defRPr sz="1350" b="1">
                <a:solidFill>
                  <a:srgbClr val="132238"/>
                </a:solidFill>
              </a:defRPr>
            </a:defPPr>
            <a:lvl1pPr algn="ctr">
              <a:defRPr sz="1350" b="1">
                <a:solidFill>
                  <a:srgbClr val="132238"/>
                </a:solidFill>
              </a:defRPr>
            </a:lvl1pPr>
            <a:lvl2pPr algn="ctr">
              <a:defRPr sz="1350" b="1">
                <a:solidFill>
                  <a:srgbClr val="132238"/>
                </a:solidFill>
              </a:defRPr>
            </a:lvl2pPr>
            <a:lvl3pPr algn="ctr">
              <a:defRPr sz="1350" b="1">
                <a:solidFill>
                  <a:srgbClr val="132238"/>
                </a:solidFill>
              </a:defRPr>
            </a:lvl3pPr>
            <a:lvl4pPr algn="ctr">
              <a:defRPr sz="1350" b="1">
                <a:solidFill>
                  <a:srgbClr val="132238"/>
                </a:solidFill>
              </a:defRPr>
            </a:lvl4pPr>
            <a:lvl5pPr algn="ctr">
              <a:defRPr sz="1350" b="1">
                <a:solidFill>
                  <a:srgbClr val="132238"/>
                </a:solidFill>
              </a:defRPr>
            </a:lvl5pPr>
            <a:lvl6pPr algn="ctr">
              <a:defRPr sz="1350" b="1">
                <a:solidFill>
                  <a:srgbClr val="132238"/>
                </a:solidFill>
              </a:defRPr>
            </a:lvl6pPr>
            <a:lvl7pPr algn="ctr">
              <a:defRPr sz="1350" b="1">
                <a:solidFill>
                  <a:srgbClr val="132238"/>
                </a:solidFill>
              </a:defRPr>
            </a:lvl7pPr>
            <a:lvl8pPr algn="ctr">
              <a:defRPr sz="1350" b="1">
                <a:solidFill>
                  <a:srgbClr val="132238"/>
                </a:solidFill>
              </a:defRPr>
            </a:lvl8pPr>
            <a:lvl9pPr algn="ctr">
              <a:defRPr sz="1350" b="1">
                <a:solidFill>
                  <a:srgbClr val="132238"/>
                </a:solidFill>
              </a:defRPr>
            </a:lvl9pPr>
          </a:lstStyle>
          <a:p xmlns:a="http://schemas.openxmlformats.org/drawingml/2006/main">
            <a:pPr algn="ctr">
              <a:defRPr sz="1350" b="1">
                <a:solidFill>
                  <a:srgbClr val="132238"/>
                </a:solidFill>
              </a:defRPr>
            </a:pPr>
            <a:r>
              <a:rPr sz="1350" b="1">
                <a:solidFill>
                  <a:srgbClr val="132238"/>
                </a:solidFill>
              </a:rPr>
              <a:t>MaxPool</a:t>
            </a:r>
          </a:p>
        </p:txBody>
      </p:sp>
      <p:sp>
        <p:nvSpPr>
          <p:cNvPr id="10" name="">
            <a:extLst xmlns:a="http://schemas.openxmlformats.org/drawingml/2006/main">
              <a:ext uri="{FF2B5EF4-FFF2-40B4-BE49-F238E27FC236}">
                <a16:creationId xmlns:a16="http://schemas.microsoft.com/office/drawing/2014/main" id="{ADF74673-D9D3-400D-AB9C-EE3541E107E3}"/>
              </a:ext>
            </a:extLst>
          </p:cNvPr>
          <p:cNvSpPr>
            <a:spLocks xmlns:a="http://schemas.openxmlformats.org/drawingml/2006/main" noGrp="1"/>
          </p:cNvSpPr>
          <p:nvPr/>
        </p:nvSpPr>
        <p:spPr>
          <a:xfrm xmlns:a="http://schemas.openxmlformats.org/drawingml/2006/main">
            <a:off x="8667750" y="1952625"/>
            <a:ext cx="1381125" cy="1009650"/>
          </a:xfrm>
          <a:prstGeom xmlns:a="http://schemas.openxmlformats.org/drawingml/2006/main" prst="roundRect">
            <a:avLst>
              <a:gd name="adj" fmla="val 7547"/>
            </a:avLst>
          </a:prstGeom>
          <a:solidFill xmlns:a="http://schemas.openxmlformats.org/drawingml/2006/main">
            <a:srgbClr val="E8F5F2"/>
          </a:solidFill>
          <a:ln xmlns:a="http://schemas.openxmlformats.org/drawingml/2006/main" w="19050">
            <a:solidFill>
              <a:srgbClr val="238A7A"/>
            </a:solidFill>
            <a:prstDash val="solid"/>
          </a:ln>
        </p:spPr>
        <p:txBody>
          <a:bodyPr xmlns:a="http://schemas.openxmlformats.org/drawingml/2006/main" anchor="ctr"/>
          <a:lstStyle xmlns:a="http://schemas.openxmlformats.org/drawingml/2006/main">
            <a:defPPr algn="ctr">
              <a:defRPr sz="1350" b="1">
                <a:solidFill>
                  <a:srgbClr val="132238"/>
                </a:solidFill>
              </a:defRPr>
            </a:defPPr>
            <a:lvl1pPr algn="ctr">
              <a:defRPr sz="1350" b="1">
                <a:solidFill>
                  <a:srgbClr val="132238"/>
                </a:solidFill>
              </a:defRPr>
            </a:lvl1pPr>
            <a:lvl2pPr algn="ctr">
              <a:defRPr sz="1350" b="1">
                <a:solidFill>
                  <a:srgbClr val="132238"/>
                </a:solidFill>
              </a:defRPr>
            </a:lvl2pPr>
            <a:lvl3pPr algn="ctr">
              <a:defRPr sz="1350" b="1">
                <a:solidFill>
                  <a:srgbClr val="132238"/>
                </a:solidFill>
              </a:defRPr>
            </a:lvl3pPr>
            <a:lvl4pPr algn="ctr">
              <a:defRPr sz="1350" b="1">
                <a:solidFill>
                  <a:srgbClr val="132238"/>
                </a:solidFill>
              </a:defRPr>
            </a:lvl4pPr>
            <a:lvl5pPr algn="ctr">
              <a:defRPr sz="1350" b="1">
                <a:solidFill>
                  <a:srgbClr val="132238"/>
                </a:solidFill>
              </a:defRPr>
            </a:lvl5pPr>
            <a:lvl6pPr algn="ctr">
              <a:defRPr sz="1350" b="1">
                <a:solidFill>
                  <a:srgbClr val="132238"/>
                </a:solidFill>
              </a:defRPr>
            </a:lvl6pPr>
            <a:lvl7pPr algn="ctr">
              <a:defRPr sz="1350" b="1">
                <a:solidFill>
                  <a:srgbClr val="132238"/>
                </a:solidFill>
              </a:defRPr>
            </a:lvl7pPr>
            <a:lvl8pPr algn="ctr">
              <a:defRPr sz="1350" b="1">
                <a:solidFill>
                  <a:srgbClr val="132238"/>
                </a:solidFill>
              </a:defRPr>
            </a:lvl8pPr>
            <a:lvl9pPr algn="ctr">
              <a:defRPr sz="1350" b="1">
                <a:solidFill>
                  <a:srgbClr val="132238"/>
                </a:solidFill>
              </a:defRPr>
            </a:lvl9pPr>
          </a:lstStyle>
          <a:p xmlns:a="http://schemas.openxmlformats.org/drawingml/2006/main">
            <a:pPr algn="ctr">
              <a:defRPr sz="1350" b="1">
                <a:solidFill>
                  <a:srgbClr val="132238"/>
                </a:solidFill>
              </a:defRPr>
            </a:pPr>
            <a:r>
              <a:rPr sz="1350" b="1">
                <a:solidFill>
                  <a:srgbClr val="132238"/>
                </a:solidFill>
              </a:rPr>
              <a:t>Conv 3 × 3</a:t>
            </a:r>
          </a:p>
          <a:p xmlns:a="http://schemas.openxmlformats.org/drawingml/2006/main">
            <a:pPr algn="ctr">
              <a:defRPr sz="1350" b="1">
                <a:solidFill>
                  <a:srgbClr val="132238"/>
                </a:solidFill>
              </a:defRPr>
            </a:pPr>
            <a:r>
              <a:rPr sz="1350" b="1">
                <a:solidFill>
                  <a:srgbClr val="132238"/>
                </a:solidFill>
              </a:rPr>
              <a:t>64 filtres</a:t>
            </a:r>
          </a:p>
        </p:txBody>
      </p:sp>
      <p:sp>
        <p:nvSpPr>
          <p:cNvPr id="11" name="">
            <a:extLst xmlns:a="http://schemas.openxmlformats.org/drawingml/2006/main">
              <a:ext uri="{FF2B5EF4-FFF2-40B4-BE49-F238E27FC236}">
                <a16:creationId xmlns:a16="http://schemas.microsoft.com/office/drawing/2014/main" id="{D01E82C4-0158-4C53-B3A6-38FC1D8E57FB}"/>
              </a:ext>
            </a:extLst>
          </p:cNvPr>
          <p:cNvSpPr>
            <a:spLocks xmlns:a="http://schemas.openxmlformats.org/drawingml/2006/main" noGrp="1"/>
          </p:cNvSpPr>
          <p:nvPr/>
        </p:nvSpPr>
        <p:spPr>
          <a:xfrm xmlns:a="http://schemas.openxmlformats.org/drawingml/2006/main">
            <a:off x="10382250" y="2095500"/>
            <a:ext cx="1047750" cy="723900"/>
          </a:xfrm>
          <a:prstGeom xmlns:a="http://schemas.openxmlformats.org/drawingml/2006/main" prst="roundRect">
            <a:avLst>
              <a:gd name="adj" fmla="val 10526"/>
            </a:avLst>
          </a:prstGeom>
          <a:solidFill xmlns:a="http://schemas.openxmlformats.org/drawingml/2006/main">
            <a:srgbClr val="E8F5F2"/>
          </a:solidFill>
          <a:ln xmlns:a="http://schemas.openxmlformats.org/drawingml/2006/main" w="19050">
            <a:solidFill>
              <a:srgbClr val="238A7A"/>
            </a:solidFill>
            <a:prstDash val="solid"/>
          </a:ln>
        </p:spPr>
        <p:txBody>
          <a:bodyPr xmlns:a="http://schemas.openxmlformats.org/drawingml/2006/main" anchor="ctr"/>
          <a:lstStyle xmlns:a="http://schemas.openxmlformats.org/drawingml/2006/main">
            <a:defPPr algn="ctr">
              <a:defRPr sz="1350" b="1">
                <a:solidFill>
                  <a:srgbClr val="132238"/>
                </a:solidFill>
              </a:defRPr>
            </a:defPPr>
            <a:lvl1pPr algn="ctr">
              <a:defRPr sz="1350" b="1">
                <a:solidFill>
                  <a:srgbClr val="132238"/>
                </a:solidFill>
              </a:defRPr>
            </a:lvl1pPr>
            <a:lvl2pPr algn="ctr">
              <a:defRPr sz="1350" b="1">
                <a:solidFill>
                  <a:srgbClr val="132238"/>
                </a:solidFill>
              </a:defRPr>
            </a:lvl2pPr>
            <a:lvl3pPr algn="ctr">
              <a:defRPr sz="1350" b="1">
                <a:solidFill>
                  <a:srgbClr val="132238"/>
                </a:solidFill>
              </a:defRPr>
            </a:lvl3pPr>
            <a:lvl4pPr algn="ctr">
              <a:defRPr sz="1350" b="1">
                <a:solidFill>
                  <a:srgbClr val="132238"/>
                </a:solidFill>
              </a:defRPr>
            </a:lvl4pPr>
            <a:lvl5pPr algn="ctr">
              <a:defRPr sz="1350" b="1">
                <a:solidFill>
                  <a:srgbClr val="132238"/>
                </a:solidFill>
              </a:defRPr>
            </a:lvl5pPr>
            <a:lvl6pPr algn="ctr">
              <a:defRPr sz="1350" b="1">
                <a:solidFill>
                  <a:srgbClr val="132238"/>
                </a:solidFill>
              </a:defRPr>
            </a:lvl6pPr>
            <a:lvl7pPr algn="ctr">
              <a:defRPr sz="1350" b="1">
                <a:solidFill>
                  <a:srgbClr val="132238"/>
                </a:solidFill>
              </a:defRPr>
            </a:lvl7pPr>
            <a:lvl8pPr algn="ctr">
              <a:defRPr sz="1350" b="1">
                <a:solidFill>
                  <a:srgbClr val="132238"/>
                </a:solidFill>
              </a:defRPr>
            </a:lvl8pPr>
            <a:lvl9pPr algn="ctr">
              <a:defRPr sz="1350" b="1">
                <a:solidFill>
                  <a:srgbClr val="132238"/>
                </a:solidFill>
              </a:defRPr>
            </a:lvl9pPr>
          </a:lstStyle>
          <a:p xmlns:a="http://schemas.openxmlformats.org/drawingml/2006/main">
            <a:pPr algn="ctr">
              <a:defRPr sz="1350" b="1">
                <a:solidFill>
                  <a:srgbClr val="132238"/>
                </a:solidFill>
              </a:defRPr>
            </a:pPr>
            <a:r>
              <a:rPr sz="1350" b="1">
                <a:solidFill>
                  <a:srgbClr val="132238"/>
                </a:solidFill>
              </a:rPr>
              <a:t>MaxPool</a:t>
            </a:r>
          </a:p>
        </p:txBody>
      </p:sp>
      <p:sp>
        <p:nvSpPr>
          <p:cNvPr id="12" name="">
            <a:extLst xmlns:a="http://schemas.openxmlformats.org/drawingml/2006/main">
              <a:ext uri="{FF2B5EF4-FFF2-40B4-BE49-F238E27FC236}">
                <a16:creationId xmlns:a16="http://schemas.microsoft.com/office/drawing/2014/main" id="{B3F97577-F245-47FC-A54D-79376C4CCCB4}"/>
              </a:ext>
            </a:extLst>
          </p:cNvPr>
          <p:cNvSpPr>
            <a:spLocks xmlns:a="http://schemas.openxmlformats.org/drawingml/2006/main" noGrp="1"/>
          </p:cNvSpPr>
          <p:nvPr/>
        </p:nvSpPr>
        <p:spPr>
          <a:xfrm xmlns:a="http://schemas.openxmlformats.org/drawingml/2006/main">
            <a:off x="5810250" y="3667125"/>
            <a:ext cx="2095500" cy="1143000"/>
          </a:xfrm>
          <a:prstGeom xmlns:a="http://schemas.openxmlformats.org/drawingml/2006/main" prst="roundRect">
            <a:avLst>
              <a:gd name="adj" fmla="val 6667"/>
            </a:avLst>
          </a:prstGeom>
          <a:solidFill xmlns:a="http://schemas.openxmlformats.org/drawingml/2006/main">
            <a:srgbClr val="FFFDFC"/>
          </a:solidFill>
          <a:ln xmlns:a="http://schemas.openxmlformats.org/drawingml/2006/main" w="19050">
            <a:solidFill>
              <a:srgbClr val="238A7A"/>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Flatten 3 136</a:t>
            </a:r>
          </a:p>
          <a:p xmlns:a="http://schemas.openxmlformats.org/drawingml/2006/main">
            <a:pPr algn="ctr">
              <a:defRPr sz="1500" b="1">
                <a:solidFill>
                  <a:srgbClr val="132238"/>
                </a:solidFill>
              </a:defRPr>
            </a:pPr>
            <a:r>
              <a:rPr sz="1500" b="1">
                <a:solidFill>
                  <a:srgbClr val="132238"/>
                </a:solidFill>
              </a:rPr>
              <a:t>Dense 128</a:t>
            </a:r>
          </a:p>
          <a:p xmlns:a="http://schemas.openxmlformats.org/drawingml/2006/main">
            <a:pPr algn="ctr">
              <a:defRPr sz="1500" b="1">
                <a:solidFill>
                  <a:srgbClr val="132238"/>
                </a:solidFill>
              </a:defRPr>
            </a:pPr>
            <a:r>
              <a:rPr sz="1500" b="1">
                <a:solidFill>
                  <a:srgbClr val="132238"/>
                </a:solidFill>
              </a:rPr>
              <a:t>Dropout 30 %</a:t>
            </a:r>
          </a:p>
        </p:txBody>
      </p:sp>
      <p:sp>
        <p:nvSpPr>
          <p:cNvPr id="13" name="">
            <a:extLst xmlns:a="http://schemas.openxmlformats.org/drawingml/2006/main">
              <a:ext uri="{FF2B5EF4-FFF2-40B4-BE49-F238E27FC236}">
                <a16:creationId xmlns:a16="http://schemas.microsoft.com/office/drawing/2014/main" id="{FEC42897-24E5-4A84-8304-01FB3052D42A}"/>
              </a:ext>
            </a:extLst>
          </p:cNvPr>
          <p:cNvSpPr>
            <a:spLocks xmlns:a="http://schemas.openxmlformats.org/drawingml/2006/main" noGrp="1"/>
          </p:cNvSpPr>
          <p:nvPr/>
        </p:nvSpPr>
        <p:spPr>
          <a:xfrm xmlns:a="http://schemas.openxmlformats.org/drawingml/2006/main">
            <a:off x="8953500" y="3810000"/>
            <a:ext cx="1809750" cy="857250"/>
          </a:xfrm>
          <a:prstGeom xmlns:a="http://schemas.openxmlformats.org/drawingml/2006/main" prst="roundRect">
            <a:avLst>
              <a:gd name="adj" fmla="val 8889"/>
            </a:avLst>
          </a:prstGeom>
          <a:solidFill xmlns:a="http://schemas.openxmlformats.org/drawingml/2006/main">
            <a:srgbClr val="E8F5F2"/>
          </a:solidFill>
          <a:ln xmlns:a="http://schemas.openxmlformats.org/drawingml/2006/main" w="19050">
            <a:solidFill>
              <a:srgbClr val="238A7A"/>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10 probabilités</a:t>
            </a:r>
          </a:p>
          <a:p xmlns:a="http://schemas.openxmlformats.org/drawingml/2006/main">
            <a:pPr algn="ctr">
              <a:defRPr sz="1500" b="1">
                <a:solidFill>
                  <a:srgbClr val="132238"/>
                </a:solidFill>
              </a:defRPr>
            </a:pPr>
            <a:r>
              <a:rPr sz="1500" b="1">
                <a:solidFill>
                  <a:srgbClr val="132238"/>
                </a:solidFill>
              </a:rPr>
              <a:t>Softmax</a:t>
            </a:r>
          </a:p>
        </p:txBody>
      </p:sp>
      <p:sp>
        <p:nvSpPr>
          <p:cNvPr id="20" name="">
            <a:extLst xmlns:a="http://schemas.openxmlformats.org/drawingml/2006/main">
              <a:ext uri="{FF2B5EF4-FFF2-40B4-BE49-F238E27FC236}">
                <a16:creationId xmlns:a16="http://schemas.microsoft.com/office/drawing/2014/main" id="{0A56E6AE-DF4A-4A99-AC71-1C6AA0EF134D}"/>
              </a:ext>
            </a:extLst>
          </p:cNvPr>
          <p:cNvSpPr>
            <a:spLocks xmlns:a="http://schemas.openxmlformats.org/drawingml/2006/main" noGrp="1"/>
          </p:cNvSpPr>
          <p:nvPr/>
        </p:nvSpPr>
        <p:spPr>
          <a:xfrm xmlns:a="http://schemas.openxmlformats.org/drawingml/2006/main">
            <a:off x="4381500" y="52387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238A7A"/>
                </a:solidFill>
              </a:defRPr>
            </a:defPPr>
            <a:lvl1pPr algn="ctr">
              <a:defRPr sz="3450" b="1" i="0">
                <a:solidFill>
                  <a:srgbClr val="238A7A"/>
                </a:solidFill>
              </a:defRPr>
            </a:lvl1pPr>
            <a:lvl2pPr algn="ctr">
              <a:defRPr sz="3450" b="1" i="0">
                <a:solidFill>
                  <a:srgbClr val="238A7A"/>
                </a:solidFill>
              </a:defRPr>
            </a:lvl2pPr>
            <a:lvl3pPr algn="ctr">
              <a:defRPr sz="3450" b="1" i="0">
                <a:solidFill>
                  <a:srgbClr val="238A7A"/>
                </a:solidFill>
              </a:defRPr>
            </a:lvl3pPr>
            <a:lvl4pPr algn="ctr">
              <a:defRPr sz="3450" b="1" i="0">
                <a:solidFill>
                  <a:srgbClr val="238A7A"/>
                </a:solidFill>
              </a:defRPr>
            </a:lvl4pPr>
            <a:lvl5pPr algn="ctr">
              <a:defRPr sz="3450" b="1" i="0">
                <a:solidFill>
                  <a:srgbClr val="238A7A"/>
                </a:solidFill>
              </a:defRPr>
            </a:lvl5pPr>
            <a:lvl6pPr algn="ctr">
              <a:defRPr sz="3450" b="1" i="0">
                <a:solidFill>
                  <a:srgbClr val="238A7A"/>
                </a:solidFill>
              </a:defRPr>
            </a:lvl6pPr>
            <a:lvl7pPr algn="ctr">
              <a:defRPr sz="3450" b="1" i="0">
                <a:solidFill>
                  <a:srgbClr val="238A7A"/>
                </a:solidFill>
              </a:defRPr>
            </a:lvl7pPr>
            <a:lvl8pPr algn="ctr">
              <a:defRPr sz="3450" b="1" i="0">
                <a:solidFill>
                  <a:srgbClr val="238A7A"/>
                </a:solidFill>
              </a:defRPr>
            </a:lvl8pPr>
            <a:lvl9pPr algn="ctr">
              <a:defRPr sz="3450" b="1" i="0">
                <a:solidFill>
                  <a:srgbClr val="238A7A"/>
                </a:solidFill>
              </a:defRPr>
            </a:lvl9pPr>
          </a:lstStyle>
          <a:p xmlns:a="http://schemas.openxmlformats.org/drawingml/2006/main">
            <a:pPr algn="ctr">
              <a:defRPr sz="3450" b="1" i="0">
                <a:solidFill>
                  <a:srgbClr val="238A7A"/>
                </a:solidFill>
              </a:defRPr>
            </a:pPr>
            <a:r>
              <a:rPr sz="3450" b="1" i="0">
                <a:solidFill>
                  <a:srgbClr val="238A7A"/>
                </a:solidFill>
              </a:rPr>
              <a:t>421 642</a:t>
            </a:r>
          </a:p>
        </p:txBody>
      </p:sp>
      <p:sp>
        <p:nvSpPr>
          <p:cNvPr id="21" name="">
            <a:extLst xmlns:a="http://schemas.openxmlformats.org/drawingml/2006/main">
              <a:ext uri="{FF2B5EF4-FFF2-40B4-BE49-F238E27FC236}">
                <a16:creationId xmlns:a16="http://schemas.microsoft.com/office/drawing/2014/main" id="{B962387B-E962-4CA2-AEFF-AF63EFF6816B}"/>
              </a:ext>
            </a:extLst>
          </p:cNvPr>
          <p:cNvSpPr>
            <a:spLocks xmlns:a="http://schemas.openxmlformats.org/drawingml/2006/main" noGrp="1"/>
          </p:cNvSpPr>
          <p:nvPr/>
        </p:nvSpPr>
        <p:spPr>
          <a:xfrm xmlns:a="http://schemas.openxmlformats.org/drawingml/2006/main">
            <a:off x="4381500" y="58293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paramètres entraînables</a:t>
            </a:r>
          </a:p>
        </p:txBody>
      </p:sp>
      <p:sp>
        <p:nvSpPr>
          <p:cNvPr id="22" name="">
            <a:extLst xmlns:a="http://schemas.openxmlformats.org/drawingml/2006/main">
              <a:ext uri="{FF2B5EF4-FFF2-40B4-BE49-F238E27FC236}">
                <a16:creationId xmlns:a16="http://schemas.microsoft.com/office/drawing/2014/main" id="{BD715A8C-127F-4A14-8B80-64E8E5265F16}"/>
              </a:ext>
            </a:extLst>
          </p:cNvPr>
          <p:cNvSpPr>
            <a:spLocks xmlns:a="http://schemas.openxmlformats.org/drawingml/2006/main" noGrp="1"/>
          </p:cNvSpPr>
          <p:nvPr/>
        </p:nvSpPr>
        <p:spPr>
          <a:xfrm xmlns:a="http://schemas.openxmlformats.org/drawingml/2006/main">
            <a:off x="7620000" y="52387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238A7A"/>
                </a:solidFill>
              </a:defRPr>
            </a:defPPr>
            <a:lvl1pPr algn="ctr">
              <a:defRPr sz="3450" b="1" i="0">
                <a:solidFill>
                  <a:srgbClr val="238A7A"/>
                </a:solidFill>
              </a:defRPr>
            </a:lvl1pPr>
            <a:lvl2pPr algn="ctr">
              <a:defRPr sz="3450" b="1" i="0">
                <a:solidFill>
                  <a:srgbClr val="238A7A"/>
                </a:solidFill>
              </a:defRPr>
            </a:lvl2pPr>
            <a:lvl3pPr algn="ctr">
              <a:defRPr sz="3450" b="1" i="0">
                <a:solidFill>
                  <a:srgbClr val="238A7A"/>
                </a:solidFill>
              </a:defRPr>
            </a:lvl3pPr>
            <a:lvl4pPr algn="ctr">
              <a:defRPr sz="3450" b="1" i="0">
                <a:solidFill>
                  <a:srgbClr val="238A7A"/>
                </a:solidFill>
              </a:defRPr>
            </a:lvl4pPr>
            <a:lvl5pPr algn="ctr">
              <a:defRPr sz="3450" b="1" i="0">
                <a:solidFill>
                  <a:srgbClr val="238A7A"/>
                </a:solidFill>
              </a:defRPr>
            </a:lvl5pPr>
            <a:lvl6pPr algn="ctr">
              <a:defRPr sz="3450" b="1" i="0">
                <a:solidFill>
                  <a:srgbClr val="238A7A"/>
                </a:solidFill>
              </a:defRPr>
            </a:lvl6pPr>
            <a:lvl7pPr algn="ctr">
              <a:defRPr sz="3450" b="1" i="0">
                <a:solidFill>
                  <a:srgbClr val="238A7A"/>
                </a:solidFill>
              </a:defRPr>
            </a:lvl7pPr>
            <a:lvl8pPr algn="ctr">
              <a:defRPr sz="3450" b="1" i="0">
                <a:solidFill>
                  <a:srgbClr val="238A7A"/>
                </a:solidFill>
              </a:defRPr>
            </a:lvl8pPr>
            <a:lvl9pPr algn="ctr">
              <a:defRPr sz="3450" b="1" i="0">
                <a:solidFill>
                  <a:srgbClr val="238A7A"/>
                </a:solidFill>
              </a:defRPr>
            </a:lvl9pPr>
          </a:lstStyle>
          <a:p xmlns:a="http://schemas.openxmlformats.org/drawingml/2006/main">
            <a:pPr algn="ctr">
              <a:defRPr sz="3450" b="1" i="0">
                <a:solidFill>
                  <a:srgbClr val="238A7A"/>
                </a:solidFill>
              </a:defRPr>
            </a:pPr>
            <a:r>
              <a:rPr sz="3450" b="1" i="0">
                <a:solidFill>
                  <a:srgbClr val="238A7A"/>
                </a:solidFill>
              </a:rPr>
              <a:t>128</a:t>
            </a:r>
          </a:p>
        </p:txBody>
      </p:sp>
      <p:sp>
        <p:nvSpPr>
          <p:cNvPr id="23" name="">
            <a:extLst xmlns:a="http://schemas.openxmlformats.org/drawingml/2006/main">
              <a:ext uri="{FF2B5EF4-FFF2-40B4-BE49-F238E27FC236}">
                <a16:creationId xmlns:a16="http://schemas.microsoft.com/office/drawing/2014/main" id="{0645F059-AECD-40BA-BB2C-B120EB8AD95E}"/>
              </a:ext>
            </a:extLst>
          </p:cNvPr>
          <p:cNvSpPr>
            <a:spLocks xmlns:a="http://schemas.openxmlformats.org/drawingml/2006/main" noGrp="1"/>
          </p:cNvSpPr>
          <p:nvPr/>
        </p:nvSpPr>
        <p:spPr>
          <a:xfrm xmlns:a="http://schemas.openxmlformats.org/drawingml/2006/main">
            <a:off x="7620000" y="582930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images par mini-lot</a:t>
            </a:r>
          </a:p>
        </p:txBody>
      </p:sp>
      <p:sp>
        <p:nvSpPr>
          <p:cNvPr id="24" name="">
            <a:extLst xmlns:a="http://schemas.openxmlformats.org/drawingml/2006/main">
              <a:ext uri="{FF2B5EF4-FFF2-40B4-BE49-F238E27FC236}">
                <a16:creationId xmlns:a16="http://schemas.microsoft.com/office/drawing/2014/main" id="{8AAD0FF5-FFA7-42D9-9885-B3DC948DB74D}"/>
              </a:ext>
            </a:extLst>
          </p:cNvPr>
          <p:cNvSpPr>
            <a:spLocks xmlns:a="http://schemas.openxmlformats.org/drawingml/2006/main" noGrp="1"/>
          </p:cNvSpPr>
          <p:nvPr/>
        </p:nvSpPr>
        <p:spPr>
          <a:xfrm xmlns:a="http://schemas.openxmlformats.org/drawingml/2006/main">
            <a:off x="9906000" y="52387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238A7A"/>
                </a:solidFill>
              </a:defRPr>
            </a:defPPr>
            <a:lvl1pPr algn="ctr">
              <a:defRPr sz="3450" b="1" i="0">
                <a:solidFill>
                  <a:srgbClr val="238A7A"/>
                </a:solidFill>
              </a:defRPr>
            </a:lvl1pPr>
            <a:lvl2pPr algn="ctr">
              <a:defRPr sz="3450" b="1" i="0">
                <a:solidFill>
                  <a:srgbClr val="238A7A"/>
                </a:solidFill>
              </a:defRPr>
            </a:lvl2pPr>
            <a:lvl3pPr algn="ctr">
              <a:defRPr sz="3450" b="1" i="0">
                <a:solidFill>
                  <a:srgbClr val="238A7A"/>
                </a:solidFill>
              </a:defRPr>
            </a:lvl3pPr>
            <a:lvl4pPr algn="ctr">
              <a:defRPr sz="3450" b="1" i="0">
                <a:solidFill>
                  <a:srgbClr val="238A7A"/>
                </a:solidFill>
              </a:defRPr>
            </a:lvl4pPr>
            <a:lvl5pPr algn="ctr">
              <a:defRPr sz="3450" b="1" i="0">
                <a:solidFill>
                  <a:srgbClr val="238A7A"/>
                </a:solidFill>
              </a:defRPr>
            </a:lvl5pPr>
            <a:lvl6pPr algn="ctr">
              <a:defRPr sz="3450" b="1" i="0">
                <a:solidFill>
                  <a:srgbClr val="238A7A"/>
                </a:solidFill>
              </a:defRPr>
            </a:lvl6pPr>
            <a:lvl7pPr algn="ctr">
              <a:defRPr sz="3450" b="1" i="0">
                <a:solidFill>
                  <a:srgbClr val="238A7A"/>
                </a:solidFill>
              </a:defRPr>
            </a:lvl7pPr>
            <a:lvl8pPr algn="ctr">
              <a:defRPr sz="3450" b="1" i="0">
                <a:solidFill>
                  <a:srgbClr val="238A7A"/>
                </a:solidFill>
              </a:defRPr>
            </a:lvl8pPr>
            <a:lvl9pPr algn="ctr">
              <a:defRPr sz="3450" b="1" i="0">
                <a:solidFill>
                  <a:srgbClr val="238A7A"/>
                </a:solidFill>
              </a:defRPr>
            </a:lvl9pPr>
          </a:lstStyle>
          <a:p xmlns:a="http://schemas.openxmlformats.org/drawingml/2006/main">
            <a:pPr algn="ctr">
              <a:defRPr sz="3450" b="1" i="0">
                <a:solidFill>
                  <a:srgbClr val="238A7A"/>
                </a:solidFill>
              </a:defRPr>
            </a:pPr>
            <a:r>
              <a:rPr sz="3450" b="1" i="0">
                <a:solidFill>
                  <a:srgbClr val="238A7A"/>
                </a:solidFill>
              </a:rPr>
              <a:t>10</a:t>
            </a:r>
          </a:p>
        </p:txBody>
      </p:sp>
      <p:sp>
        <p:nvSpPr>
          <p:cNvPr id="25" name="">
            <a:extLst xmlns:a="http://schemas.openxmlformats.org/drawingml/2006/main">
              <a:ext uri="{FF2B5EF4-FFF2-40B4-BE49-F238E27FC236}">
                <a16:creationId xmlns:a16="http://schemas.microsoft.com/office/drawing/2014/main" id="{DE1B4F48-B539-4469-A068-FA1DCD9833D2}"/>
              </a:ext>
            </a:extLst>
          </p:cNvPr>
          <p:cNvSpPr>
            <a:spLocks xmlns:a="http://schemas.openxmlformats.org/drawingml/2006/main" noGrp="1"/>
          </p:cNvSpPr>
          <p:nvPr/>
        </p:nvSpPr>
        <p:spPr>
          <a:xfrm xmlns:a="http://schemas.openxmlformats.org/drawingml/2006/main">
            <a:off x="9906000" y="5829300"/>
            <a:ext cx="171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classes de vêtements</a:t>
            </a:r>
          </a:p>
        </p:txBody>
      </p:sp>
    </p:spTree>
    <p:extLst>
      <p:ext uri="{BB962C8B-B14F-4D97-AF65-F5344CB8AC3E}">
        <p14:creationId xmlns:p14="http://schemas.microsoft.com/office/powerpoint/2010/main" val="2126325170"/>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3EA1246-951F-4754-818A-96732DC1E635}"/>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i="0">
                <a:solidFill>
                  <a:srgbClr val="132238"/>
                </a:solidFill>
              </a:defRPr>
            </a:defPPr>
            <a:lvl1pPr algn="l">
              <a:defRPr sz="2850" b="1" i="0">
                <a:solidFill>
                  <a:srgbClr val="132238"/>
                </a:solidFill>
              </a:defRPr>
            </a:lvl1pPr>
            <a:lvl2pPr algn="l">
              <a:defRPr sz="2850" b="1" i="0">
                <a:solidFill>
                  <a:srgbClr val="132238"/>
                </a:solidFill>
              </a:defRPr>
            </a:lvl2pPr>
            <a:lvl3pPr algn="l">
              <a:defRPr sz="2850" b="1" i="0">
                <a:solidFill>
                  <a:srgbClr val="132238"/>
                </a:solidFill>
              </a:defRPr>
            </a:lvl3pPr>
            <a:lvl4pPr algn="l">
              <a:defRPr sz="2850" b="1" i="0">
                <a:solidFill>
                  <a:srgbClr val="132238"/>
                </a:solidFill>
              </a:defRPr>
            </a:lvl4pPr>
            <a:lvl5pPr algn="l">
              <a:defRPr sz="2850" b="1" i="0">
                <a:solidFill>
                  <a:srgbClr val="132238"/>
                </a:solidFill>
              </a:defRPr>
            </a:lvl5pPr>
            <a:lvl6pPr algn="l">
              <a:defRPr sz="2850" b="1" i="0">
                <a:solidFill>
                  <a:srgbClr val="132238"/>
                </a:solidFill>
              </a:defRPr>
            </a:lvl6pPr>
            <a:lvl7pPr algn="l">
              <a:defRPr sz="2850" b="1" i="0">
                <a:solidFill>
                  <a:srgbClr val="132238"/>
                </a:solidFill>
              </a:defRPr>
            </a:lvl7pPr>
            <a:lvl8pPr algn="l">
              <a:defRPr sz="2850" b="1" i="0">
                <a:solidFill>
                  <a:srgbClr val="132238"/>
                </a:solidFill>
              </a:defRPr>
            </a:lvl8pPr>
            <a:lvl9pPr algn="l">
              <a:defRPr sz="2850" b="1" i="0">
                <a:solidFill>
                  <a:srgbClr val="132238"/>
                </a:solidFill>
              </a:defRPr>
            </a:lvl9pPr>
          </a:lstStyle>
          <a:p xmlns:a="http://schemas.openxmlformats.org/drawingml/2006/main">
            <a:pPr algn="l">
              <a:defRPr sz="2850" b="1" i="0">
                <a:solidFill>
                  <a:srgbClr val="132238"/>
                </a:solidFill>
              </a:defRPr>
            </a:pPr>
            <a:r>
              <a:rPr sz="2850" b="1" i="0">
                <a:solidFill>
                  <a:srgbClr val="132238"/>
                </a:solidFill>
              </a:rPr>
              <a:t>CNN : le meilleur compromis apparaît à l’époque 9</a:t>
            </a:r>
          </a:p>
        </p:txBody>
      </p:sp>
      <p:sp>
        <p:nvSpPr>
          <p:cNvPr id="2" name="">
            <a:extLst xmlns:a="http://schemas.openxmlformats.org/drawingml/2006/main">
              <a:ext uri="{FF2B5EF4-FFF2-40B4-BE49-F238E27FC236}">
                <a16:creationId xmlns:a16="http://schemas.microsoft.com/office/drawing/2014/main" id="{7BFD39F9-42FC-4B44-AB4F-066988F2FA1E}"/>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238A7A"/>
          </a:solidFill>
          <a:ln xmlns:a="http://schemas.openxmlformats.org/drawingml/2006/main" w="0">
            <a:solidFill>
              <a:srgbClr val="238A7A"/>
            </a:solidFill>
            <a:prstDash val="solid"/>
          </a:ln>
        </p:spPr>
      </p:sp>
      <p:sp>
        <p:nvSpPr>
          <p:cNvPr id="3" name="">
            <a:extLst xmlns:a="http://schemas.openxmlformats.org/drawingml/2006/main">
              <a:ext uri="{FF2B5EF4-FFF2-40B4-BE49-F238E27FC236}">
                <a16:creationId xmlns:a16="http://schemas.microsoft.com/office/drawing/2014/main" id="{B021F625-7B7C-4D56-ABFC-2BC2499B301C}"/>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06</a:t>
            </a:r>
          </a:p>
        </p:txBody>
      </p:sp>
      <p:sp>
        <p:nvSpPr>
          <p:cNvPr id="4" name="">
            <a:extLst xmlns:a="http://schemas.openxmlformats.org/drawingml/2006/main">
              <a:ext uri="{FF2B5EF4-FFF2-40B4-BE49-F238E27FC236}">
                <a16:creationId xmlns:a16="http://schemas.microsoft.com/office/drawing/2014/main" id="{7CC5DAB0-A0FF-4E7F-BC20-67AA221052C6}"/>
              </a:ext>
            </a:extLst>
          </p:cNvPr>
          <p:cNvSpPr>
            <a:spLocks xmlns:a="http://schemas.openxmlformats.org/drawingml/2006/main" noGrp="1"/>
          </p:cNvSpPr>
          <p:nvPr/>
        </p:nvSpPr>
        <p:spPr>
          <a:xfrm xmlns:a="http://schemas.openxmlformats.org/drawingml/2006/main">
            <a:off x="666750" y="13144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i="0">
                <a:solidFill>
                  <a:srgbClr val="132238"/>
                </a:solidFill>
              </a:defRPr>
            </a:defPPr>
            <a:lvl1pPr algn="l">
              <a:defRPr sz="1650" b="1" i="0">
                <a:solidFill>
                  <a:srgbClr val="132238"/>
                </a:solidFill>
              </a:defRPr>
            </a:lvl1pPr>
            <a:lvl2pPr algn="l">
              <a:defRPr sz="1650" b="1" i="0">
                <a:solidFill>
                  <a:srgbClr val="132238"/>
                </a:solidFill>
              </a:defRPr>
            </a:lvl2pPr>
            <a:lvl3pPr algn="l">
              <a:defRPr sz="1650" b="1" i="0">
                <a:solidFill>
                  <a:srgbClr val="132238"/>
                </a:solidFill>
              </a:defRPr>
            </a:lvl3pPr>
            <a:lvl4pPr algn="l">
              <a:defRPr sz="1650" b="1" i="0">
                <a:solidFill>
                  <a:srgbClr val="132238"/>
                </a:solidFill>
              </a:defRPr>
            </a:lvl4pPr>
            <a:lvl5pPr algn="l">
              <a:defRPr sz="1650" b="1" i="0">
                <a:solidFill>
                  <a:srgbClr val="132238"/>
                </a:solidFill>
              </a:defRPr>
            </a:lvl5pPr>
            <a:lvl6pPr algn="l">
              <a:defRPr sz="1650" b="1" i="0">
                <a:solidFill>
                  <a:srgbClr val="132238"/>
                </a:solidFill>
              </a:defRPr>
            </a:lvl6pPr>
            <a:lvl7pPr algn="l">
              <a:defRPr sz="1650" b="1" i="0">
                <a:solidFill>
                  <a:srgbClr val="132238"/>
                </a:solidFill>
              </a:defRPr>
            </a:lvl7pPr>
            <a:lvl8pPr algn="l">
              <a:defRPr sz="1650" b="1" i="0">
                <a:solidFill>
                  <a:srgbClr val="132238"/>
                </a:solidFill>
              </a:defRPr>
            </a:lvl8pPr>
            <a:lvl9pPr algn="l">
              <a:defRPr sz="1650" b="1" i="0">
                <a:solidFill>
                  <a:srgbClr val="132238"/>
                </a:solidFill>
              </a:defRPr>
            </a:lvl9pPr>
          </a:lstStyle>
          <a:p xmlns:a="http://schemas.openxmlformats.org/drawingml/2006/main">
            <a:pPr algn="l">
              <a:defRPr sz="1650" b="1" i="0">
                <a:solidFill>
                  <a:srgbClr val="132238"/>
                </a:solidFill>
              </a:defRPr>
            </a:pPr>
            <a:r>
              <a:rPr sz="1650" b="1" i="0">
                <a:solidFill>
                  <a:srgbClr val="132238"/>
                </a:solidFill>
              </a:rPr>
              <a:t>Entropie croisée × 100</a:t>
            </a:r>
          </a:p>
        </p:txBody>
      </p:sp>
      <p:graphicFrame>
        <p:nvGraphicFramePr>
          <p:cNvPr id="5" name="Chart">
            <a:extLst xmlns:a="http://schemas.openxmlformats.org/drawingml/2006/main">
              <a:ext uri="{FF2B5EF4-FFF2-40B4-BE49-F238E27FC236}">
                <a16:creationId xmlns:a16="http://schemas.microsoft.com/office/drawing/2014/main" id="{1BBDA3CA-E94C-47E9-B5B2-38D18400B2BA}"/>
              </a:ext>
            </a:extLst>
          </p:cNvPr>
          <p:cNvGraphicFramePr/>
          <p:nvPr/>
        </p:nvGraphicFramePr>
        <p:xfrm>
          <a:off xmlns:a="http://schemas.openxmlformats.org/drawingml/2006/main" x="523875" y="1714500"/>
          <a:ext xmlns:a="http://schemas.openxmlformats.org/drawingml/2006/main" cx="7239000" cy="3714750"/>
        </p:xfrm>
        <a:graphic xmlns:a="http://schemas.openxmlformats.org/drawingml/2006/main">
          <a:graphicData uri="http://schemas.openxmlformats.org/drawingml/2006/chart">
            <c:chart xmlns:r="http://schemas.openxmlformats.org/officeDocument/2006/relationships" xmlns:c="http://schemas.openxmlformats.org/drawingml/2006/chart" r:id="R7dcb437f5ab54614"/>
          </a:graphicData>
        </a:graphic>
      </p:graphicFrame>
      <p:sp>
        <p:nvSpPr>
          <p:cNvPr id="6" name="">
            <a:extLst xmlns:a="http://schemas.openxmlformats.org/drawingml/2006/main">
              <a:ext uri="{FF2B5EF4-FFF2-40B4-BE49-F238E27FC236}">
                <a16:creationId xmlns:a16="http://schemas.microsoft.com/office/drawing/2014/main" id="{0186ECE8-7C5B-49BC-81FC-4C8AE74495EE}"/>
              </a:ext>
            </a:extLst>
          </p:cNvPr>
          <p:cNvSpPr>
            <a:spLocks xmlns:a="http://schemas.openxmlformats.org/drawingml/2006/main" noGrp="1"/>
          </p:cNvSpPr>
          <p:nvPr/>
        </p:nvSpPr>
        <p:spPr>
          <a:xfrm xmlns:a="http://schemas.openxmlformats.org/drawingml/2006/main">
            <a:off x="8382000" y="1666875"/>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238A7A"/>
                </a:solidFill>
              </a:defRPr>
            </a:defPPr>
            <a:lvl1pPr algn="ctr">
              <a:defRPr sz="3450" b="1" i="0">
                <a:solidFill>
                  <a:srgbClr val="238A7A"/>
                </a:solidFill>
              </a:defRPr>
            </a:lvl1pPr>
            <a:lvl2pPr algn="ctr">
              <a:defRPr sz="3450" b="1" i="0">
                <a:solidFill>
                  <a:srgbClr val="238A7A"/>
                </a:solidFill>
              </a:defRPr>
            </a:lvl2pPr>
            <a:lvl3pPr algn="ctr">
              <a:defRPr sz="3450" b="1" i="0">
                <a:solidFill>
                  <a:srgbClr val="238A7A"/>
                </a:solidFill>
              </a:defRPr>
            </a:lvl3pPr>
            <a:lvl4pPr algn="ctr">
              <a:defRPr sz="3450" b="1" i="0">
                <a:solidFill>
                  <a:srgbClr val="238A7A"/>
                </a:solidFill>
              </a:defRPr>
            </a:lvl4pPr>
            <a:lvl5pPr algn="ctr">
              <a:defRPr sz="3450" b="1" i="0">
                <a:solidFill>
                  <a:srgbClr val="238A7A"/>
                </a:solidFill>
              </a:defRPr>
            </a:lvl5pPr>
            <a:lvl6pPr algn="ctr">
              <a:defRPr sz="3450" b="1" i="0">
                <a:solidFill>
                  <a:srgbClr val="238A7A"/>
                </a:solidFill>
              </a:defRPr>
            </a:lvl6pPr>
            <a:lvl7pPr algn="ctr">
              <a:defRPr sz="3450" b="1" i="0">
                <a:solidFill>
                  <a:srgbClr val="238A7A"/>
                </a:solidFill>
              </a:defRPr>
            </a:lvl7pPr>
            <a:lvl8pPr algn="ctr">
              <a:defRPr sz="3450" b="1" i="0">
                <a:solidFill>
                  <a:srgbClr val="238A7A"/>
                </a:solidFill>
              </a:defRPr>
            </a:lvl8pPr>
            <a:lvl9pPr algn="ctr">
              <a:defRPr sz="3450" b="1" i="0">
                <a:solidFill>
                  <a:srgbClr val="238A7A"/>
                </a:solidFill>
              </a:defRPr>
            </a:lvl9pPr>
          </a:lstStyle>
          <a:p xmlns:a="http://schemas.openxmlformats.org/drawingml/2006/main">
            <a:pPr algn="ctr">
              <a:defRPr sz="3450" b="1" i="0">
                <a:solidFill>
                  <a:srgbClr val="238A7A"/>
                </a:solidFill>
              </a:defRPr>
            </a:pPr>
            <a:r>
              <a:rPr sz="3450" b="1" i="0">
                <a:solidFill>
                  <a:srgbClr val="238A7A"/>
                </a:solidFill>
              </a:rPr>
              <a:t>9</a:t>
            </a:r>
          </a:p>
        </p:txBody>
      </p:sp>
      <p:sp>
        <p:nvSpPr>
          <p:cNvPr id="7" name="">
            <a:extLst xmlns:a="http://schemas.openxmlformats.org/drawingml/2006/main">
              <a:ext uri="{FF2B5EF4-FFF2-40B4-BE49-F238E27FC236}">
                <a16:creationId xmlns:a16="http://schemas.microsoft.com/office/drawing/2014/main" id="{92D4788F-59A3-40A3-8662-F2BEF83944A2}"/>
              </a:ext>
            </a:extLst>
          </p:cNvPr>
          <p:cNvSpPr>
            <a:spLocks xmlns:a="http://schemas.openxmlformats.org/drawingml/2006/main" noGrp="1"/>
          </p:cNvSpPr>
          <p:nvPr/>
        </p:nvSpPr>
        <p:spPr>
          <a:xfrm xmlns:a="http://schemas.openxmlformats.org/drawingml/2006/main">
            <a:off x="8382000" y="2257425"/>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époque restaurée</a:t>
            </a:r>
          </a:p>
        </p:txBody>
      </p:sp>
      <p:sp>
        <p:nvSpPr>
          <p:cNvPr id="8" name="">
            <a:extLst xmlns:a="http://schemas.openxmlformats.org/drawingml/2006/main">
              <a:ext uri="{FF2B5EF4-FFF2-40B4-BE49-F238E27FC236}">
                <a16:creationId xmlns:a16="http://schemas.microsoft.com/office/drawing/2014/main" id="{ED46473D-0142-4938-8017-2D71203EE034}"/>
              </a:ext>
            </a:extLst>
          </p:cNvPr>
          <p:cNvSpPr>
            <a:spLocks xmlns:a="http://schemas.openxmlformats.org/drawingml/2006/main" noGrp="1"/>
          </p:cNvSpPr>
          <p:nvPr/>
        </p:nvSpPr>
        <p:spPr>
          <a:xfrm xmlns:a="http://schemas.openxmlformats.org/drawingml/2006/main">
            <a:off x="8382000" y="2952750"/>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238A7A"/>
                </a:solidFill>
              </a:defRPr>
            </a:defPPr>
            <a:lvl1pPr algn="ctr">
              <a:defRPr sz="3450" b="1" i="0">
                <a:solidFill>
                  <a:srgbClr val="238A7A"/>
                </a:solidFill>
              </a:defRPr>
            </a:lvl1pPr>
            <a:lvl2pPr algn="ctr">
              <a:defRPr sz="3450" b="1" i="0">
                <a:solidFill>
                  <a:srgbClr val="238A7A"/>
                </a:solidFill>
              </a:defRPr>
            </a:lvl2pPr>
            <a:lvl3pPr algn="ctr">
              <a:defRPr sz="3450" b="1" i="0">
                <a:solidFill>
                  <a:srgbClr val="238A7A"/>
                </a:solidFill>
              </a:defRPr>
            </a:lvl3pPr>
            <a:lvl4pPr algn="ctr">
              <a:defRPr sz="3450" b="1" i="0">
                <a:solidFill>
                  <a:srgbClr val="238A7A"/>
                </a:solidFill>
              </a:defRPr>
            </a:lvl4pPr>
            <a:lvl5pPr algn="ctr">
              <a:defRPr sz="3450" b="1" i="0">
                <a:solidFill>
                  <a:srgbClr val="238A7A"/>
                </a:solidFill>
              </a:defRPr>
            </a:lvl5pPr>
            <a:lvl6pPr algn="ctr">
              <a:defRPr sz="3450" b="1" i="0">
                <a:solidFill>
                  <a:srgbClr val="238A7A"/>
                </a:solidFill>
              </a:defRPr>
            </a:lvl6pPr>
            <a:lvl7pPr algn="ctr">
              <a:defRPr sz="3450" b="1" i="0">
                <a:solidFill>
                  <a:srgbClr val="238A7A"/>
                </a:solidFill>
              </a:defRPr>
            </a:lvl7pPr>
            <a:lvl8pPr algn="ctr">
              <a:defRPr sz="3450" b="1" i="0">
                <a:solidFill>
                  <a:srgbClr val="238A7A"/>
                </a:solidFill>
              </a:defRPr>
            </a:lvl8pPr>
            <a:lvl9pPr algn="ctr">
              <a:defRPr sz="3450" b="1" i="0">
                <a:solidFill>
                  <a:srgbClr val="238A7A"/>
                </a:solidFill>
              </a:defRPr>
            </a:lvl9pPr>
          </a:lstStyle>
          <a:p xmlns:a="http://schemas.openxmlformats.org/drawingml/2006/main">
            <a:pPr algn="ctr">
              <a:defRPr sz="3450" b="1" i="0">
                <a:solidFill>
                  <a:srgbClr val="238A7A"/>
                </a:solidFill>
              </a:defRPr>
            </a:pPr>
            <a:r>
              <a:rPr sz="3450" b="1" i="0">
                <a:solidFill>
                  <a:srgbClr val="238A7A"/>
                </a:solidFill>
              </a:rPr>
              <a:t>92,57 %</a:t>
            </a:r>
          </a:p>
        </p:txBody>
      </p:sp>
      <p:sp>
        <p:nvSpPr>
          <p:cNvPr id="9" name="">
            <a:extLst xmlns:a="http://schemas.openxmlformats.org/drawingml/2006/main">
              <a:ext uri="{FF2B5EF4-FFF2-40B4-BE49-F238E27FC236}">
                <a16:creationId xmlns:a16="http://schemas.microsoft.com/office/drawing/2014/main" id="{CBDF9C51-EC7E-46DB-8830-D884727CA1BA}"/>
              </a:ext>
            </a:extLst>
          </p:cNvPr>
          <p:cNvSpPr>
            <a:spLocks xmlns:a="http://schemas.openxmlformats.org/drawingml/2006/main" noGrp="1"/>
          </p:cNvSpPr>
          <p:nvPr/>
        </p:nvSpPr>
        <p:spPr>
          <a:xfrm xmlns:a="http://schemas.openxmlformats.org/drawingml/2006/main">
            <a:off x="8382000" y="354330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accuracy de validation</a:t>
            </a:r>
          </a:p>
        </p:txBody>
      </p:sp>
      <p:sp>
        <p:nvSpPr>
          <p:cNvPr id="10" name="">
            <a:extLst xmlns:a="http://schemas.openxmlformats.org/drawingml/2006/main">
              <a:ext uri="{FF2B5EF4-FFF2-40B4-BE49-F238E27FC236}">
                <a16:creationId xmlns:a16="http://schemas.microsoft.com/office/drawing/2014/main" id="{9AC72DB3-69B7-4BDA-A98A-A6BFA307F7FC}"/>
              </a:ext>
            </a:extLst>
          </p:cNvPr>
          <p:cNvSpPr>
            <a:spLocks xmlns:a="http://schemas.openxmlformats.org/drawingml/2006/main" noGrp="1"/>
          </p:cNvSpPr>
          <p:nvPr/>
        </p:nvSpPr>
        <p:spPr>
          <a:xfrm xmlns:a="http://schemas.openxmlformats.org/drawingml/2006/main">
            <a:off x="8382000" y="4333875"/>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0D2035"/>
                </a:solidFill>
              </a:defRPr>
            </a:defPPr>
            <a:lvl1pPr algn="ctr">
              <a:defRPr sz="3450" b="1" i="0">
                <a:solidFill>
                  <a:srgbClr val="0D2035"/>
                </a:solidFill>
              </a:defRPr>
            </a:lvl1pPr>
            <a:lvl2pPr algn="ctr">
              <a:defRPr sz="3450" b="1" i="0">
                <a:solidFill>
                  <a:srgbClr val="0D2035"/>
                </a:solidFill>
              </a:defRPr>
            </a:lvl2pPr>
            <a:lvl3pPr algn="ctr">
              <a:defRPr sz="3450" b="1" i="0">
                <a:solidFill>
                  <a:srgbClr val="0D2035"/>
                </a:solidFill>
              </a:defRPr>
            </a:lvl3pPr>
            <a:lvl4pPr algn="ctr">
              <a:defRPr sz="3450" b="1" i="0">
                <a:solidFill>
                  <a:srgbClr val="0D2035"/>
                </a:solidFill>
              </a:defRPr>
            </a:lvl4pPr>
            <a:lvl5pPr algn="ctr">
              <a:defRPr sz="3450" b="1" i="0">
                <a:solidFill>
                  <a:srgbClr val="0D2035"/>
                </a:solidFill>
              </a:defRPr>
            </a:lvl5pPr>
            <a:lvl6pPr algn="ctr">
              <a:defRPr sz="3450" b="1" i="0">
                <a:solidFill>
                  <a:srgbClr val="0D2035"/>
                </a:solidFill>
              </a:defRPr>
            </a:lvl6pPr>
            <a:lvl7pPr algn="ctr">
              <a:defRPr sz="3450" b="1" i="0">
                <a:solidFill>
                  <a:srgbClr val="0D2035"/>
                </a:solidFill>
              </a:defRPr>
            </a:lvl7pPr>
            <a:lvl8pPr algn="ctr">
              <a:defRPr sz="3450" b="1" i="0">
                <a:solidFill>
                  <a:srgbClr val="0D2035"/>
                </a:solidFill>
              </a:defRPr>
            </a:lvl8pPr>
            <a:lvl9pPr algn="ctr">
              <a:defRPr sz="3450" b="1" i="0">
                <a:solidFill>
                  <a:srgbClr val="0D2035"/>
                </a:solidFill>
              </a:defRPr>
            </a:lvl9pPr>
          </a:lstStyle>
          <a:p xmlns:a="http://schemas.openxmlformats.org/drawingml/2006/main">
            <a:pPr algn="ctr">
              <a:defRPr sz="3450" b="1" i="0">
                <a:solidFill>
                  <a:srgbClr val="0D2035"/>
                </a:solidFill>
              </a:defRPr>
            </a:pPr>
            <a:r>
              <a:rPr sz="3450" b="1" i="0">
                <a:solidFill>
                  <a:srgbClr val="0D2035"/>
                </a:solidFill>
              </a:rPr>
              <a:t>91,30 %</a:t>
            </a:r>
          </a:p>
        </p:txBody>
      </p:sp>
      <p:sp>
        <p:nvSpPr>
          <p:cNvPr id="11" name="">
            <a:extLst xmlns:a="http://schemas.openxmlformats.org/drawingml/2006/main">
              <a:ext uri="{FF2B5EF4-FFF2-40B4-BE49-F238E27FC236}">
                <a16:creationId xmlns:a16="http://schemas.microsoft.com/office/drawing/2014/main" id="{0E28AD5B-BEE6-4FCD-B8CD-16A6B9446B7D}"/>
              </a:ext>
            </a:extLst>
          </p:cNvPr>
          <p:cNvSpPr>
            <a:spLocks xmlns:a="http://schemas.openxmlformats.org/drawingml/2006/main" noGrp="1"/>
          </p:cNvSpPr>
          <p:nvPr/>
        </p:nvSpPr>
        <p:spPr>
          <a:xfrm xmlns:a="http://schemas.openxmlformats.org/drawingml/2006/main">
            <a:off x="8382000" y="4924425"/>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accuracy finale sur le test</a:t>
            </a:r>
          </a:p>
        </p:txBody>
      </p:sp>
      <p:sp>
        <p:nvSpPr>
          <p:cNvPr id="12" name="">
            <a:extLst xmlns:a="http://schemas.openxmlformats.org/drawingml/2006/main">
              <a:ext uri="{FF2B5EF4-FFF2-40B4-BE49-F238E27FC236}">
                <a16:creationId xmlns:a16="http://schemas.microsoft.com/office/drawing/2014/main" id="{5AB3FBC8-2EAE-4706-88A8-A3DB761AC57C}"/>
              </a:ext>
            </a:extLst>
          </p:cNvPr>
          <p:cNvSpPr>
            <a:spLocks xmlns:a="http://schemas.openxmlformats.org/drawingml/2006/main" noGrp="1"/>
          </p:cNvSpPr>
          <p:nvPr/>
        </p:nvSpPr>
        <p:spPr>
          <a:xfrm xmlns:a="http://schemas.openxmlformats.org/drawingml/2006/main">
            <a:off x="762000" y="57150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75" b="1" i="0">
                <a:solidFill>
                  <a:srgbClr val="132238"/>
                </a:solidFill>
              </a:defRPr>
            </a:defPPr>
            <a:lvl1pPr algn="ctr">
              <a:defRPr sz="1575" b="1" i="0">
                <a:solidFill>
                  <a:srgbClr val="132238"/>
                </a:solidFill>
              </a:defRPr>
            </a:lvl1pPr>
            <a:lvl2pPr algn="ctr">
              <a:defRPr sz="1575" b="1" i="0">
                <a:solidFill>
                  <a:srgbClr val="132238"/>
                </a:solidFill>
              </a:defRPr>
            </a:lvl2pPr>
            <a:lvl3pPr algn="ctr">
              <a:defRPr sz="1575" b="1" i="0">
                <a:solidFill>
                  <a:srgbClr val="132238"/>
                </a:solidFill>
              </a:defRPr>
            </a:lvl3pPr>
            <a:lvl4pPr algn="ctr">
              <a:defRPr sz="1575" b="1" i="0">
                <a:solidFill>
                  <a:srgbClr val="132238"/>
                </a:solidFill>
              </a:defRPr>
            </a:lvl4pPr>
            <a:lvl5pPr algn="ctr">
              <a:defRPr sz="1575" b="1" i="0">
                <a:solidFill>
                  <a:srgbClr val="132238"/>
                </a:solidFill>
              </a:defRPr>
            </a:lvl5pPr>
            <a:lvl6pPr algn="ctr">
              <a:defRPr sz="1575" b="1" i="0">
                <a:solidFill>
                  <a:srgbClr val="132238"/>
                </a:solidFill>
              </a:defRPr>
            </a:lvl6pPr>
            <a:lvl7pPr algn="ctr">
              <a:defRPr sz="1575" b="1" i="0">
                <a:solidFill>
                  <a:srgbClr val="132238"/>
                </a:solidFill>
              </a:defRPr>
            </a:lvl7pPr>
            <a:lvl8pPr algn="ctr">
              <a:defRPr sz="1575" b="1" i="0">
                <a:solidFill>
                  <a:srgbClr val="132238"/>
                </a:solidFill>
              </a:defRPr>
            </a:lvl8pPr>
            <a:lvl9pPr algn="ctr">
              <a:defRPr sz="1575" b="1" i="0">
                <a:solidFill>
                  <a:srgbClr val="132238"/>
                </a:solidFill>
              </a:defRPr>
            </a:lvl9pPr>
          </a:lstStyle>
          <a:p xmlns:a="http://schemas.openxmlformats.org/drawingml/2006/main">
            <a:pPr algn="ctr">
              <a:defRPr sz="1575" b="1" i="0">
                <a:solidFill>
                  <a:srgbClr val="132238"/>
                </a:solidFill>
              </a:defRPr>
            </a:pPr>
            <a:r>
              <a:rPr sz="1575" b="1" i="0">
                <a:solidFill>
                  <a:srgbClr val="132238"/>
                </a:solidFill>
              </a:rPr>
              <a:t>Après l’époque 9, la perte d’entraînement baisse encore tandis que la perte de validation remonte. Le surapprentissage commence.</a:t>
            </a:r>
          </a:p>
        </p:txBody>
      </p:sp>
    </p:spTree>
    <p:extLst>
      <p:ext uri="{BB962C8B-B14F-4D97-AF65-F5344CB8AC3E}">
        <p14:creationId xmlns:p14="http://schemas.microsoft.com/office/powerpoint/2010/main" val="1125328032"/>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146D061-3B2A-4786-AF28-F7007FC2B083}"/>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i="0">
                <a:solidFill>
                  <a:srgbClr val="132238"/>
                </a:solidFill>
              </a:defRPr>
            </a:defPPr>
            <a:lvl1pPr algn="l">
              <a:defRPr sz="2400" b="1" i="0">
                <a:solidFill>
                  <a:srgbClr val="132238"/>
                </a:solidFill>
              </a:defRPr>
            </a:lvl1pPr>
            <a:lvl2pPr algn="l">
              <a:defRPr sz="2400" b="1" i="0">
                <a:solidFill>
                  <a:srgbClr val="132238"/>
                </a:solidFill>
              </a:defRPr>
            </a:lvl2pPr>
            <a:lvl3pPr algn="l">
              <a:defRPr sz="2400" b="1" i="0">
                <a:solidFill>
                  <a:srgbClr val="132238"/>
                </a:solidFill>
              </a:defRPr>
            </a:lvl3pPr>
            <a:lvl4pPr algn="l">
              <a:defRPr sz="2400" b="1" i="0">
                <a:solidFill>
                  <a:srgbClr val="132238"/>
                </a:solidFill>
              </a:defRPr>
            </a:lvl4pPr>
            <a:lvl5pPr algn="l">
              <a:defRPr sz="2400" b="1" i="0">
                <a:solidFill>
                  <a:srgbClr val="132238"/>
                </a:solidFill>
              </a:defRPr>
            </a:lvl5pPr>
            <a:lvl6pPr algn="l">
              <a:defRPr sz="2400" b="1" i="0">
                <a:solidFill>
                  <a:srgbClr val="132238"/>
                </a:solidFill>
              </a:defRPr>
            </a:lvl6pPr>
            <a:lvl7pPr algn="l">
              <a:defRPr sz="2400" b="1" i="0">
                <a:solidFill>
                  <a:srgbClr val="132238"/>
                </a:solidFill>
              </a:defRPr>
            </a:lvl7pPr>
            <a:lvl8pPr algn="l">
              <a:defRPr sz="2400" b="1" i="0">
                <a:solidFill>
                  <a:srgbClr val="132238"/>
                </a:solidFill>
              </a:defRPr>
            </a:lvl8pPr>
            <a:lvl9pPr algn="l">
              <a:defRPr sz="2400" b="1" i="0">
                <a:solidFill>
                  <a:srgbClr val="132238"/>
                </a:solidFill>
              </a:defRPr>
            </a:lvl9pPr>
          </a:lstStyle>
          <a:p xmlns:a="http://schemas.openxmlformats.org/drawingml/2006/main">
            <a:pPr algn="l">
              <a:defRPr sz="2400" b="1" i="0">
                <a:solidFill>
                  <a:srgbClr val="132238"/>
                </a:solidFill>
              </a:defRPr>
            </a:pPr>
            <a:r>
              <a:rPr sz="2400" b="1" i="0">
                <a:solidFill>
                  <a:srgbClr val="132238"/>
                </a:solidFill>
              </a:rPr>
              <a:t>CNN : la classe Chemise reste la plus difficile</a:t>
            </a:r>
          </a:p>
        </p:txBody>
      </p:sp>
      <p:sp>
        <p:nvSpPr>
          <p:cNvPr id="2" name="">
            <a:extLst xmlns:a="http://schemas.openxmlformats.org/drawingml/2006/main">
              <a:ext uri="{FF2B5EF4-FFF2-40B4-BE49-F238E27FC236}">
                <a16:creationId xmlns:a16="http://schemas.microsoft.com/office/drawing/2014/main" id="{263061E9-9739-49A0-BC08-B3BD8A20060C}"/>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238A7A"/>
          </a:solidFill>
          <a:ln xmlns:a="http://schemas.openxmlformats.org/drawingml/2006/main" w="0">
            <a:solidFill>
              <a:srgbClr val="238A7A"/>
            </a:solidFill>
            <a:prstDash val="solid"/>
          </a:ln>
        </p:spPr>
      </p:sp>
      <p:sp>
        <p:nvSpPr>
          <p:cNvPr id="3" name="">
            <a:extLst xmlns:a="http://schemas.openxmlformats.org/drawingml/2006/main">
              <a:ext uri="{FF2B5EF4-FFF2-40B4-BE49-F238E27FC236}">
                <a16:creationId xmlns:a16="http://schemas.microsoft.com/office/drawing/2014/main" id="{000217BB-3A33-437B-BCD7-15CD5602A43A}"/>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07</a:t>
            </a:r>
          </a:p>
        </p:txBody>
      </p:sp>
      <p:sp>
        <p:nvSpPr>
          <p:cNvPr id="4" name="">
            <a:extLst xmlns:a="http://schemas.openxmlformats.org/drawingml/2006/main">
              <a:ext uri="{FF2B5EF4-FFF2-40B4-BE49-F238E27FC236}">
                <a16:creationId xmlns:a16="http://schemas.microsoft.com/office/drawing/2014/main" id="{855F47B6-3D9E-4961-8FEB-CCCE873D074E}"/>
              </a:ext>
            </a:extLst>
          </p:cNvPr>
          <p:cNvSpPr>
            <a:spLocks xmlns:a="http://schemas.openxmlformats.org/drawingml/2006/main" noGrp="1"/>
          </p:cNvSpPr>
          <p:nvPr/>
        </p:nvSpPr>
        <p:spPr>
          <a:xfrm xmlns:a="http://schemas.openxmlformats.org/drawingml/2006/main">
            <a:off x="666750" y="1314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i="0">
                <a:solidFill>
                  <a:srgbClr val="132238"/>
                </a:solidFill>
              </a:defRPr>
            </a:defPPr>
            <a:lvl1pPr algn="l">
              <a:defRPr sz="1650" b="1" i="0">
                <a:solidFill>
                  <a:srgbClr val="132238"/>
                </a:solidFill>
              </a:defRPr>
            </a:lvl1pPr>
            <a:lvl2pPr algn="l">
              <a:defRPr sz="1650" b="1" i="0">
                <a:solidFill>
                  <a:srgbClr val="132238"/>
                </a:solidFill>
              </a:defRPr>
            </a:lvl2pPr>
            <a:lvl3pPr algn="l">
              <a:defRPr sz="1650" b="1" i="0">
                <a:solidFill>
                  <a:srgbClr val="132238"/>
                </a:solidFill>
              </a:defRPr>
            </a:lvl3pPr>
            <a:lvl4pPr algn="l">
              <a:defRPr sz="1650" b="1" i="0">
                <a:solidFill>
                  <a:srgbClr val="132238"/>
                </a:solidFill>
              </a:defRPr>
            </a:lvl4pPr>
            <a:lvl5pPr algn="l">
              <a:defRPr sz="1650" b="1" i="0">
                <a:solidFill>
                  <a:srgbClr val="132238"/>
                </a:solidFill>
              </a:defRPr>
            </a:lvl5pPr>
            <a:lvl6pPr algn="l">
              <a:defRPr sz="1650" b="1" i="0">
                <a:solidFill>
                  <a:srgbClr val="132238"/>
                </a:solidFill>
              </a:defRPr>
            </a:lvl6pPr>
            <a:lvl7pPr algn="l">
              <a:defRPr sz="1650" b="1" i="0">
                <a:solidFill>
                  <a:srgbClr val="132238"/>
                </a:solidFill>
              </a:defRPr>
            </a:lvl7pPr>
            <a:lvl8pPr algn="l">
              <a:defRPr sz="1650" b="1" i="0">
                <a:solidFill>
                  <a:srgbClr val="132238"/>
                </a:solidFill>
              </a:defRPr>
            </a:lvl8pPr>
            <a:lvl9pPr algn="l">
              <a:defRPr sz="1650" b="1" i="0">
                <a:solidFill>
                  <a:srgbClr val="132238"/>
                </a:solidFill>
              </a:defRPr>
            </a:lvl9pPr>
          </a:lstStyle>
          <a:p xmlns:a="http://schemas.openxmlformats.org/drawingml/2006/main">
            <a:pPr algn="l">
              <a:defRPr sz="1650" b="1" i="0">
                <a:solidFill>
                  <a:srgbClr val="132238"/>
                </a:solidFill>
              </a:defRPr>
            </a:pPr>
            <a:r>
              <a:rPr sz="1650" b="1" i="0">
                <a:solidFill>
                  <a:srgbClr val="132238"/>
                </a:solidFill>
              </a:rPr>
              <a:t>F1-score par classe (%)</a:t>
            </a:r>
          </a:p>
        </p:txBody>
      </p:sp>
      <p:graphicFrame>
        <p:nvGraphicFramePr>
          <p:cNvPr id="5" name="Chart">
            <a:extLst xmlns:a="http://schemas.openxmlformats.org/drawingml/2006/main">
              <a:ext uri="{FF2B5EF4-FFF2-40B4-BE49-F238E27FC236}">
                <a16:creationId xmlns:a16="http://schemas.microsoft.com/office/drawing/2014/main" id="{EEC88AC6-7452-4409-B1FF-E2C16843A560}"/>
              </a:ext>
            </a:extLst>
          </p:cNvPr>
          <p:cNvGraphicFramePr/>
          <p:nvPr/>
        </p:nvGraphicFramePr>
        <p:xfrm>
          <a:off xmlns:a="http://schemas.openxmlformats.org/drawingml/2006/main" x="523875" y="17145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f15ff9c627da4fee"/>
          </a:graphicData>
        </a:graphic>
      </p:graphicFrame>
      <p:sp>
        <p:nvSpPr>
          <p:cNvPr id="6" name="">
            <a:extLst xmlns:a="http://schemas.openxmlformats.org/drawingml/2006/main">
              <a:ext uri="{FF2B5EF4-FFF2-40B4-BE49-F238E27FC236}">
                <a16:creationId xmlns:a16="http://schemas.microsoft.com/office/drawing/2014/main" id="{ABEE662C-9751-48DB-A98B-DC46B04CD329}"/>
              </a:ext>
            </a:extLst>
          </p:cNvPr>
          <p:cNvSpPr>
            <a:spLocks xmlns:a="http://schemas.openxmlformats.org/drawingml/2006/main" noGrp="1"/>
          </p:cNvSpPr>
          <p:nvPr/>
        </p:nvSpPr>
        <p:spPr>
          <a:xfrm xmlns:a="http://schemas.openxmlformats.org/drawingml/2006/main">
            <a:off x="8286750" y="16192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B94A48"/>
                </a:solidFill>
              </a:defRPr>
            </a:defPPr>
            <a:lvl1pPr algn="ctr">
              <a:defRPr sz="3450" b="1" i="0">
                <a:solidFill>
                  <a:srgbClr val="B94A48"/>
                </a:solidFill>
              </a:defRPr>
            </a:lvl1pPr>
            <a:lvl2pPr algn="ctr">
              <a:defRPr sz="3450" b="1" i="0">
                <a:solidFill>
                  <a:srgbClr val="B94A48"/>
                </a:solidFill>
              </a:defRPr>
            </a:lvl2pPr>
            <a:lvl3pPr algn="ctr">
              <a:defRPr sz="3450" b="1" i="0">
                <a:solidFill>
                  <a:srgbClr val="B94A48"/>
                </a:solidFill>
              </a:defRPr>
            </a:lvl3pPr>
            <a:lvl4pPr algn="ctr">
              <a:defRPr sz="3450" b="1" i="0">
                <a:solidFill>
                  <a:srgbClr val="B94A48"/>
                </a:solidFill>
              </a:defRPr>
            </a:lvl4pPr>
            <a:lvl5pPr algn="ctr">
              <a:defRPr sz="3450" b="1" i="0">
                <a:solidFill>
                  <a:srgbClr val="B94A48"/>
                </a:solidFill>
              </a:defRPr>
            </a:lvl5pPr>
            <a:lvl6pPr algn="ctr">
              <a:defRPr sz="3450" b="1" i="0">
                <a:solidFill>
                  <a:srgbClr val="B94A48"/>
                </a:solidFill>
              </a:defRPr>
            </a:lvl6pPr>
            <a:lvl7pPr algn="ctr">
              <a:defRPr sz="3450" b="1" i="0">
                <a:solidFill>
                  <a:srgbClr val="B94A48"/>
                </a:solidFill>
              </a:defRPr>
            </a:lvl7pPr>
            <a:lvl8pPr algn="ctr">
              <a:defRPr sz="3450" b="1" i="0">
                <a:solidFill>
                  <a:srgbClr val="B94A48"/>
                </a:solidFill>
              </a:defRPr>
            </a:lvl8pPr>
            <a:lvl9pPr algn="ctr">
              <a:defRPr sz="3450" b="1" i="0">
                <a:solidFill>
                  <a:srgbClr val="B94A48"/>
                </a:solidFill>
              </a:defRPr>
            </a:lvl9pPr>
          </a:lstStyle>
          <a:p xmlns:a="http://schemas.openxmlformats.org/drawingml/2006/main">
            <a:pPr algn="ctr">
              <a:defRPr sz="3450" b="1" i="0">
                <a:solidFill>
                  <a:srgbClr val="B94A48"/>
                </a:solidFill>
              </a:defRPr>
            </a:pPr>
            <a:r>
              <a:rPr sz="3450" b="1" i="0">
                <a:solidFill>
                  <a:srgbClr val="B94A48"/>
                </a:solidFill>
              </a:rPr>
              <a:t>870</a:t>
            </a:r>
          </a:p>
        </p:txBody>
      </p:sp>
      <p:sp>
        <p:nvSpPr>
          <p:cNvPr id="7" name="">
            <a:extLst xmlns:a="http://schemas.openxmlformats.org/drawingml/2006/main">
              <a:ext uri="{FF2B5EF4-FFF2-40B4-BE49-F238E27FC236}">
                <a16:creationId xmlns:a16="http://schemas.microsoft.com/office/drawing/2014/main" id="{B22FB97C-57B6-44C3-8107-2FE57EDC9B0E}"/>
              </a:ext>
            </a:extLst>
          </p:cNvPr>
          <p:cNvSpPr>
            <a:spLocks xmlns:a="http://schemas.openxmlformats.org/drawingml/2006/main" noGrp="1"/>
          </p:cNvSpPr>
          <p:nvPr/>
        </p:nvSpPr>
        <p:spPr>
          <a:xfrm xmlns:a="http://schemas.openxmlformats.org/drawingml/2006/main">
            <a:off x="8286750" y="220980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erreurs sur 10 000 images</a:t>
            </a:r>
          </a:p>
        </p:txBody>
      </p:sp>
      <p:sp>
        <p:nvSpPr>
          <p:cNvPr id="8" name="">
            <a:extLst xmlns:a="http://schemas.openxmlformats.org/drawingml/2006/main">
              <a:ext uri="{FF2B5EF4-FFF2-40B4-BE49-F238E27FC236}">
                <a16:creationId xmlns:a16="http://schemas.microsoft.com/office/drawing/2014/main" id="{6C8F3D49-443B-40D8-866E-9B23E34E7668}"/>
              </a:ext>
            </a:extLst>
          </p:cNvPr>
          <p:cNvSpPr>
            <a:spLocks xmlns:a="http://schemas.openxmlformats.org/drawingml/2006/main" noGrp="1"/>
          </p:cNvSpPr>
          <p:nvPr/>
        </p:nvSpPr>
        <p:spPr>
          <a:xfrm xmlns:a="http://schemas.openxmlformats.org/drawingml/2006/main">
            <a:off x="8286750" y="30480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B94A48"/>
                </a:solidFill>
              </a:defRPr>
            </a:defPPr>
            <a:lvl1pPr algn="ctr">
              <a:defRPr sz="3450" b="1" i="0">
                <a:solidFill>
                  <a:srgbClr val="B94A48"/>
                </a:solidFill>
              </a:defRPr>
            </a:lvl1pPr>
            <a:lvl2pPr algn="ctr">
              <a:defRPr sz="3450" b="1" i="0">
                <a:solidFill>
                  <a:srgbClr val="B94A48"/>
                </a:solidFill>
              </a:defRPr>
            </a:lvl2pPr>
            <a:lvl3pPr algn="ctr">
              <a:defRPr sz="3450" b="1" i="0">
                <a:solidFill>
                  <a:srgbClr val="B94A48"/>
                </a:solidFill>
              </a:defRPr>
            </a:lvl3pPr>
            <a:lvl4pPr algn="ctr">
              <a:defRPr sz="3450" b="1" i="0">
                <a:solidFill>
                  <a:srgbClr val="B94A48"/>
                </a:solidFill>
              </a:defRPr>
            </a:lvl4pPr>
            <a:lvl5pPr algn="ctr">
              <a:defRPr sz="3450" b="1" i="0">
                <a:solidFill>
                  <a:srgbClr val="B94A48"/>
                </a:solidFill>
              </a:defRPr>
            </a:lvl5pPr>
            <a:lvl6pPr algn="ctr">
              <a:defRPr sz="3450" b="1" i="0">
                <a:solidFill>
                  <a:srgbClr val="B94A48"/>
                </a:solidFill>
              </a:defRPr>
            </a:lvl6pPr>
            <a:lvl7pPr algn="ctr">
              <a:defRPr sz="3450" b="1" i="0">
                <a:solidFill>
                  <a:srgbClr val="B94A48"/>
                </a:solidFill>
              </a:defRPr>
            </a:lvl7pPr>
            <a:lvl8pPr algn="ctr">
              <a:defRPr sz="3450" b="1" i="0">
                <a:solidFill>
                  <a:srgbClr val="B94A48"/>
                </a:solidFill>
              </a:defRPr>
            </a:lvl8pPr>
            <a:lvl9pPr algn="ctr">
              <a:defRPr sz="3450" b="1" i="0">
                <a:solidFill>
                  <a:srgbClr val="B94A48"/>
                </a:solidFill>
              </a:defRPr>
            </a:lvl9pPr>
          </a:lstStyle>
          <a:p xmlns:a="http://schemas.openxmlformats.org/drawingml/2006/main">
            <a:pPr algn="ctr">
              <a:defRPr sz="3450" b="1" i="0">
                <a:solidFill>
                  <a:srgbClr val="B94A48"/>
                </a:solidFill>
              </a:defRPr>
            </a:pPr>
            <a:r>
              <a:rPr sz="3450" b="1" i="0">
                <a:solidFill>
                  <a:srgbClr val="B94A48"/>
                </a:solidFill>
              </a:rPr>
              <a:t>0,729</a:t>
            </a:r>
          </a:p>
        </p:txBody>
      </p:sp>
      <p:sp>
        <p:nvSpPr>
          <p:cNvPr id="9" name="">
            <a:extLst xmlns:a="http://schemas.openxmlformats.org/drawingml/2006/main">
              <a:ext uri="{FF2B5EF4-FFF2-40B4-BE49-F238E27FC236}">
                <a16:creationId xmlns:a16="http://schemas.microsoft.com/office/drawing/2014/main" id="{3C7E25BE-7038-463E-9C83-6B429A44F020}"/>
              </a:ext>
            </a:extLst>
          </p:cNvPr>
          <p:cNvSpPr>
            <a:spLocks xmlns:a="http://schemas.openxmlformats.org/drawingml/2006/main" noGrp="1"/>
          </p:cNvSpPr>
          <p:nvPr/>
        </p:nvSpPr>
        <p:spPr>
          <a:xfrm xmlns:a="http://schemas.openxmlformats.org/drawingml/2006/main">
            <a:off x="8286750" y="363855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F1 de la classe Chemise</a:t>
            </a:r>
          </a:p>
        </p:txBody>
      </p:sp>
      <p:sp>
        <p:nvSpPr>
          <p:cNvPr id="10" name="">
            <a:extLst xmlns:a="http://schemas.openxmlformats.org/drawingml/2006/main">
              <a:ext uri="{FF2B5EF4-FFF2-40B4-BE49-F238E27FC236}">
                <a16:creationId xmlns:a16="http://schemas.microsoft.com/office/drawing/2014/main" id="{96BC4776-E30C-4D5E-9AAB-C61678BA80F7}"/>
              </a:ext>
            </a:extLst>
          </p:cNvPr>
          <p:cNvSpPr>
            <a:spLocks xmlns:a="http://schemas.openxmlformats.org/drawingml/2006/main" noGrp="1"/>
          </p:cNvSpPr>
          <p:nvPr/>
        </p:nvSpPr>
        <p:spPr>
          <a:xfrm xmlns:a="http://schemas.openxmlformats.org/drawingml/2006/main">
            <a:off x="8239125" y="45529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238A7A"/>
                </a:solidFill>
              </a:defRPr>
            </a:defPPr>
            <a:lvl1pPr algn="ctr">
              <a:defRPr sz="1500" b="1" i="0">
                <a:solidFill>
                  <a:srgbClr val="238A7A"/>
                </a:solidFill>
              </a:defRPr>
            </a:lvl1pPr>
            <a:lvl2pPr algn="ctr">
              <a:defRPr sz="1500" b="1" i="0">
                <a:solidFill>
                  <a:srgbClr val="238A7A"/>
                </a:solidFill>
              </a:defRPr>
            </a:lvl2pPr>
            <a:lvl3pPr algn="ctr">
              <a:defRPr sz="1500" b="1" i="0">
                <a:solidFill>
                  <a:srgbClr val="238A7A"/>
                </a:solidFill>
              </a:defRPr>
            </a:lvl3pPr>
            <a:lvl4pPr algn="ctr">
              <a:defRPr sz="1500" b="1" i="0">
                <a:solidFill>
                  <a:srgbClr val="238A7A"/>
                </a:solidFill>
              </a:defRPr>
            </a:lvl4pPr>
            <a:lvl5pPr algn="ctr">
              <a:defRPr sz="1500" b="1" i="0">
                <a:solidFill>
                  <a:srgbClr val="238A7A"/>
                </a:solidFill>
              </a:defRPr>
            </a:lvl5pPr>
            <a:lvl6pPr algn="ctr">
              <a:defRPr sz="1500" b="1" i="0">
                <a:solidFill>
                  <a:srgbClr val="238A7A"/>
                </a:solidFill>
              </a:defRPr>
            </a:lvl6pPr>
            <a:lvl7pPr algn="ctr">
              <a:defRPr sz="1500" b="1" i="0">
                <a:solidFill>
                  <a:srgbClr val="238A7A"/>
                </a:solidFill>
              </a:defRPr>
            </a:lvl7pPr>
            <a:lvl8pPr algn="ctr">
              <a:defRPr sz="1500" b="1" i="0">
                <a:solidFill>
                  <a:srgbClr val="238A7A"/>
                </a:solidFill>
              </a:defRPr>
            </a:lvl8pPr>
            <a:lvl9pPr algn="ctr">
              <a:defRPr sz="1500" b="1" i="0">
                <a:solidFill>
                  <a:srgbClr val="238A7A"/>
                </a:solidFill>
              </a:defRPr>
            </a:lvl9pPr>
          </a:lstStyle>
          <a:p xmlns:a="http://schemas.openxmlformats.org/drawingml/2006/main">
            <a:pPr algn="ctr">
              <a:defRPr sz="1500" b="1" i="0">
                <a:solidFill>
                  <a:srgbClr val="238A7A"/>
                </a:solidFill>
              </a:defRPr>
            </a:pPr>
            <a:r>
              <a:rPr sz="1500" b="1" i="0">
                <a:solidFill>
                  <a:srgbClr val="238A7A"/>
                </a:solidFill>
              </a:rPr>
              <a:t>Confusion principale</a:t>
            </a:r>
          </a:p>
        </p:txBody>
      </p:sp>
      <p:sp>
        <p:nvSpPr>
          <p:cNvPr id="11" name="">
            <a:extLst xmlns:a="http://schemas.openxmlformats.org/drawingml/2006/main">
              <a:ext uri="{FF2B5EF4-FFF2-40B4-BE49-F238E27FC236}">
                <a16:creationId xmlns:a16="http://schemas.microsoft.com/office/drawing/2014/main" id="{F02A7B1B-90FF-4BC1-8228-C05C28D2AD7D}"/>
              </a:ext>
            </a:extLst>
          </p:cNvPr>
          <p:cNvSpPr>
            <a:spLocks xmlns:a="http://schemas.openxmlformats.org/drawingml/2006/main" noGrp="1"/>
          </p:cNvSpPr>
          <p:nvPr/>
        </p:nvSpPr>
        <p:spPr>
          <a:xfrm xmlns:a="http://schemas.openxmlformats.org/drawingml/2006/main">
            <a:off x="8382000" y="4905375"/>
            <a:ext cx="257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i="0">
                <a:solidFill>
                  <a:srgbClr val="132238"/>
                </a:solidFill>
              </a:defRPr>
            </a:defPPr>
            <a:lvl1pPr algn="ctr">
              <a:defRPr sz="1800" b="1" i="0">
                <a:solidFill>
                  <a:srgbClr val="132238"/>
                </a:solidFill>
              </a:defRPr>
            </a:lvl1pPr>
            <a:lvl2pPr algn="ctr">
              <a:defRPr sz="1800" b="1" i="0">
                <a:solidFill>
                  <a:srgbClr val="132238"/>
                </a:solidFill>
              </a:defRPr>
            </a:lvl2pPr>
            <a:lvl3pPr algn="ctr">
              <a:defRPr sz="1800" b="1" i="0">
                <a:solidFill>
                  <a:srgbClr val="132238"/>
                </a:solidFill>
              </a:defRPr>
            </a:lvl3pPr>
            <a:lvl4pPr algn="ctr">
              <a:defRPr sz="1800" b="1" i="0">
                <a:solidFill>
                  <a:srgbClr val="132238"/>
                </a:solidFill>
              </a:defRPr>
            </a:lvl4pPr>
            <a:lvl5pPr algn="ctr">
              <a:defRPr sz="1800" b="1" i="0">
                <a:solidFill>
                  <a:srgbClr val="132238"/>
                </a:solidFill>
              </a:defRPr>
            </a:lvl5pPr>
            <a:lvl6pPr algn="ctr">
              <a:defRPr sz="1800" b="1" i="0">
                <a:solidFill>
                  <a:srgbClr val="132238"/>
                </a:solidFill>
              </a:defRPr>
            </a:lvl6pPr>
            <a:lvl7pPr algn="ctr">
              <a:defRPr sz="1800" b="1" i="0">
                <a:solidFill>
                  <a:srgbClr val="132238"/>
                </a:solidFill>
              </a:defRPr>
            </a:lvl7pPr>
            <a:lvl8pPr algn="ctr">
              <a:defRPr sz="1800" b="1" i="0">
                <a:solidFill>
                  <a:srgbClr val="132238"/>
                </a:solidFill>
              </a:defRPr>
            </a:lvl8pPr>
            <a:lvl9pPr algn="ctr">
              <a:defRPr sz="1800" b="1" i="0">
                <a:solidFill>
                  <a:srgbClr val="132238"/>
                </a:solidFill>
              </a:defRPr>
            </a:lvl9pPr>
          </a:lstStyle>
          <a:p xmlns:a="http://schemas.openxmlformats.org/drawingml/2006/main">
            <a:pPr algn="ctr">
              <a:defRPr sz="1800" b="1" i="0">
                <a:solidFill>
                  <a:srgbClr val="132238"/>
                </a:solidFill>
              </a:defRPr>
            </a:pPr>
            <a:r>
              <a:rPr sz="1800" b="1" i="0">
                <a:solidFill>
                  <a:srgbClr val="132238"/>
                </a:solidFill>
              </a:rPr>
              <a:t>Chemise classée</a:t>
            </a:r>
          </a:p>
          <a:p xmlns:a="http://schemas.openxmlformats.org/drawingml/2006/main">
            <a:pPr algn="ctr">
              <a:defRPr sz="1800" b="1" i="0">
                <a:solidFill>
                  <a:srgbClr val="132238"/>
                </a:solidFill>
              </a:defRPr>
            </a:pPr>
            <a:r>
              <a:rPr sz="1800" b="1" i="0">
                <a:solidFill>
                  <a:srgbClr val="132238"/>
                </a:solidFill>
              </a:rPr>
              <a:t>T-shirt / haut</a:t>
            </a:r>
          </a:p>
          <a:p xmlns:a="http://schemas.openxmlformats.org/drawingml/2006/main">
            <a:r>
              <a:t/>
            </a:r>
          </a:p>
          <a:p xmlns:a="http://schemas.openxmlformats.org/drawingml/2006/main">
            <a:pPr algn="ctr">
              <a:defRPr sz="1800" b="1" i="0">
                <a:solidFill>
                  <a:srgbClr val="132238"/>
                </a:solidFill>
              </a:defRPr>
            </a:pPr>
            <a:r>
              <a:rPr sz="1800" b="1" i="0">
                <a:solidFill>
                  <a:srgbClr val="132238"/>
                </a:solidFill>
              </a:rPr>
              <a:t>115 images</a:t>
            </a:r>
          </a:p>
        </p:txBody>
      </p:sp>
    </p:spTree>
    <p:extLst>
      <p:ext uri="{BB962C8B-B14F-4D97-AF65-F5344CB8AC3E}">
        <p14:creationId xmlns:p14="http://schemas.microsoft.com/office/powerpoint/2010/main" val="1663578556"/>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EB4B2814-793C-492E-95A5-6AE79C35DB6C}"/>
              </a:ext>
            </a:extLst>
          </p:cNvPr>
          <p:cNvCxnSpPr>
            <a:stCxn xmlns:a="http://schemas.openxmlformats.org/drawingml/2006/main" id="15" idx="3"/>
            <a:endCxn xmlns:a="http://schemas.openxmlformats.org/drawingml/2006/main" id="16" idx="1"/>
          </p:cNvCxnSpPr>
          <p:nvPr/>
        </p:nvCxnSpPr>
        <p:spPr>
          <a:xfrm xmlns:a="http://schemas.openxmlformats.org/drawingml/2006/main">
            <a:off x="5524500" y="4105275"/>
            <a:ext cx="952500" cy="0"/>
          </a:xfrm>
          <a:prstGeom xmlns:a="http://schemas.openxmlformats.org/drawingml/2006/main" prst="straightConnector1">
            <a:avLst/>
          </a:prstGeom>
          <a:ln xmlns:a="http://schemas.openxmlformats.org/drawingml/2006/main" w="19050">
            <a:solidFill>
              <a:srgbClr val="6757B8"/>
            </a:solidFill>
            <a:prstDash val="solid"/>
          </a:ln>
        </p:spPr>
      </p:cxnSp>
      <p:cxnSp>
        <p:nvCxnSpPr>
          <p:cNvPr id="18" name="">
            <a:extLst xmlns:a="http://schemas.openxmlformats.org/drawingml/2006/main">
              <a:ext uri="{FF2B5EF4-FFF2-40B4-BE49-F238E27FC236}">
                <a16:creationId xmlns:a16="http://schemas.microsoft.com/office/drawing/2014/main" id="{3346F962-2AD1-4DB4-86C4-2EDA5D66A106}"/>
              </a:ext>
            </a:extLst>
          </p:cNvPr>
          <p:cNvCxnSpPr>
            <a:stCxn xmlns:a="http://schemas.openxmlformats.org/drawingml/2006/main" id="14" idx="3"/>
            <a:endCxn xmlns:a="http://schemas.openxmlformats.org/drawingml/2006/main" id="15" idx="1"/>
          </p:cNvCxnSpPr>
          <p:nvPr/>
        </p:nvCxnSpPr>
        <p:spPr>
          <a:xfrm xmlns:a="http://schemas.openxmlformats.org/drawingml/2006/main">
            <a:off x="3810000" y="4105275"/>
            <a:ext cx="285750" cy="0"/>
          </a:xfrm>
          <a:prstGeom xmlns:a="http://schemas.openxmlformats.org/drawingml/2006/main" prst="straightConnector1">
            <a:avLst/>
          </a:prstGeom>
          <a:ln xmlns:a="http://schemas.openxmlformats.org/drawingml/2006/main" w="19050">
            <a:solidFill>
              <a:srgbClr val="6757B8"/>
            </a:solidFill>
            <a:prstDash val="solid"/>
          </a:ln>
        </p:spPr>
      </p:cxnSp>
      <p:cxnSp>
        <p:nvCxnSpPr>
          <p:cNvPr id="17" name="">
            <a:extLst xmlns:a="http://schemas.openxmlformats.org/drawingml/2006/main">
              <a:ext uri="{FF2B5EF4-FFF2-40B4-BE49-F238E27FC236}">
                <a16:creationId xmlns:a16="http://schemas.microsoft.com/office/drawing/2014/main" id="{C4AF2A3A-3D6A-4950-AF51-C2F080CAB043}"/>
              </a:ext>
            </a:extLst>
          </p:cNvPr>
          <p:cNvCxnSpPr>
            <a:stCxn xmlns:a="http://schemas.openxmlformats.org/drawingml/2006/main" id="13" idx="3"/>
            <a:endCxn xmlns:a="http://schemas.openxmlformats.org/drawingml/2006/main" id="14" idx="1"/>
          </p:cNvCxnSpPr>
          <p:nvPr/>
        </p:nvCxnSpPr>
        <p:spPr>
          <a:xfrm xmlns:a="http://schemas.openxmlformats.org/drawingml/2006/main">
            <a:off x="2095500" y="4105275"/>
            <a:ext cx="285750" cy="0"/>
          </a:xfrm>
          <a:prstGeom xmlns:a="http://schemas.openxmlformats.org/drawingml/2006/main" prst="straightConnector1">
            <a:avLst/>
          </a:prstGeom>
          <a:ln xmlns:a="http://schemas.openxmlformats.org/drawingml/2006/main" w="19050">
            <a:solidFill>
              <a:srgbClr val="6757B8"/>
            </a:solidFill>
            <a:prstDash val="solid"/>
          </a:ln>
        </p:spPr>
      </p:cxnSp>
      <p:sp>
        <p:nvSpPr>
          <p:cNvPr id="22" name="">
            <a:extLst xmlns:a="http://schemas.openxmlformats.org/drawingml/2006/main">
              <a:ext uri="{FF2B5EF4-FFF2-40B4-BE49-F238E27FC236}">
                <a16:creationId xmlns:a16="http://schemas.microsoft.com/office/drawing/2014/main" id="{86C2ADEA-5D76-4FBD-976C-D244EA128C91}"/>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i="0">
                <a:solidFill>
                  <a:srgbClr val="132238"/>
                </a:solidFill>
              </a:defRPr>
            </a:defPPr>
            <a:lvl1pPr algn="l">
              <a:defRPr sz="2850" b="1" i="0">
                <a:solidFill>
                  <a:srgbClr val="132238"/>
                </a:solidFill>
              </a:defRPr>
            </a:lvl1pPr>
            <a:lvl2pPr algn="l">
              <a:defRPr sz="2850" b="1" i="0">
                <a:solidFill>
                  <a:srgbClr val="132238"/>
                </a:solidFill>
              </a:defRPr>
            </a:lvl2pPr>
            <a:lvl3pPr algn="l">
              <a:defRPr sz="2850" b="1" i="0">
                <a:solidFill>
                  <a:srgbClr val="132238"/>
                </a:solidFill>
              </a:defRPr>
            </a:lvl3pPr>
            <a:lvl4pPr algn="l">
              <a:defRPr sz="2850" b="1" i="0">
                <a:solidFill>
                  <a:srgbClr val="132238"/>
                </a:solidFill>
              </a:defRPr>
            </a:lvl4pPr>
            <a:lvl5pPr algn="l">
              <a:defRPr sz="2850" b="1" i="0">
                <a:solidFill>
                  <a:srgbClr val="132238"/>
                </a:solidFill>
              </a:defRPr>
            </a:lvl5pPr>
            <a:lvl6pPr algn="l">
              <a:defRPr sz="2850" b="1" i="0">
                <a:solidFill>
                  <a:srgbClr val="132238"/>
                </a:solidFill>
              </a:defRPr>
            </a:lvl6pPr>
            <a:lvl7pPr algn="l">
              <a:defRPr sz="2850" b="1" i="0">
                <a:solidFill>
                  <a:srgbClr val="132238"/>
                </a:solidFill>
              </a:defRPr>
            </a:lvl7pPr>
            <a:lvl8pPr algn="l">
              <a:defRPr sz="2850" b="1" i="0">
                <a:solidFill>
                  <a:srgbClr val="132238"/>
                </a:solidFill>
              </a:defRPr>
            </a:lvl8pPr>
            <a:lvl9pPr algn="l">
              <a:defRPr sz="2850" b="1" i="0">
                <a:solidFill>
                  <a:srgbClr val="132238"/>
                </a:solidFill>
              </a:defRPr>
            </a:lvl9pPr>
          </a:lstStyle>
          <a:p xmlns:a="http://schemas.openxmlformats.org/drawingml/2006/main">
            <a:pPr algn="l">
              <a:defRPr sz="2850" b="1" i="0">
                <a:solidFill>
                  <a:srgbClr val="132238"/>
                </a:solidFill>
              </a:defRPr>
            </a:pPr>
            <a:r>
              <a:rPr sz="2850" b="1" i="0">
                <a:solidFill>
                  <a:srgbClr val="132238"/>
                </a:solidFill>
              </a:rPr>
              <a:t>Victor Hugo : le découpage par poème évite la fuite</a:t>
            </a:r>
          </a:p>
        </p:txBody>
      </p:sp>
      <p:sp>
        <p:nvSpPr>
          <p:cNvPr id="2" name="">
            <a:extLst xmlns:a="http://schemas.openxmlformats.org/drawingml/2006/main">
              <a:ext uri="{FF2B5EF4-FFF2-40B4-BE49-F238E27FC236}">
                <a16:creationId xmlns:a16="http://schemas.microsoft.com/office/drawing/2014/main" id="{CC8D0DBE-A2B9-43E0-B589-A1DE26C9B20C}"/>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6757B8"/>
          </a:solidFill>
          <a:ln xmlns:a="http://schemas.openxmlformats.org/drawingml/2006/main" w="0">
            <a:solidFill>
              <a:srgbClr val="6757B8"/>
            </a:solidFill>
            <a:prstDash val="solid"/>
          </a:ln>
        </p:spPr>
      </p:sp>
      <p:sp>
        <p:nvSpPr>
          <p:cNvPr id="3" name="">
            <a:extLst xmlns:a="http://schemas.openxmlformats.org/drawingml/2006/main">
              <a:ext uri="{FF2B5EF4-FFF2-40B4-BE49-F238E27FC236}">
                <a16:creationId xmlns:a16="http://schemas.microsoft.com/office/drawing/2014/main" id="{BB522206-5F09-4A94-B09B-5C8E8D6F8F02}"/>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08</a:t>
            </a:r>
          </a:p>
        </p:txBody>
      </p:sp>
      <p:sp>
        <p:nvSpPr>
          <p:cNvPr id="4" name="">
            <a:extLst xmlns:a="http://schemas.openxmlformats.org/drawingml/2006/main">
              <a:ext uri="{FF2B5EF4-FFF2-40B4-BE49-F238E27FC236}">
                <a16:creationId xmlns:a16="http://schemas.microsoft.com/office/drawing/2014/main" id="{64E07984-938F-4655-90F9-29E3523B2DCA}"/>
              </a:ext>
            </a:extLst>
          </p:cNvPr>
          <p:cNvSpPr>
            <a:spLocks xmlns:a="http://schemas.openxmlformats.org/drawingml/2006/main" noGrp="1"/>
          </p:cNvSpPr>
          <p:nvPr/>
        </p:nvSpPr>
        <p:spPr>
          <a:xfrm xmlns:a="http://schemas.openxmlformats.org/drawingml/2006/main">
            <a:off x="666750" y="1381125"/>
            <a:ext cx="200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6757B8"/>
                </a:solidFill>
              </a:defRPr>
            </a:defPPr>
            <a:lvl1pPr algn="ctr">
              <a:defRPr sz="3450" b="1" i="0">
                <a:solidFill>
                  <a:srgbClr val="6757B8"/>
                </a:solidFill>
              </a:defRPr>
            </a:lvl1pPr>
            <a:lvl2pPr algn="ctr">
              <a:defRPr sz="3450" b="1" i="0">
                <a:solidFill>
                  <a:srgbClr val="6757B8"/>
                </a:solidFill>
              </a:defRPr>
            </a:lvl2pPr>
            <a:lvl3pPr algn="ctr">
              <a:defRPr sz="3450" b="1" i="0">
                <a:solidFill>
                  <a:srgbClr val="6757B8"/>
                </a:solidFill>
              </a:defRPr>
            </a:lvl3pPr>
            <a:lvl4pPr algn="ctr">
              <a:defRPr sz="3450" b="1" i="0">
                <a:solidFill>
                  <a:srgbClr val="6757B8"/>
                </a:solidFill>
              </a:defRPr>
            </a:lvl4pPr>
            <a:lvl5pPr algn="ctr">
              <a:defRPr sz="3450" b="1" i="0">
                <a:solidFill>
                  <a:srgbClr val="6757B8"/>
                </a:solidFill>
              </a:defRPr>
            </a:lvl5pPr>
            <a:lvl6pPr algn="ctr">
              <a:defRPr sz="3450" b="1" i="0">
                <a:solidFill>
                  <a:srgbClr val="6757B8"/>
                </a:solidFill>
              </a:defRPr>
            </a:lvl6pPr>
            <a:lvl7pPr algn="ctr">
              <a:defRPr sz="3450" b="1" i="0">
                <a:solidFill>
                  <a:srgbClr val="6757B8"/>
                </a:solidFill>
              </a:defRPr>
            </a:lvl7pPr>
            <a:lvl8pPr algn="ctr">
              <a:defRPr sz="3450" b="1" i="0">
                <a:solidFill>
                  <a:srgbClr val="6757B8"/>
                </a:solidFill>
              </a:defRPr>
            </a:lvl8pPr>
            <a:lvl9pPr algn="ctr">
              <a:defRPr sz="3450" b="1" i="0">
                <a:solidFill>
                  <a:srgbClr val="6757B8"/>
                </a:solidFill>
              </a:defRPr>
            </a:lvl9pPr>
          </a:lstStyle>
          <a:p xmlns:a="http://schemas.openxmlformats.org/drawingml/2006/main">
            <a:pPr algn="ctr">
              <a:defRPr sz="3450" b="1" i="0">
                <a:solidFill>
                  <a:srgbClr val="6757B8"/>
                </a:solidFill>
              </a:defRPr>
            </a:pPr>
            <a:r>
              <a:rPr sz="3450" b="1" i="0">
                <a:solidFill>
                  <a:srgbClr val="6757B8"/>
                </a:solidFill>
              </a:rPr>
              <a:t>48</a:t>
            </a:r>
          </a:p>
        </p:txBody>
      </p:sp>
      <p:sp>
        <p:nvSpPr>
          <p:cNvPr id="5" name="">
            <a:extLst xmlns:a="http://schemas.openxmlformats.org/drawingml/2006/main">
              <a:ext uri="{FF2B5EF4-FFF2-40B4-BE49-F238E27FC236}">
                <a16:creationId xmlns:a16="http://schemas.microsoft.com/office/drawing/2014/main" id="{B3BB50A4-6CEB-4971-A176-B30B08F73D69}"/>
              </a:ext>
            </a:extLst>
          </p:cNvPr>
          <p:cNvSpPr>
            <a:spLocks xmlns:a="http://schemas.openxmlformats.org/drawingml/2006/main" noGrp="1"/>
          </p:cNvSpPr>
          <p:nvPr/>
        </p:nvSpPr>
        <p:spPr>
          <a:xfrm xmlns:a="http://schemas.openxmlformats.org/drawingml/2006/main">
            <a:off x="666750" y="1971675"/>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poèmes reconstruits</a:t>
            </a:r>
          </a:p>
        </p:txBody>
      </p:sp>
      <p:sp>
        <p:nvSpPr>
          <p:cNvPr id="6" name="">
            <a:extLst xmlns:a="http://schemas.openxmlformats.org/drawingml/2006/main">
              <a:ext uri="{FF2B5EF4-FFF2-40B4-BE49-F238E27FC236}">
                <a16:creationId xmlns:a16="http://schemas.microsoft.com/office/drawing/2014/main" id="{21B5D3CA-BB86-43EA-BA53-DE44A1D04A92}"/>
              </a:ext>
            </a:extLst>
          </p:cNvPr>
          <p:cNvSpPr>
            <a:spLocks xmlns:a="http://schemas.openxmlformats.org/drawingml/2006/main" noGrp="1"/>
          </p:cNvSpPr>
          <p:nvPr/>
        </p:nvSpPr>
        <p:spPr>
          <a:xfrm xmlns:a="http://schemas.openxmlformats.org/drawingml/2006/main">
            <a:off x="2952750" y="1381125"/>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6757B8"/>
                </a:solidFill>
              </a:defRPr>
            </a:defPPr>
            <a:lvl1pPr algn="ctr">
              <a:defRPr sz="3450" b="1" i="0">
                <a:solidFill>
                  <a:srgbClr val="6757B8"/>
                </a:solidFill>
              </a:defRPr>
            </a:lvl1pPr>
            <a:lvl2pPr algn="ctr">
              <a:defRPr sz="3450" b="1" i="0">
                <a:solidFill>
                  <a:srgbClr val="6757B8"/>
                </a:solidFill>
              </a:defRPr>
            </a:lvl2pPr>
            <a:lvl3pPr algn="ctr">
              <a:defRPr sz="3450" b="1" i="0">
                <a:solidFill>
                  <a:srgbClr val="6757B8"/>
                </a:solidFill>
              </a:defRPr>
            </a:lvl3pPr>
            <a:lvl4pPr algn="ctr">
              <a:defRPr sz="3450" b="1" i="0">
                <a:solidFill>
                  <a:srgbClr val="6757B8"/>
                </a:solidFill>
              </a:defRPr>
            </a:lvl4pPr>
            <a:lvl5pPr algn="ctr">
              <a:defRPr sz="3450" b="1" i="0">
                <a:solidFill>
                  <a:srgbClr val="6757B8"/>
                </a:solidFill>
              </a:defRPr>
            </a:lvl5pPr>
            <a:lvl6pPr algn="ctr">
              <a:defRPr sz="3450" b="1" i="0">
                <a:solidFill>
                  <a:srgbClr val="6757B8"/>
                </a:solidFill>
              </a:defRPr>
            </a:lvl6pPr>
            <a:lvl7pPr algn="ctr">
              <a:defRPr sz="3450" b="1" i="0">
                <a:solidFill>
                  <a:srgbClr val="6757B8"/>
                </a:solidFill>
              </a:defRPr>
            </a:lvl7pPr>
            <a:lvl8pPr algn="ctr">
              <a:defRPr sz="3450" b="1" i="0">
                <a:solidFill>
                  <a:srgbClr val="6757B8"/>
                </a:solidFill>
              </a:defRPr>
            </a:lvl8pPr>
            <a:lvl9pPr algn="ctr">
              <a:defRPr sz="3450" b="1" i="0">
                <a:solidFill>
                  <a:srgbClr val="6757B8"/>
                </a:solidFill>
              </a:defRPr>
            </a:lvl9pPr>
          </a:lstStyle>
          <a:p xmlns:a="http://schemas.openxmlformats.org/drawingml/2006/main">
            <a:pPr algn="ctr">
              <a:defRPr sz="3450" b="1" i="0">
                <a:solidFill>
                  <a:srgbClr val="6757B8"/>
                </a:solidFill>
              </a:defRPr>
            </a:pPr>
            <a:r>
              <a:rPr sz="3450" b="1" i="0">
                <a:solidFill>
                  <a:srgbClr val="6757B8"/>
                </a:solidFill>
              </a:rPr>
              <a:t>34 / 7 / 7</a:t>
            </a:r>
          </a:p>
        </p:txBody>
      </p:sp>
      <p:sp>
        <p:nvSpPr>
          <p:cNvPr id="7" name="">
            <a:extLst xmlns:a="http://schemas.openxmlformats.org/drawingml/2006/main">
              <a:ext uri="{FF2B5EF4-FFF2-40B4-BE49-F238E27FC236}">
                <a16:creationId xmlns:a16="http://schemas.microsoft.com/office/drawing/2014/main" id="{0C6599CE-1474-4B20-B555-AE20BC38F523}"/>
              </a:ext>
            </a:extLst>
          </p:cNvPr>
          <p:cNvSpPr>
            <a:spLocks xmlns:a="http://schemas.openxmlformats.org/drawingml/2006/main" noGrp="1"/>
          </p:cNvSpPr>
          <p:nvPr/>
        </p:nvSpPr>
        <p:spPr>
          <a:xfrm xmlns:a="http://schemas.openxmlformats.org/drawingml/2006/main">
            <a:off x="2952750" y="1971675"/>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poèmes train, validation et test</a:t>
            </a:r>
          </a:p>
        </p:txBody>
      </p:sp>
      <p:sp>
        <p:nvSpPr>
          <p:cNvPr id="8" name="">
            <a:extLst xmlns:a="http://schemas.openxmlformats.org/drawingml/2006/main">
              <a:ext uri="{FF2B5EF4-FFF2-40B4-BE49-F238E27FC236}">
                <a16:creationId xmlns:a16="http://schemas.microsoft.com/office/drawing/2014/main" id="{15A56D7C-206E-4555-BE56-0B72190174B1}"/>
              </a:ext>
            </a:extLst>
          </p:cNvPr>
          <p:cNvSpPr>
            <a:spLocks xmlns:a="http://schemas.openxmlformats.org/drawingml/2006/main" noGrp="1"/>
          </p:cNvSpPr>
          <p:nvPr/>
        </p:nvSpPr>
        <p:spPr>
          <a:xfrm xmlns:a="http://schemas.openxmlformats.org/drawingml/2006/main">
            <a:off x="6191250" y="1381125"/>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6757B8"/>
                </a:solidFill>
              </a:defRPr>
            </a:defPPr>
            <a:lvl1pPr algn="ctr">
              <a:defRPr sz="3450" b="1" i="0">
                <a:solidFill>
                  <a:srgbClr val="6757B8"/>
                </a:solidFill>
              </a:defRPr>
            </a:lvl1pPr>
            <a:lvl2pPr algn="ctr">
              <a:defRPr sz="3450" b="1" i="0">
                <a:solidFill>
                  <a:srgbClr val="6757B8"/>
                </a:solidFill>
              </a:defRPr>
            </a:lvl2pPr>
            <a:lvl3pPr algn="ctr">
              <a:defRPr sz="3450" b="1" i="0">
                <a:solidFill>
                  <a:srgbClr val="6757B8"/>
                </a:solidFill>
              </a:defRPr>
            </a:lvl3pPr>
            <a:lvl4pPr algn="ctr">
              <a:defRPr sz="3450" b="1" i="0">
                <a:solidFill>
                  <a:srgbClr val="6757B8"/>
                </a:solidFill>
              </a:defRPr>
            </a:lvl4pPr>
            <a:lvl5pPr algn="ctr">
              <a:defRPr sz="3450" b="1" i="0">
                <a:solidFill>
                  <a:srgbClr val="6757B8"/>
                </a:solidFill>
              </a:defRPr>
            </a:lvl5pPr>
            <a:lvl6pPr algn="ctr">
              <a:defRPr sz="3450" b="1" i="0">
                <a:solidFill>
                  <a:srgbClr val="6757B8"/>
                </a:solidFill>
              </a:defRPr>
            </a:lvl6pPr>
            <a:lvl7pPr algn="ctr">
              <a:defRPr sz="3450" b="1" i="0">
                <a:solidFill>
                  <a:srgbClr val="6757B8"/>
                </a:solidFill>
              </a:defRPr>
            </a:lvl7pPr>
            <a:lvl8pPr algn="ctr">
              <a:defRPr sz="3450" b="1" i="0">
                <a:solidFill>
                  <a:srgbClr val="6757B8"/>
                </a:solidFill>
              </a:defRPr>
            </a:lvl8pPr>
            <a:lvl9pPr algn="ctr">
              <a:defRPr sz="3450" b="1" i="0">
                <a:solidFill>
                  <a:srgbClr val="6757B8"/>
                </a:solidFill>
              </a:defRPr>
            </a:lvl9pPr>
          </a:lstStyle>
          <a:p xmlns:a="http://schemas.openxmlformats.org/drawingml/2006/main">
            <a:pPr algn="ctr">
              <a:defRPr sz="3450" b="1" i="0">
                <a:solidFill>
                  <a:srgbClr val="6757B8"/>
                </a:solidFill>
              </a:defRPr>
            </a:pPr>
            <a:r>
              <a:rPr sz="3450" b="1" i="0">
                <a:solidFill>
                  <a:srgbClr val="6757B8"/>
                </a:solidFill>
              </a:rPr>
              <a:t>3 203</a:t>
            </a:r>
          </a:p>
        </p:txBody>
      </p:sp>
      <p:sp>
        <p:nvSpPr>
          <p:cNvPr id="9" name="">
            <a:extLst xmlns:a="http://schemas.openxmlformats.org/drawingml/2006/main">
              <a:ext uri="{FF2B5EF4-FFF2-40B4-BE49-F238E27FC236}">
                <a16:creationId xmlns:a16="http://schemas.microsoft.com/office/drawing/2014/main" id="{45819CA1-B6E9-48D7-8139-113A3AF9FD9C}"/>
              </a:ext>
            </a:extLst>
          </p:cNvPr>
          <p:cNvSpPr>
            <a:spLocks xmlns:a="http://schemas.openxmlformats.org/drawingml/2006/main" noGrp="1"/>
          </p:cNvSpPr>
          <p:nvPr/>
        </p:nvSpPr>
        <p:spPr>
          <a:xfrm xmlns:a="http://schemas.openxmlformats.org/drawingml/2006/main">
            <a:off x="6191250" y="1971675"/>
            <a:ext cx="238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éléments dans le vocabulaire</a:t>
            </a:r>
          </a:p>
        </p:txBody>
      </p:sp>
      <p:sp>
        <p:nvSpPr>
          <p:cNvPr id="10" name="">
            <a:extLst xmlns:a="http://schemas.openxmlformats.org/drawingml/2006/main">
              <a:ext uri="{FF2B5EF4-FFF2-40B4-BE49-F238E27FC236}">
                <a16:creationId xmlns:a16="http://schemas.microsoft.com/office/drawing/2014/main" id="{A26F4A92-3E39-48F5-B437-23E8F7E6B6E5}"/>
              </a:ext>
            </a:extLst>
          </p:cNvPr>
          <p:cNvSpPr>
            <a:spLocks xmlns:a="http://schemas.openxmlformats.org/drawingml/2006/main" noGrp="1"/>
          </p:cNvSpPr>
          <p:nvPr/>
        </p:nvSpPr>
        <p:spPr>
          <a:xfrm xmlns:a="http://schemas.openxmlformats.org/drawingml/2006/main">
            <a:off x="8953500" y="1381125"/>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B94A48"/>
                </a:solidFill>
              </a:defRPr>
            </a:defPPr>
            <a:lvl1pPr algn="ctr">
              <a:defRPr sz="3450" b="1" i="0">
                <a:solidFill>
                  <a:srgbClr val="B94A48"/>
                </a:solidFill>
              </a:defRPr>
            </a:lvl1pPr>
            <a:lvl2pPr algn="ctr">
              <a:defRPr sz="3450" b="1" i="0">
                <a:solidFill>
                  <a:srgbClr val="B94A48"/>
                </a:solidFill>
              </a:defRPr>
            </a:lvl2pPr>
            <a:lvl3pPr algn="ctr">
              <a:defRPr sz="3450" b="1" i="0">
                <a:solidFill>
                  <a:srgbClr val="B94A48"/>
                </a:solidFill>
              </a:defRPr>
            </a:lvl3pPr>
            <a:lvl4pPr algn="ctr">
              <a:defRPr sz="3450" b="1" i="0">
                <a:solidFill>
                  <a:srgbClr val="B94A48"/>
                </a:solidFill>
              </a:defRPr>
            </a:lvl4pPr>
            <a:lvl5pPr algn="ctr">
              <a:defRPr sz="3450" b="1" i="0">
                <a:solidFill>
                  <a:srgbClr val="B94A48"/>
                </a:solidFill>
              </a:defRPr>
            </a:lvl5pPr>
            <a:lvl6pPr algn="ctr">
              <a:defRPr sz="3450" b="1" i="0">
                <a:solidFill>
                  <a:srgbClr val="B94A48"/>
                </a:solidFill>
              </a:defRPr>
            </a:lvl6pPr>
            <a:lvl7pPr algn="ctr">
              <a:defRPr sz="3450" b="1" i="0">
                <a:solidFill>
                  <a:srgbClr val="B94A48"/>
                </a:solidFill>
              </a:defRPr>
            </a:lvl7pPr>
            <a:lvl8pPr algn="ctr">
              <a:defRPr sz="3450" b="1" i="0">
                <a:solidFill>
                  <a:srgbClr val="B94A48"/>
                </a:solidFill>
              </a:defRPr>
            </a:lvl8pPr>
            <a:lvl9pPr algn="ctr">
              <a:defRPr sz="3450" b="1" i="0">
                <a:solidFill>
                  <a:srgbClr val="B94A48"/>
                </a:solidFill>
              </a:defRPr>
            </a:lvl9pPr>
          </a:lstStyle>
          <a:p xmlns:a="http://schemas.openxmlformats.org/drawingml/2006/main">
            <a:pPr algn="ctr">
              <a:defRPr sz="3450" b="1" i="0">
                <a:solidFill>
                  <a:srgbClr val="B94A48"/>
                </a:solidFill>
              </a:defRPr>
            </a:pPr>
            <a:r>
              <a:rPr sz="3450" b="1" i="0">
                <a:solidFill>
                  <a:srgbClr val="B94A48"/>
                </a:solidFill>
              </a:rPr>
              <a:t>19,3 %</a:t>
            </a:r>
          </a:p>
        </p:txBody>
      </p:sp>
      <p:sp>
        <p:nvSpPr>
          <p:cNvPr id="11" name="">
            <a:extLst xmlns:a="http://schemas.openxmlformats.org/drawingml/2006/main">
              <a:ext uri="{FF2B5EF4-FFF2-40B4-BE49-F238E27FC236}">
                <a16:creationId xmlns:a16="http://schemas.microsoft.com/office/drawing/2014/main" id="{263AB089-A460-4DED-9FA5-547C44F0A2AC}"/>
              </a:ext>
            </a:extLst>
          </p:cNvPr>
          <p:cNvSpPr>
            <a:spLocks xmlns:a="http://schemas.openxmlformats.org/drawingml/2006/main" noGrp="1"/>
          </p:cNvSpPr>
          <p:nvPr/>
        </p:nvSpPr>
        <p:spPr>
          <a:xfrm xmlns:a="http://schemas.openxmlformats.org/drawingml/2006/main">
            <a:off x="8953500" y="19716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mots hors vocabulaire en validation</a:t>
            </a:r>
          </a:p>
        </p:txBody>
      </p:sp>
      <p:sp>
        <p:nvSpPr>
          <p:cNvPr id="12" name="">
            <a:extLst xmlns:a="http://schemas.openxmlformats.org/drawingml/2006/main">
              <a:ext uri="{FF2B5EF4-FFF2-40B4-BE49-F238E27FC236}">
                <a16:creationId xmlns:a16="http://schemas.microsoft.com/office/drawing/2014/main" id="{E95F3C8F-71C4-4862-AAFE-521CDC13534F}"/>
              </a:ext>
            </a:extLst>
          </p:cNvPr>
          <p:cNvSpPr>
            <a:spLocks xmlns:a="http://schemas.openxmlformats.org/drawingml/2006/main" noGrp="1"/>
          </p:cNvSpPr>
          <p:nvPr/>
        </p:nvSpPr>
        <p:spPr>
          <a:xfrm xmlns:a="http://schemas.openxmlformats.org/drawingml/2006/main">
            <a:off x="666750" y="31432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800" b="1" i="0">
                <a:solidFill>
                  <a:srgbClr val="6757B8"/>
                </a:solidFill>
              </a:defRPr>
            </a:defPPr>
            <a:lvl1pPr algn="l">
              <a:defRPr sz="1800" b="1" i="0">
                <a:solidFill>
                  <a:srgbClr val="6757B8"/>
                </a:solidFill>
              </a:defRPr>
            </a:lvl1pPr>
            <a:lvl2pPr algn="l">
              <a:defRPr sz="1800" b="1" i="0">
                <a:solidFill>
                  <a:srgbClr val="6757B8"/>
                </a:solidFill>
              </a:defRPr>
            </a:lvl2pPr>
            <a:lvl3pPr algn="l">
              <a:defRPr sz="1800" b="1" i="0">
                <a:solidFill>
                  <a:srgbClr val="6757B8"/>
                </a:solidFill>
              </a:defRPr>
            </a:lvl3pPr>
            <a:lvl4pPr algn="l">
              <a:defRPr sz="1800" b="1" i="0">
                <a:solidFill>
                  <a:srgbClr val="6757B8"/>
                </a:solidFill>
              </a:defRPr>
            </a:lvl4pPr>
            <a:lvl5pPr algn="l">
              <a:defRPr sz="1800" b="1" i="0">
                <a:solidFill>
                  <a:srgbClr val="6757B8"/>
                </a:solidFill>
              </a:defRPr>
            </a:lvl5pPr>
            <a:lvl6pPr algn="l">
              <a:defRPr sz="1800" b="1" i="0">
                <a:solidFill>
                  <a:srgbClr val="6757B8"/>
                </a:solidFill>
              </a:defRPr>
            </a:lvl6pPr>
            <a:lvl7pPr algn="l">
              <a:defRPr sz="1800" b="1" i="0">
                <a:solidFill>
                  <a:srgbClr val="6757B8"/>
                </a:solidFill>
              </a:defRPr>
            </a:lvl7pPr>
            <a:lvl8pPr algn="l">
              <a:defRPr sz="1800" b="1" i="0">
                <a:solidFill>
                  <a:srgbClr val="6757B8"/>
                </a:solidFill>
              </a:defRPr>
            </a:lvl8pPr>
            <a:lvl9pPr algn="l">
              <a:defRPr sz="1800" b="1" i="0">
                <a:solidFill>
                  <a:srgbClr val="6757B8"/>
                </a:solidFill>
              </a:defRPr>
            </a:lvl9pPr>
          </a:lstStyle>
          <a:p xmlns:a="http://schemas.openxmlformats.org/drawingml/2006/main">
            <a:pPr algn="l">
              <a:defRPr sz="1800" b="1" i="0">
                <a:solidFill>
                  <a:srgbClr val="6757B8"/>
                </a:solidFill>
              </a:defRPr>
            </a:pPr>
            <a:r>
              <a:rPr sz="1800" b="1" i="0">
                <a:solidFill>
                  <a:srgbClr val="6757B8"/>
                </a:solidFill>
              </a:rPr>
              <a:t>Fenêtre de prédiction</a:t>
            </a:r>
          </a:p>
        </p:txBody>
      </p:sp>
      <p:sp>
        <p:nvSpPr>
          <p:cNvPr id="13" name="">
            <a:extLst xmlns:a="http://schemas.openxmlformats.org/drawingml/2006/main">
              <a:ext uri="{FF2B5EF4-FFF2-40B4-BE49-F238E27FC236}">
                <a16:creationId xmlns:a16="http://schemas.microsoft.com/office/drawing/2014/main" id="{C8E81717-0DE0-40E7-B955-AEB77F75CA4E}"/>
              </a:ext>
            </a:extLst>
          </p:cNvPr>
          <p:cNvSpPr>
            <a:spLocks xmlns:a="http://schemas.openxmlformats.org/drawingml/2006/main" noGrp="1"/>
          </p:cNvSpPr>
          <p:nvPr/>
        </p:nvSpPr>
        <p:spPr>
          <a:xfrm xmlns:a="http://schemas.openxmlformats.org/drawingml/2006/main">
            <a:off x="666750" y="3762375"/>
            <a:ext cx="142875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19050">
            <a:solidFill>
              <a:srgbClr val="6757B8"/>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mot t−2</a:t>
            </a:r>
          </a:p>
        </p:txBody>
      </p:sp>
      <p:sp>
        <p:nvSpPr>
          <p:cNvPr id="14" name="">
            <a:extLst xmlns:a="http://schemas.openxmlformats.org/drawingml/2006/main">
              <a:ext uri="{FF2B5EF4-FFF2-40B4-BE49-F238E27FC236}">
                <a16:creationId xmlns:a16="http://schemas.microsoft.com/office/drawing/2014/main" id="{FCBDF53E-96D6-4836-A3F4-A778EBF48BFD}"/>
              </a:ext>
            </a:extLst>
          </p:cNvPr>
          <p:cNvSpPr>
            <a:spLocks xmlns:a="http://schemas.openxmlformats.org/drawingml/2006/main" noGrp="1"/>
          </p:cNvSpPr>
          <p:nvPr/>
        </p:nvSpPr>
        <p:spPr>
          <a:xfrm xmlns:a="http://schemas.openxmlformats.org/drawingml/2006/main">
            <a:off x="2381250" y="3762375"/>
            <a:ext cx="142875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19050">
            <a:solidFill>
              <a:srgbClr val="6757B8"/>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mot t−1</a:t>
            </a:r>
          </a:p>
        </p:txBody>
      </p:sp>
      <p:sp>
        <p:nvSpPr>
          <p:cNvPr id="15" name="">
            <a:extLst xmlns:a="http://schemas.openxmlformats.org/drawingml/2006/main">
              <a:ext uri="{FF2B5EF4-FFF2-40B4-BE49-F238E27FC236}">
                <a16:creationId xmlns:a16="http://schemas.microsoft.com/office/drawing/2014/main" id="{046FD913-A667-432E-903D-551E50547F97}"/>
              </a:ext>
            </a:extLst>
          </p:cNvPr>
          <p:cNvSpPr>
            <a:spLocks xmlns:a="http://schemas.openxmlformats.org/drawingml/2006/main" noGrp="1"/>
          </p:cNvSpPr>
          <p:nvPr/>
        </p:nvSpPr>
        <p:spPr>
          <a:xfrm xmlns:a="http://schemas.openxmlformats.org/drawingml/2006/main">
            <a:off x="4095750" y="3762375"/>
            <a:ext cx="142875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19050">
            <a:solidFill>
              <a:srgbClr val="6757B8"/>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mot t</a:t>
            </a:r>
          </a:p>
        </p:txBody>
      </p:sp>
      <p:sp>
        <p:nvSpPr>
          <p:cNvPr id="16" name="">
            <a:extLst xmlns:a="http://schemas.openxmlformats.org/drawingml/2006/main">
              <a:ext uri="{FF2B5EF4-FFF2-40B4-BE49-F238E27FC236}">
                <a16:creationId xmlns:a16="http://schemas.microsoft.com/office/drawing/2014/main" id="{6E7EF959-359B-4FB6-83AF-C51F9765B124}"/>
              </a:ext>
            </a:extLst>
          </p:cNvPr>
          <p:cNvSpPr>
            <a:spLocks xmlns:a="http://schemas.openxmlformats.org/drawingml/2006/main" noGrp="1"/>
          </p:cNvSpPr>
          <p:nvPr/>
        </p:nvSpPr>
        <p:spPr>
          <a:xfrm xmlns:a="http://schemas.openxmlformats.org/drawingml/2006/main">
            <a:off x="6477000" y="3667125"/>
            <a:ext cx="1809750" cy="876300"/>
          </a:xfrm>
          <a:prstGeom xmlns:a="http://schemas.openxmlformats.org/drawingml/2006/main" prst="roundRect">
            <a:avLst>
              <a:gd name="adj" fmla="val 8696"/>
            </a:avLst>
          </a:prstGeom>
          <a:solidFill xmlns:a="http://schemas.openxmlformats.org/drawingml/2006/main">
            <a:srgbClr val="EEEBFA"/>
          </a:solidFill>
          <a:ln xmlns:a="http://schemas.openxmlformats.org/drawingml/2006/main" w="19050">
            <a:solidFill>
              <a:srgbClr val="6757B8"/>
            </a:solidFill>
            <a:prstDash val="solid"/>
          </a:ln>
        </p:spPr>
        <p:txBody>
          <a:bodyPr xmlns:a="http://schemas.openxmlformats.org/drawingml/2006/main" anchor="ctr"/>
          <a:lstStyle xmlns:a="http://schemas.openxmlformats.org/drawingml/2006/main">
            <a:defPPr algn="ctr">
              <a:defRPr sz="1650" b="1">
                <a:solidFill>
                  <a:srgbClr val="132238"/>
                </a:solidFill>
              </a:defRPr>
            </a:defPPr>
            <a:lvl1pPr algn="ctr">
              <a:defRPr sz="1650" b="1">
                <a:solidFill>
                  <a:srgbClr val="132238"/>
                </a:solidFill>
              </a:defRPr>
            </a:lvl1pPr>
            <a:lvl2pPr algn="ctr">
              <a:defRPr sz="1650" b="1">
                <a:solidFill>
                  <a:srgbClr val="132238"/>
                </a:solidFill>
              </a:defRPr>
            </a:lvl2pPr>
            <a:lvl3pPr algn="ctr">
              <a:defRPr sz="1650" b="1">
                <a:solidFill>
                  <a:srgbClr val="132238"/>
                </a:solidFill>
              </a:defRPr>
            </a:lvl3pPr>
            <a:lvl4pPr algn="ctr">
              <a:defRPr sz="1650" b="1">
                <a:solidFill>
                  <a:srgbClr val="132238"/>
                </a:solidFill>
              </a:defRPr>
            </a:lvl4pPr>
            <a:lvl5pPr algn="ctr">
              <a:defRPr sz="1650" b="1">
                <a:solidFill>
                  <a:srgbClr val="132238"/>
                </a:solidFill>
              </a:defRPr>
            </a:lvl5pPr>
            <a:lvl6pPr algn="ctr">
              <a:defRPr sz="1650" b="1">
                <a:solidFill>
                  <a:srgbClr val="132238"/>
                </a:solidFill>
              </a:defRPr>
            </a:lvl6pPr>
            <a:lvl7pPr algn="ctr">
              <a:defRPr sz="1650" b="1">
                <a:solidFill>
                  <a:srgbClr val="132238"/>
                </a:solidFill>
              </a:defRPr>
            </a:lvl7pPr>
            <a:lvl8pPr algn="ctr">
              <a:defRPr sz="1650" b="1">
                <a:solidFill>
                  <a:srgbClr val="132238"/>
                </a:solidFill>
              </a:defRPr>
            </a:lvl8pPr>
            <a:lvl9pPr algn="ctr">
              <a:defRPr sz="1650" b="1">
                <a:solidFill>
                  <a:srgbClr val="132238"/>
                </a:solidFill>
              </a:defRPr>
            </a:lvl9pPr>
          </a:lstStyle>
          <a:p xmlns:a="http://schemas.openxmlformats.org/drawingml/2006/main">
            <a:pPr algn="ctr">
              <a:defRPr sz="1650" b="1">
                <a:solidFill>
                  <a:srgbClr val="132238"/>
                </a:solidFill>
              </a:defRPr>
            </a:pPr>
            <a:r>
              <a:rPr sz="1650" b="1">
                <a:solidFill>
                  <a:srgbClr val="132238"/>
                </a:solidFill>
              </a:rPr>
              <a:t>mot suivant</a:t>
            </a:r>
          </a:p>
        </p:txBody>
      </p:sp>
      <p:sp>
        <p:nvSpPr>
          <p:cNvPr id="20" name="">
            <a:extLst xmlns:a="http://schemas.openxmlformats.org/drawingml/2006/main">
              <a:ext uri="{FF2B5EF4-FFF2-40B4-BE49-F238E27FC236}">
                <a16:creationId xmlns:a16="http://schemas.microsoft.com/office/drawing/2014/main" id="{12BEB7F7-16C3-4F90-AB99-CB893F0A2E17}"/>
              </a:ext>
            </a:extLst>
          </p:cNvPr>
          <p:cNvSpPr>
            <a:spLocks xmlns:a="http://schemas.openxmlformats.org/drawingml/2006/main" noGrp="1"/>
          </p:cNvSpPr>
          <p:nvPr/>
        </p:nvSpPr>
        <p:spPr>
          <a:xfrm xmlns:a="http://schemas.openxmlformats.org/drawingml/2006/main">
            <a:off x="666750" y="4905375"/>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132238"/>
                </a:solidFill>
              </a:defRPr>
            </a:defPPr>
            <a:lvl1pPr algn="l">
              <a:defRPr sz="1575" b="1" i="0">
                <a:solidFill>
                  <a:srgbClr val="132238"/>
                </a:solidFill>
              </a:defRPr>
            </a:lvl1pPr>
            <a:lvl2pPr algn="l">
              <a:defRPr sz="1575" b="1" i="0">
                <a:solidFill>
                  <a:srgbClr val="132238"/>
                </a:solidFill>
              </a:defRPr>
            </a:lvl2pPr>
            <a:lvl3pPr algn="l">
              <a:defRPr sz="1575" b="1" i="0">
                <a:solidFill>
                  <a:srgbClr val="132238"/>
                </a:solidFill>
              </a:defRPr>
            </a:lvl3pPr>
            <a:lvl4pPr algn="l">
              <a:defRPr sz="1575" b="1" i="0">
                <a:solidFill>
                  <a:srgbClr val="132238"/>
                </a:solidFill>
              </a:defRPr>
            </a:lvl4pPr>
            <a:lvl5pPr algn="l">
              <a:defRPr sz="1575" b="1" i="0">
                <a:solidFill>
                  <a:srgbClr val="132238"/>
                </a:solidFill>
              </a:defRPr>
            </a:lvl5pPr>
            <a:lvl6pPr algn="l">
              <a:defRPr sz="1575" b="1" i="0">
                <a:solidFill>
                  <a:srgbClr val="132238"/>
                </a:solidFill>
              </a:defRPr>
            </a:lvl6pPr>
            <a:lvl7pPr algn="l">
              <a:defRPr sz="1575" b="1" i="0">
                <a:solidFill>
                  <a:srgbClr val="132238"/>
                </a:solidFill>
              </a:defRPr>
            </a:lvl7pPr>
            <a:lvl8pPr algn="l">
              <a:defRPr sz="1575" b="1" i="0">
                <a:solidFill>
                  <a:srgbClr val="132238"/>
                </a:solidFill>
              </a:defRPr>
            </a:lvl8pPr>
            <a:lvl9pPr algn="l">
              <a:defRPr sz="1575" b="1" i="0">
                <a:solidFill>
                  <a:srgbClr val="132238"/>
                </a:solidFill>
              </a:defRPr>
            </a:lvl9pPr>
          </a:lstStyle>
          <a:p xmlns:a="http://schemas.openxmlformats.org/drawingml/2006/main">
            <a:pPr algn="l">
              <a:defRPr sz="1575" b="1" i="0">
                <a:solidFill>
                  <a:srgbClr val="132238"/>
                </a:solidFill>
              </a:defRPr>
            </a:pPr>
            <a:r>
              <a:rPr sz="1575" b="1" i="0">
                <a:solidFill>
                  <a:srgbClr val="132238"/>
                </a:solidFill>
              </a:rPr>
              <a:t>Chaque poème est vectorisé séparément. Une fenêtre ne traverse jamais la frontière entre deux poèmes.</a:t>
            </a:r>
          </a:p>
        </p:txBody>
      </p:sp>
      <p:sp>
        <p:nvSpPr>
          <p:cNvPr id="21" name="">
            <a:extLst xmlns:a="http://schemas.openxmlformats.org/drawingml/2006/main">
              <a:ext uri="{FF2B5EF4-FFF2-40B4-BE49-F238E27FC236}">
                <a16:creationId xmlns:a16="http://schemas.microsoft.com/office/drawing/2014/main" id="{22A2B436-D709-4AA3-925F-8F686E39BCE1}"/>
              </a:ext>
            </a:extLst>
          </p:cNvPr>
          <p:cNvSpPr>
            <a:spLocks xmlns:a="http://schemas.openxmlformats.org/drawingml/2006/main" noGrp="1"/>
          </p:cNvSpPr>
          <p:nvPr/>
        </p:nvSpPr>
        <p:spPr>
          <a:xfrm xmlns:a="http://schemas.openxmlformats.org/drawingml/2006/main">
            <a:off x="8858250" y="3429000"/>
            <a:ext cx="2476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i="0">
                <a:solidFill>
                  <a:srgbClr val="132238"/>
                </a:solidFill>
              </a:defRPr>
            </a:defPPr>
            <a:lvl1pPr algn="ctr">
              <a:defRPr sz="1575" b="0" i="0">
                <a:solidFill>
                  <a:srgbClr val="132238"/>
                </a:solidFill>
              </a:defRPr>
            </a:lvl1pPr>
            <a:lvl2pPr algn="ctr">
              <a:defRPr sz="1575" b="0" i="0">
                <a:solidFill>
                  <a:srgbClr val="132238"/>
                </a:solidFill>
              </a:defRPr>
            </a:lvl2pPr>
            <a:lvl3pPr algn="ctr">
              <a:defRPr sz="1575" b="0" i="0">
                <a:solidFill>
                  <a:srgbClr val="132238"/>
                </a:solidFill>
              </a:defRPr>
            </a:lvl3pPr>
            <a:lvl4pPr algn="ctr">
              <a:defRPr sz="1575" b="0" i="0">
                <a:solidFill>
                  <a:srgbClr val="132238"/>
                </a:solidFill>
              </a:defRPr>
            </a:lvl4pPr>
            <a:lvl5pPr algn="ctr">
              <a:defRPr sz="1575" b="0" i="0">
                <a:solidFill>
                  <a:srgbClr val="132238"/>
                </a:solidFill>
              </a:defRPr>
            </a:lvl5pPr>
            <a:lvl6pPr algn="ctr">
              <a:defRPr sz="1575" b="0" i="0">
                <a:solidFill>
                  <a:srgbClr val="132238"/>
                </a:solidFill>
              </a:defRPr>
            </a:lvl6pPr>
            <a:lvl7pPr algn="ctr">
              <a:defRPr sz="1575" b="0" i="0">
                <a:solidFill>
                  <a:srgbClr val="132238"/>
                </a:solidFill>
              </a:defRPr>
            </a:lvl7pPr>
            <a:lvl8pPr algn="ctr">
              <a:defRPr sz="1575" b="0" i="0">
                <a:solidFill>
                  <a:srgbClr val="132238"/>
                </a:solidFill>
              </a:defRPr>
            </a:lvl8pPr>
            <a:lvl9pPr algn="ctr">
              <a:defRPr sz="1575" b="0" i="0">
                <a:solidFill>
                  <a:srgbClr val="132238"/>
                </a:solidFill>
              </a:defRPr>
            </a:lvl9pPr>
          </a:lstStyle>
          <a:p xmlns:a="http://schemas.openxmlformats.org/drawingml/2006/main">
            <a:pPr algn="ctr">
              <a:defRPr sz="1575" b="0" i="0">
                <a:solidFill>
                  <a:srgbClr val="132238"/>
                </a:solidFill>
              </a:defRPr>
            </a:pPr>
            <a:r>
              <a:rPr sz="1575" b="0" i="0">
                <a:solidFill>
                  <a:srgbClr val="132238"/>
                </a:solidFill>
              </a:rPr>
              <a:t>11 242 fenêtres d’entraînement</a:t>
            </a:r>
          </a:p>
          <a:p xmlns:a="http://schemas.openxmlformats.org/drawingml/2006/main">
            <a:pPr algn="ctr">
              <a:defRPr sz="1575" b="0" i="0">
                <a:solidFill>
                  <a:srgbClr val="132238"/>
                </a:solidFill>
              </a:defRPr>
            </a:pPr>
            <a:r>
              <a:rPr sz="1575" b="0" i="0">
                <a:solidFill>
                  <a:srgbClr val="132238"/>
                </a:solidFill>
              </a:rPr>
              <a:t>2 529 fenêtres de validation</a:t>
            </a:r>
          </a:p>
          <a:p xmlns:a="http://schemas.openxmlformats.org/drawingml/2006/main">
            <a:pPr algn="ctr">
              <a:defRPr sz="1575" b="0" i="0">
                <a:solidFill>
                  <a:srgbClr val="132238"/>
                </a:solidFill>
              </a:defRPr>
            </a:pPr>
            <a:r>
              <a:rPr sz="1575" b="0" i="0">
                <a:solidFill>
                  <a:srgbClr val="132238"/>
                </a:solidFill>
              </a:rPr>
              <a:t>Test encore scellé à ce stade</a:t>
            </a:r>
          </a:p>
        </p:txBody>
      </p:sp>
    </p:spTree>
    <p:extLst>
      <p:ext uri="{BB962C8B-B14F-4D97-AF65-F5344CB8AC3E}">
        <p14:creationId xmlns:p14="http://schemas.microsoft.com/office/powerpoint/2010/main" val="1464205550"/>
      </p:ext>
    </p:extLst>
  </p:cSld>
</p:sld>
</file>

<file path=ppt/slides/slide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20B5C43-D57A-44DA-9768-498693D9E3A1}"/>
              </a:ext>
            </a:extLst>
          </p:cNvPr>
          <p:cNvCxnSpPr>
            <a:stCxn xmlns:a="http://schemas.openxmlformats.org/drawingml/2006/main" id="8" idx="2"/>
            <a:endCxn xmlns:a="http://schemas.openxmlformats.org/drawingml/2006/main" id="9" idx="0"/>
          </p:cNvCxnSpPr>
          <p:nvPr/>
        </p:nvCxnSpPr>
        <p:spPr>
          <a:xfrm xmlns:a="http://schemas.openxmlformats.org/drawingml/2006/main">
            <a:off x="9429750" y="3810000"/>
            <a:ext cx="0" cy="333375"/>
          </a:xfrm>
          <a:prstGeom xmlns:a="http://schemas.openxmlformats.org/drawingml/2006/main" prst="straightConnector1">
            <a:avLst/>
          </a:prstGeom>
          <a:ln xmlns:a="http://schemas.openxmlformats.org/drawingml/2006/main" w="19050">
            <a:solidFill>
              <a:srgbClr val="6757B8"/>
            </a:solidFill>
            <a:prstDash val="solid"/>
          </a:ln>
        </p:spPr>
      </p:cxnSp>
      <p:cxnSp>
        <p:nvCxnSpPr>
          <p:cNvPr id="10" name="">
            <a:extLst xmlns:a="http://schemas.openxmlformats.org/drawingml/2006/main">
              <a:ext uri="{FF2B5EF4-FFF2-40B4-BE49-F238E27FC236}">
                <a16:creationId xmlns:a16="http://schemas.microsoft.com/office/drawing/2014/main" id="{97FF1A09-FE12-41F3-8738-12900C2EB6F0}"/>
              </a:ext>
            </a:extLst>
          </p:cNvPr>
          <p:cNvCxnSpPr>
            <a:stCxn xmlns:a="http://schemas.openxmlformats.org/drawingml/2006/main" id="7" idx="2"/>
            <a:endCxn xmlns:a="http://schemas.openxmlformats.org/drawingml/2006/main" id="8" idx="0"/>
          </p:cNvCxnSpPr>
          <p:nvPr/>
        </p:nvCxnSpPr>
        <p:spPr>
          <a:xfrm xmlns:a="http://schemas.openxmlformats.org/drawingml/2006/main">
            <a:off x="9429750" y="2714625"/>
            <a:ext cx="0" cy="333375"/>
          </a:xfrm>
          <a:prstGeom xmlns:a="http://schemas.openxmlformats.org/drawingml/2006/main" prst="straightConnector1">
            <a:avLst/>
          </a:prstGeom>
          <a:ln xmlns:a="http://schemas.openxmlformats.org/drawingml/2006/main" w="19050">
            <a:solidFill>
              <a:srgbClr val="6757B8"/>
            </a:solidFill>
            <a:prstDash val="solid"/>
          </a:ln>
        </p:spPr>
      </p:cxnSp>
      <p:sp>
        <p:nvSpPr>
          <p:cNvPr id="13" name="">
            <a:extLst xmlns:a="http://schemas.openxmlformats.org/drawingml/2006/main">
              <a:ext uri="{FF2B5EF4-FFF2-40B4-BE49-F238E27FC236}">
                <a16:creationId xmlns:a16="http://schemas.microsoft.com/office/drawing/2014/main" id="{EC5B701C-5076-4C53-A644-0DAEEC12C05A}"/>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i="0">
                <a:solidFill>
                  <a:srgbClr val="132238"/>
                </a:solidFill>
              </a:defRPr>
            </a:defPPr>
            <a:lvl1pPr algn="l">
              <a:defRPr sz="2850" b="1" i="0">
                <a:solidFill>
                  <a:srgbClr val="132238"/>
                </a:solidFill>
              </a:defRPr>
            </a:lvl1pPr>
            <a:lvl2pPr algn="l">
              <a:defRPr sz="2850" b="1" i="0">
                <a:solidFill>
                  <a:srgbClr val="132238"/>
                </a:solidFill>
              </a:defRPr>
            </a:lvl2pPr>
            <a:lvl3pPr algn="l">
              <a:defRPr sz="2850" b="1" i="0">
                <a:solidFill>
                  <a:srgbClr val="132238"/>
                </a:solidFill>
              </a:defRPr>
            </a:lvl3pPr>
            <a:lvl4pPr algn="l">
              <a:defRPr sz="2850" b="1" i="0">
                <a:solidFill>
                  <a:srgbClr val="132238"/>
                </a:solidFill>
              </a:defRPr>
            </a:lvl4pPr>
            <a:lvl5pPr algn="l">
              <a:defRPr sz="2850" b="1" i="0">
                <a:solidFill>
                  <a:srgbClr val="132238"/>
                </a:solidFill>
              </a:defRPr>
            </a:lvl5pPr>
            <a:lvl6pPr algn="l">
              <a:defRPr sz="2850" b="1" i="0">
                <a:solidFill>
                  <a:srgbClr val="132238"/>
                </a:solidFill>
              </a:defRPr>
            </a:lvl6pPr>
            <a:lvl7pPr algn="l">
              <a:defRPr sz="2850" b="1" i="0">
                <a:solidFill>
                  <a:srgbClr val="132238"/>
                </a:solidFill>
              </a:defRPr>
            </a:lvl7pPr>
            <a:lvl8pPr algn="l">
              <a:defRPr sz="2850" b="1" i="0">
                <a:solidFill>
                  <a:srgbClr val="132238"/>
                </a:solidFill>
              </a:defRPr>
            </a:lvl8pPr>
            <a:lvl9pPr algn="l">
              <a:defRPr sz="2850" b="1" i="0">
                <a:solidFill>
                  <a:srgbClr val="132238"/>
                </a:solidFill>
              </a:defRPr>
            </a:lvl9pPr>
          </a:lstStyle>
          <a:p xmlns:a="http://schemas.openxmlformats.org/drawingml/2006/main">
            <a:pPr algn="l">
              <a:defRPr sz="2850" b="1" i="0">
                <a:solidFill>
                  <a:srgbClr val="132238"/>
                </a:solidFill>
              </a:defRPr>
            </a:pPr>
            <a:r>
              <a:rPr sz="2850" b="1" i="0">
                <a:solidFill>
                  <a:srgbClr val="132238"/>
                </a:solidFill>
              </a:rPr>
              <a:t>SimpleRNN : le modèle reste derrière les baselines de fréquence</a:t>
            </a:r>
          </a:p>
        </p:txBody>
      </p:sp>
      <p:sp>
        <p:nvSpPr>
          <p:cNvPr id="2" name="">
            <a:extLst xmlns:a="http://schemas.openxmlformats.org/drawingml/2006/main">
              <a:ext uri="{FF2B5EF4-FFF2-40B4-BE49-F238E27FC236}">
                <a16:creationId xmlns:a16="http://schemas.microsoft.com/office/drawing/2014/main" id="{902E262A-2E3E-4F29-BC99-3386B900A480}"/>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6757B8"/>
          </a:solidFill>
          <a:ln xmlns:a="http://schemas.openxmlformats.org/drawingml/2006/main" w="0">
            <a:solidFill>
              <a:srgbClr val="6757B8"/>
            </a:solidFill>
            <a:prstDash val="solid"/>
          </a:ln>
        </p:spPr>
      </p:sp>
      <p:sp>
        <p:nvSpPr>
          <p:cNvPr id="3" name="">
            <a:extLst xmlns:a="http://schemas.openxmlformats.org/drawingml/2006/main">
              <a:ext uri="{FF2B5EF4-FFF2-40B4-BE49-F238E27FC236}">
                <a16:creationId xmlns:a16="http://schemas.microsoft.com/office/drawing/2014/main" id="{3CC87FFD-772E-401E-94AB-CBA5F1FB818A}"/>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09</a:t>
            </a:r>
          </a:p>
        </p:txBody>
      </p:sp>
      <p:sp>
        <p:nvSpPr>
          <p:cNvPr id="4" name="">
            <a:extLst xmlns:a="http://schemas.openxmlformats.org/drawingml/2006/main">
              <a:ext uri="{FF2B5EF4-FFF2-40B4-BE49-F238E27FC236}">
                <a16:creationId xmlns:a16="http://schemas.microsoft.com/office/drawing/2014/main" id="{3ABB0FBD-FB48-469F-AC81-C715DD5CAA59}"/>
              </a:ext>
            </a:extLst>
          </p:cNvPr>
          <p:cNvSpPr>
            <a:spLocks xmlns:a="http://schemas.openxmlformats.org/drawingml/2006/main" noGrp="1"/>
          </p:cNvSpPr>
          <p:nvPr/>
        </p:nvSpPr>
        <p:spPr>
          <a:xfrm xmlns:a="http://schemas.openxmlformats.org/drawingml/2006/main">
            <a:off x="666750" y="13144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i="0">
                <a:solidFill>
                  <a:srgbClr val="132238"/>
                </a:solidFill>
              </a:defRPr>
            </a:defPPr>
            <a:lvl1pPr algn="l">
              <a:defRPr sz="1650" b="1" i="0">
                <a:solidFill>
                  <a:srgbClr val="132238"/>
                </a:solidFill>
              </a:defRPr>
            </a:lvl1pPr>
            <a:lvl2pPr algn="l">
              <a:defRPr sz="1650" b="1" i="0">
                <a:solidFill>
                  <a:srgbClr val="132238"/>
                </a:solidFill>
              </a:defRPr>
            </a:lvl2pPr>
            <a:lvl3pPr algn="l">
              <a:defRPr sz="1650" b="1" i="0">
                <a:solidFill>
                  <a:srgbClr val="132238"/>
                </a:solidFill>
              </a:defRPr>
            </a:lvl3pPr>
            <a:lvl4pPr algn="l">
              <a:defRPr sz="1650" b="1" i="0">
                <a:solidFill>
                  <a:srgbClr val="132238"/>
                </a:solidFill>
              </a:defRPr>
            </a:lvl4pPr>
            <a:lvl5pPr algn="l">
              <a:defRPr sz="1650" b="1" i="0">
                <a:solidFill>
                  <a:srgbClr val="132238"/>
                </a:solidFill>
              </a:defRPr>
            </a:lvl5pPr>
            <a:lvl6pPr algn="l">
              <a:defRPr sz="1650" b="1" i="0">
                <a:solidFill>
                  <a:srgbClr val="132238"/>
                </a:solidFill>
              </a:defRPr>
            </a:lvl6pPr>
            <a:lvl7pPr algn="l">
              <a:defRPr sz="1650" b="1" i="0">
                <a:solidFill>
                  <a:srgbClr val="132238"/>
                </a:solidFill>
              </a:defRPr>
            </a:lvl7pPr>
            <a:lvl8pPr algn="l">
              <a:defRPr sz="1650" b="1" i="0">
                <a:solidFill>
                  <a:srgbClr val="132238"/>
                </a:solidFill>
              </a:defRPr>
            </a:lvl8pPr>
            <a:lvl9pPr algn="l">
              <a:defRPr sz="1650" b="1" i="0">
                <a:solidFill>
                  <a:srgbClr val="132238"/>
                </a:solidFill>
              </a:defRPr>
            </a:lvl9pPr>
          </a:lstStyle>
          <a:p xmlns:a="http://schemas.openxmlformats.org/drawingml/2006/main">
            <a:pPr algn="l">
              <a:defRPr sz="1650" b="1" i="0">
                <a:solidFill>
                  <a:srgbClr val="132238"/>
                </a:solidFill>
              </a:defRPr>
            </a:pPr>
            <a:r>
              <a:rPr sz="1650" b="1" i="0">
                <a:solidFill>
                  <a:srgbClr val="132238"/>
                </a:solidFill>
              </a:rPr>
              <a:t>Résultats sur les 1 795 cibles connues du test (%)</a:t>
            </a:r>
          </a:p>
        </p:txBody>
      </p:sp>
      <p:graphicFrame>
        <p:nvGraphicFramePr>
          <p:cNvPr id="5" name="Chart">
            <a:extLst xmlns:a="http://schemas.openxmlformats.org/drawingml/2006/main">
              <a:ext uri="{FF2B5EF4-FFF2-40B4-BE49-F238E27FC236}">
                <a16:creationId xmlns:a16="http://schemas.microsoft.com/office/drawing/2014/main" id="{EC360ADD-2AD2-4E05-9150-ABD113F82949}"/>
              </a:ext>
            </a:extLst>
          </p:cNvPr>
          <p:cNvGraphicFramePr/>
          <p:nvPr/>
        </p:nvGraphicFramePr>
        <p:xfrm>
          <a:off xmlns:a="http://schemas.openxmlformats.org/drawingml/2006/main" x="523875" y="1714500"/>
          <a:ext xmlns:a="http://schemas.openxmlformats.org/drawingml/2006/main" cx="6858000" cy="3619500"/>
        </p:xfrm>
        <a:graphic xmlns:a="http://schemas.openxmlformats.org/drawingml/2006/main">
          <a:graphicData uri="http://schemas.openxmlformats.org/drawingml/2006/chart">
            <c:chart xmlns:r="http://schemas.openxmlformats.org/officeDocument/2006/relationships" xmlns:c="http://schemas.openxmlformats.org/drawingml/2006/chart" r:id="R3b0708d642d34c6d"/>
          </a:graphicData>
        </a:graphic>
      </p:graphicFrame>
      <p:sp>
        <p:nvSpPr>
          <p:cNvPr id="6" name="">
            <a:extLst xmlns:a="http://schemas.openxmlformats.org/drawingml/2006/main">
              <a:ext uri="{FF2B5EF4-FFF2-40B4-BE49-F238E27FC236}">
                <a16:creationId xmlns:a16="http://schemas.microsoft.com/office/drawing/2014/main" id="{B8F44FD7-990A-4237-91AC-4ADD1FCDFAA9}"/>
              </a:ext>
            </a:extLst>
          </p:cNvPr>
          <p:cNvSpPr>
            <a:spLocks xmlns:a="http://schemas.openxmlformats.org/drawingml/2006/main" noGrp="1"/>
          </p:cNvSpPr>
          <p:nvPr/>
        </p:nvSpPr>
        <p:spPr>
          <a:xfrm xmlns:a="http://schemas.openxmlformats.org/drawingml/2006/main">
            <a:off x="8001000" y="1428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650" b="1" i="0">
                <a:solidFill>
                  <a:srgbClr val="6757B8"/>
                </a:solidFill>
              </a:defRPr>
            </a:defPPr>
            <a:lvl1pPr algn="ctr">
              <a:defRPr sz="1650" b="1" i="0">
                <a:solidFill>
                  <a:srgbClr val="6757B8"/>
                </a:solidFill>
              </a:defRPr>
            </a:lvl1pPr>
            <a:lvl2pPr algn="ctr">
              <a:defRPr sz="1650" b="1" i="0">
                <a:solidFill>
                  <a:srgbClr val="6757B8"/>
                </a:solidFill>
              </a:defRPr>
            </a:lvl2pPr>
            <a:lvl3pPr algn="ctr">
              <a:defRPr sz="1650" b="1" i="0">
                <a:solidFill>
                  <a:srgbClr val="6757B8"/>
                </a:solidFill>
              </a:defRPr>
            </a:lvl3pPr>
            <a:lvl4pPr algn="ctr">
              <a:defRPr sz="1650" b="1" i="0">
                <a:solidFill>
                  <a:srgbClr val="6757B8"/>
                </a:solidFill>
              </a:defRPr>
            </a:lvl4pPr>
            <a:lvl5pPr algn="ctr">
              <a:defRPr sz="1650" b="1" i="0">
                <a:solidFill>
                  <a:srgbClr val="6757B8"/>
                </a:solidFill>
              </a:defRPr>
            </a:lvl5pPr>
            <a:lvl6pPr algn="ctr">
              <a:defRPr sz="1650" b="1" i="0">
                <a:solidFill>
                  <a:srgbClr val="6757B8"/>
                </a:solidFill>
              </a:defRPr>
            </a:lvl6pPr>
            <a:lvl7pPr algn="ctr">
              <a:defRPr sz="1650" b="1" i="0">
                <a:solidFill>
                  <a:srgbClr val="6757B8"/>
                </a:solidFill>
              </a:defRPr>
            </a:lvl7pPr>
            <a:lvl8pPr algn="ctr">
              <a:defRPr sz="1650" b="1" i="0">
                <a:solidFill>
                  <a:srgbClr val="6757B8"/>
                </a:solidFill>
              </a:defRPr>
            </a:lvl8pPr>
            <a:lvl9pPr algn="ctr">
              <a:defRPr sz="1650" b="1" i="0">
                <a:solidFill>
                  <a:srgbClr val="6757B8"/>
                </a:solidFill>
              </a:defRPr>
            </a:lvl9pPr>
          </a:lstStyle>
          <a:p xmlns:a="http://schemas.openxmlformats.org/drawingml/2006/main">
            <a:pPr algn="ctr">
              <a:defRPr sz="1650" b="1" i="0">
                <a:solidFill>
                  <a:srgbClr val="6757B8"/>
                </a:solidFill>
              </a:defRPr>
            </a:pPr>
            <a:r>
              <a:rPr sz="1650" b="1" i="0">
                <a:solidFill>
                  <a:srgbClr val="6757B8"/>
                </a:solidFill>
              </a:rPr>
              <a:t>Architecture</a:t>
            </a:r>
          </a:p>
        </p:txBody>
      </p:sp>
      <p:sp>
        <p:nvSpPr>
          <p:cNvPr id="7" name="">
            <a:extLst xmlns:a="http://schemas.openxmlformats.org/drawingml/2006/main">
              <a:ext uri="{FF2B5EF4-FFF2-40B4-BE49-F238E27FC236}">
                <a16:creationId xmlns:a16="http://schemas.microsoft.com/office/drawing/2014/main" id="{6AA0535A-DF8C-48FE-9D89-1BD1FBF97DD3}"/>
              </a:ext>
            </a:extLst>
          </p:cNvPr>
          <p:cNvSpPr>
            <a:spLocks xmlns:a="http://schemas.openxmlformats.org/drawingml/2006/main" noGrp="1"/>
          </p:cNvSpPr>
          <p:nvPr/>
        </p:nvSpPr>
        <p:spPr>
          <a:xfrm xmlns:a="http://schemas.openxmlformats.org/drawingml/2006/main">
            <a:off x="7953375" y="1952625"/>
            <a:ext cx="2952750" cy="762000"/>
          </a:xfrm>
          <a:prstGeom xmlns:a="http://schemas.openxmlformats.org/drawingml/2006/main" prst="roundRect">
            <a:avLst>
              <a:gd name="adj" fmla="val 10000"/>
            </a:avLst>
          </a:prstGeom>
          <a:solidFill xmlns:a="http://schemas.openxmlformats.org/drawingml/2006/main">
            <a:srgbClr val="EEEBFA"/>
          </a:solidFill>
          <a:ln xmlns:a="http://schemas.openxmlformats.org/drawingml/2006/main" w="19050">
            <a:solidFill>
              <a:srgbClr val="6757B8"/>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Embedding</a:t>
            </a:r>
          </a:p>
          <a:p xmlns:a="http://schemas.openxmlformats.org/drawingml/2006/main">
            <a:pPr algn="ctr">
              <a:defRPr sz="1500" b="1">
                <a:solidFill>
                  <a:srgbClr val="132238"/>
                </a:solidFill>
              </a:defRPr>
            </a:pPr>
            <a:r>
              <a:rPr sz="1500" b="1">
                <a:solidFill>
                  <a:srgbClr val="132238"/>
                </a:solidFill>
              </a:rPr>
              <a:t>64 dimensions</a:t>
            </a:r>
          </a:p>
        </p:txBody>
      </p:sp>
      <p:sp>
        <p:nvSpPr>
          <p:cNvPr id="8" name="">
            <a:extLst xmlns:a="http://schemas.openxmlformats.org/drawingml/2006/main">
              <a:ext uri="{FF2B5EF4-FFF2-40B4-BE49-F238E27FC236}">
                <a16:creationId xmlns:a16="http://schemas.microsoft.com/office/drawing/2014/main" id="{0DBEA574-AA20-4D75-8E60-989DC8BBCA67}"/>
              </a:ext>
            </a:extLst>
          </p:cNvPr>
          <p:cNvSpPr>
            <a:spLocks xmlns:a="http://schemas.openxmlformats.org/drawingml/2006/main" noGrp="1"/>
          </p:cNvSpPr>
          <p:nvPr/>
        </p:nvSpPr>
        <p:spPr>
          <a:xfrm xmlns:a="http://schemas.openxmlformats.org/drawingml/2006/main">
            <a:off x="7953375" y="3048000"/>
            <a:ext cx="2952750" cy="762000"/>
          </a:xfrm>
          <a:prstGeom xmlns:a="http://schemas.openxmlformats.org/drawingml/2006/main" prst="roundRect">
            <a:avLst>
              <a:gd name="adj" fmla="val 10000"/>
            </a:avLst>
          </a:prstGeom>
          <a:solidFill xmlns:a="http://schemas.openxmlformats.org/drawingml/2006/main">
            <a:srgbClr val="FFFDFC"/>
          </a:solidFill>
          <a:ln xmlns:a="http://schemas.openxmlformats.org/drawingml/2006/main" w="19050">
            <a:solidFill>
              <a:srgbClr val="6757B8"/>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SimpleRNN</a:t>
            </a:r>
          </a:p>
          <a:p xmlns:a="http://schemas.openxmlformats.org/drawingml/2006/main">
            <a:pPr algn="ctr">
              <a:defRPr sz="1500" b="1">
                <a:solidFill>
                  <a:srgbClr val="132238"/>
                </a:solidFill>
              </a:defRPr>
            </a:pPr>
            <a:r>
              <a:rPr sz="1500" b="1">
                <a:solidFill>
                  <a:srgbClr val="132238"/>
                </a:solidFill>
              </a:rPr>
              <a:t>64 unités</a:t>
            </a:r>
          </a:p>
        </p:txBody>
      </p:sp>
      <p:sp>
        <p:nvSpPr>
          <p:cNvPr id="9" name="">
            <a:extLst xmlns:a="http://schemas.openxmlformats.org/drawingml/2006/main">
              <a:ext uri="{FF2B5EF4-FFF2-40B4-BE49-F238E27FC236}">
                <a16:creationId xmlns:a16="http://schemas.microsoft.com/office/drawing/2014/main" id="{8181D0B6-BD90-4561-81F1-D05C7C0EFC46}"/>
              </a:ext>
            </a:extLst>
          </p:cNvPr>
          <p:cNvSpPr>
            <a:spLocks xmlns:a="http://schemas.openxmlformats.org/drawingml/2006/main" noGrp="1"/>
          </p:cNvSpPr>
          <p:nvPr/>
        </p:nvSpPr>
        <p:spPr>
          <a:xfrm xmlns:a="http://schemas.openxmlformats.org/drawingml/2006/main">
            <a:off x="7953375" y="4143375"/>
            <a:ext cx="2952750" cy="762000"/>
          </a:xfrm>
          <a:prstGeom xmlns:a="http://schemas.openxmlformats.org/drawingml/2006/main" prst="roundRect">
            <a:avLst>
              <a:gd name="adj" fmla="val 10000"/>
            </a:avLst>
          </a:prstGeom>
          <a:solidFill xmlns:a="http://schemas.openxmlformats.org/drawingml/2006/main">
            <a:srgbClr val="EEEBFA"/>
          </a:solidFill>
          <a:ln xmlns:a="http://schemas.openxmlformats.org/drawingml/2006/main" w="19050">
            <a:solidFill>
              <a:srgbClr val="6757B8"/>
            </a:solidFill>
            <a:prstDash val="solid"/>
          </a:ln>
        </p:spPr>
        <p:txBody>
          <a:bodyPr xmlns:a="http://schemas.openxmlformats.org/drawingml/2006/main" anchor="ctr"/>
          <a:lstStyle xmlns:a="http://schemas.openxmlformats.org/drawingml/2006/main">
            <a:defPPr algn="ctr">
              <a:defRPr sz="1500" b="1">
                <a:solidFill>
                  <a:srgbClr val="132238"/>
                </a:solidFill>
              </a:defRPr>
            </a:defPPr>
            <a:lvl1pPr algn="ctr">
              <a:defRPr sz="1500" b="1">
                <a:solidFill>
                  <a:srgbClr val="132238"/>
                </a:solidFill>
              </a:defRPr>
            </a:lvl1pPr>
            <a:lvl2pPr algn="ctr">
              <a:defRPr sz="1500" b="1">
                <a:solidFill>
                  <a:srgbClr val="132238"/>
                </a:solidFill>
              </a:defRPr>
            </a:lvl2pPr>
            <a:lvl3pPr algn="ctr">
              <a:defRPr sz="1500" b="1">
                <a:solidFill>
                  <a:srgbClr val="132238"/>
                </a:solidFill>
              </a:defRPr>
            </a:lvl3pPr>
            <a:lvl4pPr algn="ctr">
              <a:defRPr sz="1500" b="1">
                <a:solidFill>
                  <a:srgbClr val="132238"/>
                </a:solidFill>
              </a:defRPr>
            </a:lvl4pPr>
            <a:lvl5pPr algn="ctr">
              <a:defRPr sz="1500" b="1">
                <a:solidFill>
                  <a:srgbClr val="132238"/>
                </a:solidFill>
              </a:defRPr>
            </a:lvl5pPr>
            <a:lvl6pPr algn="ctr">
              <a:defRPr sz="1500" b="1">
                <a:solidFill>
                  <a:srgbClr val="132238"/>
                </a:solidFill>
              </a:defRPr>
            </a:lvl6pPr>
            <a:lvl7pPr algn="ctr">
              <a:defRPr sz="1500" b="1">
                <a:solidFill>
                  <a:srgbClr val="132238"/>
                </a:solidFill>
              </a:defRPr>
            </a:lvl7pPr>
            <a:lvl8pPr algn="ctr">
              <a:defRPr sz="1500" b="1">
                <a:solidFill>
                  <a:srgbClr val="132238"/>
                </a:solidFill>
              </a:defRPr>
            </a:lvl8pPr>
            <a:lvl9pPr algn="ctr">
              <a:defRPr sz="1500" b="1">
                <a:solidFill>
                  <a:srgbClr val="132238"/>
                </a:solidFill>
              </a:defRPr>
            </a:lvl9pPr>
          </a:lstStyle>
          <a:p xmlns:a="http://schemas.openxmlformats.org/drawingml/2006/main">
            <a:pPr algn="ctr">
              <a:defRPr sz="1500" b="1">
                <a:solidFill>
                  <a:srgbClr val="132238"/>
                </a:solidFill>
              </a:defRPr>
            </a:pPr>
            <a:r>
              <a:rPr sz="1500" b="1">
                <a:solidFill>
                  <a:srgbClr val="132238"/>
                </a:solidFill>
              </a:rPr>
              <a:t>Dense</a:t>
            </a:r>
          </a:p>
          <a:p xmlns:a="http://schemas.openxmlformats.org/drawingml/2006/main">
            <a:pPr algn="ctr">
              <a:defRPr sz="1500" b="1">
                <a:solidFill>
                  <a:srgbClr val="132238"/>
                </a:solidFill>
              </a:defRPr>
            </a:pPr>
            <a:r>
              <a:rPr sz="1500" b="1">
                <a:solidFill>
                  <a:srgbClr val="132238"/>
                </a:solidFill>
              </a:rPr>
              <a:t>3 203 logits</a:t>
            </a:r>
          </a:p>
        </p:txBody>
      </p:sp>
      <p:sp>
        <p:nvSpPr>
          <p:cNvPr id="12" name="">
            <a:extLst xmlns:a="http://schemas.openxmlformats.org/drawingml/2006/main">
              <a:ext uri="{FF2B5EF4-FFF2-40B4-BE49-F238E27FC236}">
                <a16:creationId xmlns:a16="http://schemas.microsoft.com/office/drawing/2014/main" id="{F4A7442A-4595-409F-96BB-ECB1C14B4FC0}"/>
              </a:ext>
            </a:extLst>
          </p:cNvPr>
          <p:cNvSpPr>
            <a:spLocks xmlns:a="http://schemas.openxmlformats.org/drawingml/2006/main" noGrp="1"/>
          </p:cNvSpPr>
          <p:nvPr/>
        </p:nvSpPr>
        <p:spPr>
          <a:xfrm xmlns:a="http://schemas.openxmlformats.org/drawingml/2006/main">
            <a:off x="7715250" y="5429250"/>
            <a:ext cx="352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132238"/>
                </a:solidFill>
              </a:defRPr>
            </a:defPPr>
            <a:lvl1pPr algn="ctr">
              <a:defRPr sz="1500" b="1" i="0">
                <a:solidFill>
                  <a:srgbClr val="132238"/>
                </a:solidFill>
              </a:defRPr>
            </a:lvl1pPr>
            <a:lvl2pPr algn="ctr">
              <a:defRPr sz="1500" b="1" i="0">
                <a:solidFill>
                  <a:srgbClr val="132238"/>
                </a:solidFill>
              </a:defRPr>
            </a:lvl2pPr>
            <a:lvl3pPr algn="ctr">
              <a:defRPr sz="1500" b="1" i="0">
                <a:solidFill>
                  <a:srgbClr val="132238"/>
                </a:solidFill>
              </a:defRPr>
            </a:lvl3pPr>
            <a:lvl4pPr algn="ctr">
              <a:defRPr sz="1500" b="1" i="0">
                <a:solidFill>
                  <a:srgbClr val="132238"/>
                </a:solidFill>
              </a:defRPr>
            </a:lvl4pPr>
            <a:lvl5pPr algn="ctr">
              <a:defRPr sz="1500" b="1" i="0">
                <a:solidFill>
                  <a:srgbClr val="132238"/>
                </a:solidFill>
              </a:defRPr>
            </a:lvl5pPr>
            <a:lvl6pPr algn="ctr">
              <a:defRPr sz="1500" b="1" i="0">
                <a:solidFill>
                  <a:srgbClr val="132238"/>
                </a:solidFill>
              </a:defRPr>
            </a:lvl6pPr>
            <a:lvl7pPr algn="ctr">
              <a:defRPr sz="1500" b="1" i="0">
                <a:solidFill>
                  <a:srgbClr val="132238"/>
                </a:solidFill>
              </a:defRPr>
            </a:lvl7pPr>
            <a:lvl8pPr algn="ctr">
              <a:defRPr sz="1500" b="1" i="0">
                <a:solidFill>
                  <a:srgbClr val="132238"/>
                </a:solidFill>
              </a:defRPr>
            </a:lvl8pPr>
            <a:lvl9pPr algn="ctr">
              <a:defRPr sz="1500" b="1" i="0">
                <a:solidFill>
                  <a:srgbClr val="132238"/>
                </a:solidFill>
              </a:defRPr>
            </a:lvl9pPr>
          </a:lstStyle>
          <a:p xmlns:a="http://schemas.openxmlformats.org/drawingml/2006/main">
            <a:pPr algn="ctr">
              <a:defRPr sz="1500" b="1" i="0">
                <a:solidFill>
                  <a:srgbClr val="132238"/>
                </a:solidFill>
              </a:defRPr>
            </a:pPr>
            <a:r>
              <a:rPr sz="1500" b="1" i="0">
                <a:solidFill>
                  <a:srgbClr val="132238"/>
                </a:solidFill>
              </a:rPr>
              <a:t>65 identifiants prédits pour 597 classes connues présentes. Le réseau privilégie quelques mots fréquents et échoue sur les mots rares.</a:t>
            </a:r>
          </a:p>
        </p:txBody>
      </p:sp>
    </p:spTree>
    <p:extLst>
      <p:ext uri="{BB962C8B-B14F-4D97-AF65-F5344CB8AC3E}">
        <p14:creationId xmlns:p14="http://schemas.microsoft.com/office/powerpoint/2010/main" val="1808776382"/>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9B804F-E45F-456F-877E-04503D26DDAC}"/>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i="0">
                <a:solidFill>
                  <a:srgbClr val="132238"/>
                </a:solidFill>
              </a:defRPr>
            </a:defPPr>
            <a:lvl1pPr algn="l">
              <a:defRPr sz="2850" b="1" i="0">
                <a:solidFill>
                  <a:srgbClr val="132238"/>
                </a:solidFill>
              </a:defRPr>
            </a:lvl1pPr>
            <a:lvl2pPr algn="l">
              <a:defRPr sz="2850" b="1" i="0">
                <a:solidFill>
                  <a:srgbClr val="132238"/>
                </a:solidFill>
              </a:defRPr>
            </a:lvl2pPr>
            <a:lvl3pPr algn="l">
              <a:defRPr sz="2850" b="1" i="0">
                <a:solidFill>
                  <a:srgbClr val="132238"/>
                </a:solidFill>
              </a:defRPr>
            </a:lvl3pPr>
            <a:lvl4pPr algn="l">
              <a:defRPr sz="2850" b="1" i="0">
                <a:solidFill>
                  <a:srgbClr val="132238"/>
                </a:solidFill>
              </a:defRPr>
            </a:lvl4pPr>
            <a:lvl5pPr algn="l">
              <a:defRPr sz="2850" b="1" i="0">
                <a:solidFill>
                  <a:srgbClr val="132238"/>
                </a:solidFill>
              </a:defRPr>
            </a:lvl5pPr>
            <a:lvl6pPr algn="l">
              <a:defRPr sz="2850" b="1" i="0">
                <a:solidFill>
                  <a:srgbClr val="132238"/>
                </a:solidFill>
              </a:defRPr>
            </a:lvl6pPr>
            <a:lvl7pPr algn="l">
              <a:defRPr sz="2850" b="1" i="0">
                <a:solidFill>
                  <a:srgbClr val="132238"/>
                </a:solidFill>
              </a:defRPr>
            </a:lvl7pPr>
            <a:lvl8pPr algn="l">
              <a:defRPr sz="2850" b="1" i="0">
                <a:solidFill>
                  <a:srgbClr val="132238"/>
                </a:solidFill>
              </a:defRPr>
            </a:lvl8pPr>
            <a:lvl9pPr algn="l">
              <a:defRPr sz="2850" b="1" i="0">
                <a:solidFill>
                  <a:srgbClr val="132238"/>
                </a:solidFill>
              </a:defRPr>
            </a:lvl9pPr>
          </a:lstStyle>
          <a:p xmlns:a="http://schemas.openxmlformats.org/drawingml/2006/main">
            <a:pPr algn="l">
              <a:defRPr sz="2850" b="1" i="0">
                <a:solidFill>
                  <a:srgbClr val="132238"/>
                </a:solidFill>
              </a:defRPr>
            </a:pPr>
            <a:r>
              <a:rPr sz="2850" b="1" i="0">
                <a:solidFill>
                  <a:srgbClr val="132238"/>
                </a:solidFill>
              </a:rPr>
              <a:t>LSTM : un gain de validation, sans amélioration de la perte</a:t>
            </a:r>
          </a:p>
        </p:txBody>
      </p:sp>
      <p:sp>
        <p:nvSpPr>
          <p:cNvPr id="2" name="">
            <a:extLst xmlns:a="http://schemas.openxmlformats.org/drawingml/2006/main">
              <a:ext uri="{FF2B5EF4-FFF2-40B4-BE49-F238E27FC236}">
                <a16:creationId xmlns:a16="http://schemas.microsoft.com/office/drawing/2014/main" id="{16A1F00B-B6E3-471A-B702-F2B8B0BBC47E}"/>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6757B8"/>
          </a:solidFill>
          <a:ln xmlns:a="http://schemas.openxmlformats.org/drawingml/2006/main" w="0">
            <a:solidFill>
              <a:srgbClr val="6757B8"/>
            </a:solidFill>
            <a:prstDash val="solid"/>
          </a:ln>
        </p:spPr>
      </p:sp>
      <p:sp>
        <p:nvSpPr>
          <p:cNvPr id="3" name="">
            <a:extLst xmlns:a="http://schemas.openxmlformats.org/drawingml/2006/main">
              <a:ext uri="{FF2B5EF4-FFF2-40B4-BE49-F238E27FC236}">
                <a16:creationId xmlns:a16="http://schemas.microsoft.com/office/drawing/2014/main" id="{FF4CB2B5-AFC1-4685-B8FD-FB9B6A8A699B}"/>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10</a:t>
            </a:r>
          </a:p>
        </p:txBody>
      </p:sp>
      <p:sp>
        <p:nvSpPr>
          <p:cNvPr id="4" name="">
            <a:extLst xmlns:a="http://schemas.openxmlformats.org/drawingml/2006/main">
              <a:ext uri="{FF2B5EF4-FFF2-40B4-BE49-F238E27FC236}">
                <a16:creationId xmlns:a16="http://schemas.microsoft.com/office/drawing/2014/main" id="{94665E22-9132-43D5-ABB9-70F6D228EA0F}"/>
              </a:ext>
            </a:extLst>
          </p:cNvPr>
          <p:cNvSpPr>
            <a:spLocks xmlns:a="http://schemas.openxmlformats.org/drawingml/2006/main" noGrp="1"/>
          </p:cNvSpPr>
          <p:nvPr/>
        </p:nvSpPr>
        <p:spPr>
          <a:xfrm xmlns:a="http://schemas.openxmlformats.org/drawingml/2006/main">
            <a:off x="666750" y="13144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i="0">
                <a:solidFill>
                  <a:srgbClr val="6757B8"/>
                </a:solidFill>
              </a:defRPr>
            </a:defPPr>
            <a:lvl1pPr algn="l">
              <a:defRPr sz="1650" b="1" i="0">
                <a:solidFill>
                  <a:srgbClr val="6757B8"/>
                </a:solidFill>
              </a:defRPr>
            </a:lvl1pPr>
            <a:lvl2pPr algn="l">
              <a:defRPr sz="1650" b="1" i="0">
                <a:solidFill>
                  <a:srgbClr val="6757B8"/>
                </a:solidFill>
              </a:defRPr>
            </a:lvl2pPr>
            <a:lvl3pPr algn="l">
              <a:defRPr sz="1650" b="1" i="0">
                <a:solidFill>
                  <a:srgbClr val="6757B8"/>
                </a:solidFill>
              </a:defRPr>
            </a:lvl3pPr>
            <a:lvl4pPr algn="l">
              <a:defRPr sz="1650" b="1" i="0">
                <a:solidFill>
                  <a:srgbClr val="6757B8"/>
                </a:solidFill>
              </a:defRPr>
            </a:lvl4pPr>
            <a:lvl5pPr algn="l">
              <a:defRPr sz="1650" b="1" i="0">
                <a:solidFill>
                  <a:srgbClr val="6757B8"/>
                </a:solidFill>
              </a:defRPr>
            </a:lvl5pPr>
            <a:lvl6pPr algn="l">
              <a:defRPr sz="1650" b="1" i="0">
                <a:solidFill>
                  <a:srgbClr val="6757B8"/>
                </a:solidFill>
              </a:defRPr>
            </a:lvl6pPr>
            <a:lvl7pPr algn="l">
              <a:defRPr sz="1650" b="1" i="0">
                <a:solidFill>
                  <a:srgbClr val="6757B8"/>
                </a:solidFill>
              </a:defRPr>
            </a:lvl7pPr>
            <a:lvl8pPr algn="l">
              <a:defRPr sz="1650" b="1" i="0">
                <a:solidFill>
                  <a:srgbClr val="6757B8"/>
                </a:solidFill>
              </a:defRPr>
            </a:lvl8pPr>
            <a:lvl9pPr algn="l">
              <a:defRPr sz="1650" b="1" i="0">
                <a:solidFill>
                  <a:srgbClr val="6757B8"/>
                </a:solidFill>
              </a:defRPr>
            </a:lvl9pPr>
          </a:lstStyle>
          <a:p xmlns:a="http://schemas.openxmlformats.org/drawingml/2006/main">
            <a:pPr algn="l">
              <a:defRPr sz="1650" b="1" i="0">
                <a:solidFill>
                  <a:srgbClr val="6757B8"/>
                </a:solidFill>
              </a:defRPr>
            </a:pPr>
            <a:r>
              <a:rPr sz="1650" b="1" i="0">
                <a:solidFill>
                  <a:srgbClr val="6757B8"/>
                </a:solidFill>
              </a:rPr>
              <a:t>Comparaison sur la validation uniquement</a:t>
            </a:r>
          </a:p>
        </p:txBody>
      </p:sp>
      <p:graphicFrame>
        <p:nvGraphicFramePr>
          <p:cNvPr id="5" name="">
            <a:extLst xmlns:a="http://schemas.openxmlformats.org/drawingml/2006/main">
              <a:ext uri="{FF2B5EF4-FFF2-40B4-BE49-F238E27FC236}">
                <a16:creationId xmlns:a16="http://schemas.microsoft.com/office/drawing/2014/main" id="{55A259A1-1FB9-476A-8168-470C135785B1}"/>
              </a:ext>
            </a:extLst>
          </p:cNvPr>
          <p:cNvGraphicFramePr/>
          <p:nvPr/>
        </p:nvGraphicFramePr>
        <p:xfrm>
          <a:off xmlns:a="http://schemas.openxmlformats.org/drawingml/2006/main" x="666750" y="1790700"/>
          <a:ext xmlns:a="http://schemas.openxmlformats.org/drawingml/2006/main" cx="6191250" cy="3143250"/>
        </p:xfrm>
        <a:graphic xmlns:a="http://schemas.openxmlformats.org/drawingml/2006/main">
          <a:graphicData uri="http://schemas.openxmlformats.org/drawingml/2006/table">
            <a:tbl>
              <a:tblPr firstRow="1" firstCol="0" bandRow="1">
                <a:tableStyleId>{5C22544A-7EE6-4342-B048-85BDC9FD1C3A}</a:tableStyleId>
              </a:tblPr>
              <a:tblGrid>
                <a:gridCol w="2857500"/>
                <a:gridCol w="1666875"/>
                <a:gridCol w="1666875"/>
              </a:tblGrid>
              <a:tr h="523875">
                <a:tc>
                  <a:txBody>
                    <a:bodyPr/>
                    <a:lstStyle/>
                    <a:p>
                      <a:r>
                        <a:rPr sz="1200" b="1">
                          <a:solidFill>
                            <a:srgbClr val="FFFFFF"/>
                          </a:solidFill>
                          <a:latin typeface="Aptos"/>
                          <a:ea typeface="Aptos"/>
                          <a:cs typeface="Aptos"/>
                        </a:rPr>
                        <a:t>Mesure</a:t>
                      </a:r>
                    </a:p>
                  </a:txBody>
                  <a:tcPr marL="91440" marR="91440" marT="45720" marB="45720">
                    <a:solidFill>
                      <a:srgbClr val="6757B8"/>
                    </a:solidFill>
                  </a:tcPr>
                </a:tc>
                <a:tc>
                  <a:txBody>
                    <a:bodyPr/>
                    <a:lstStyle/>
                    <a:p>
                      <a:r>
                        <a:rPr sz="1200" b="1">
                          <a:solidFill>
                            <a:srgbClr val="FFFFFF"/>
                          </a:solidFill>
                          <a:latin typeface="Aptos"/>
                          <a:ea typeface="Aptos"/>
                          <a:cs typeface="Aptos"/>
                        </a:rPr>
                        <a:t>SimpleRNN</a:t>
                      </a:r>
                    </a:p>
                  </a:txBody>
                  <a:tcPr marL="91440" marR="91440" marT="45720" marB="45720">
                    <a:solidFill>
                      <a:srgbClr val="6757B8"/>
                    </a:solidFill>
                  </a:tcPr>
                </a:tc>
                <a:tc>
                  <a:txBody>
                    <a:bodyPr/>
                    <a:lstStyle/>
                    <a:p>
                      <a:r>
                        <a:rPr sz="1200" b="1">
                          <a:solidFill>
                            <a:srgbClr val="FFFFFF"/>
                          </a:solidFill>
                          <a:latin typeface="Aptos"/>
                          <a:ea typeface="Aptos"/>
                          <a:cs typeface="Aptos"/>
                        </a:rPr>
                        <a:t>LSTM</a:t>
                      </a:r>
                    </a:p>
                  </a:txBody>
                  <a:tcPr marL="91440" marR="91440" marT="45720" marB="45720">
                    <a:solidFill>
                      <a:srgbClr val="6757B8"/>
                    </a:solidFill>
                  </a:tcPr>
                </a:tc>
              </a:tr>
              <a:tr h="523875">
                <a:tc>
                  <a:txBody>
                    <a:bodyPr/>
                    <a:lstStyle/>
                    <a:p>
                      <a:r>
                        <a:rPr sz="1125">
                          <a:solidFill>
                            <a:srgbClr val="132238"/>
                          </a:solidFill>
                          <a:latin typeface="Aptos"/>
                          <a:ea typeface="Aptos"/>
                          <a:cs typeface="Aptos"/>
                        </a:rPr>
                        <a:t>Paramètres</a:t>
                      </a:r>
                    </a:p>
                  </a:txBody>
                  <a:tcPr marL="91440" marR="91440" marT="45720" marB="45720"/>
                </a:tc>
                <a:tc>
                  <a:txBody>
                    <a:bodyPr/>
                    <a:lstStyle/>
                    <a:p>
                      <a:r>
                        <a:rPr sz="1125">
                          <a:solidFill>
                            <a:srgbClr val="132238"/>
                          </a:solidFill>
                          <a:latin typeface="Aptos"/>
                          <a:ea typeface="Aptos"/>
                          <a:cs typeface="Aptos"/>
                        </a:rPr>
                        <a:t>421 443</a:t>
                      </a:r>
                    </a:p>
                  </a:txBody>
                  <a:tcPr marL="91440" marR="91440" marT="45720" marB="45720"/>
                </a:tc>
                <a:tc>
                  <a:txBody>
                    <a:bodyPr/>
                    <a:lstStyle/>
                    <a:p>
                      <a:r>
                        <a:rPr sz="1125">
                          <a:solidFill>
                            <a:srgbClr val="132238"/>
                          </a:solidFill>
                          <a:latin typeface="Aptos"/>
                          <a:ea typeface="Aptos"/>
                          <a:cs typeface="Aptos"/>
                        </a:rPr>
                        <a:t>446 211</a:t>
                      </a:r>
                    </a:p>
                  </a:txBody>
                  <a:tcPr marL="91440" marR="91440" marT="45720" marB="45720"/>
                </a:tc>
              </a:tr>
              <a:tr h="523875">
                <a:tc>
                  <a:txBody>
                    <a:bodyPr/>
                    <a:lstStyle/>
                    <a:p>
                      <a:r>
                        <a:rPr sz="1125">
                          <a:solidFill>
                            <a:srgbClr val="132238"/>
                          </a:solidFill>
                          <a:latin typeface="Aptos"/>
                          <a:ea typeface="Aptos"/>
                          <a:cs typeface="Aptos"/>
                        </a:rPr>
                        <a:t>Accuracy connue</a:t>
                      </a:r>
                    </a:p>
                  </a:txBody>
                  <a:tcPr marL="91440" marR="91440" marT="45720" marB="45720"/>
                </a:tc>
                <a:tc>
                  <a:txBody>
                    <a:bodyPr/>
                    <a:lstStyle/>
                    <a:p>
                      <a:r>
                        <a:rPr sz="1125">
                          <a:solidFill>
                            <a:srgbClr val="132238"/>
                          </a:solidFill>
                          <a:latin typeface="Aptos"/>
                          <a:ea typeface="Aptos"/>
                          <a:cs typeface="Aptos"/>
                        </a:rPr>
                        <a:t>3,67 %</a:t>
                      </a:r>
                    </a:p>
                  </a:txBody>
                  <a:tcPr marL="91440" marR="91440" marT="45720" marB="45720"/>
                </a:tc>
                <a:tc>
                  <a:txBody>
                    <a:bodyPr/>
                    <a:lstStyle/>
                    <a:p>
                      <a:r>
                        <a:rPr sz="1125">
                          <a:solidFill>
                            <a:srgbClr val="132238"/>
                          </a:solidFill>
                          <a:latin typeface="Aptos"/>
                          <a:ea typeface="Aptos"/>
                          <a:cs typeface="Aptos"/>
                        </a:rPr>
                        <a:t>4,31 %</a:t>
                      </a:r>
                    </a:p>
                  </a:txBody>
                  <a:tcPr marL="91440" marR="91440" marT="45720" marB="45720"/>
                </a:tc>
              </a:tr>
              <a:tr h="523875">
                <a:tc>
                  <a:txBody>
                    <a:bodyPr/>
                    <a:lstStyle/>
                    <a:p>
                      <a:r>
                        <a:rPr sz="1125">
                          <a:solidFill>
                            <a:srgbClr val="132238"/>
                          </a:solidFill>
                          <a:latin typeface="Aptos"/>
                          <a:ea typeface="Aptos"/>
                          <a:cs typeface="Aptos"/>
                        </a:rPr>
                        <a:t>Top-5 connue</a:t>
                      </a:r>
                    </a:p>
                  </a:txBody>
                  <a:tcPr marL="91440" marR="91440" marT="45720" marB="45720"/>
                </a:tc>
                <a:tc>
                  <a:txBody>
                    <a:bodyPr/>
                    <a:lstStyle/>
                    <a:p>
                      <a:r>
                        <a:rPr sz="1125">
                          <a:solidFill>
                            <a:srgbClr val="132238"/>
                          </a:solidFill>
                          <a:latin typeface="Aptos"/>
                          <a:ea typeface="Aptos"/>
                          <a:cs typeface="Aptos"/>
                        </a:rPr>
                        <a:t>12,69 %</a:t>
                      </a:r>
                    </a:p>
                  </a:txBody>
                  <a:tcPr marL="91440" marR="91440" marT="45720" marB="45720"/>
                </a:tc>
                <a:tc>
                  <a:txBody>
                    <a:bodyPr/>
                    <a:lstStyle/>
                    <a:p>
                      <a:r>
                        <a:rPr sz="1125">
                          <a:solidFill>
                            <a:srgbClr val="132238"/>
                          </a:solidFill>
                          <a:latin typeface="Aptos"/>
                          <a:ea typeface="Aptos"/>
                          <a:cs typeface="Aptos"/>
                        </a:rPr>
                        <a:t>13,82 %</a:t>
                      </a:r>
                    </a:p>
                  </a:txBody>
                  <a:tcPr marL="91440" marR="91440" marT="45720" marB="45720"/>
                </a:tc>
              </a:tr>
              <a:tr h="523875">
                <a:tc>
                  <a:txBody>
                    <a:bodyPr/>
                    <a:lstStyle/>
                    <a:p>
                      <a:r>
                        <a:rPr sz="1125">
                          <a:solidFill>
                            <a:srgbClr val="132238"/>
                          </a:solidFill>
                          <a:latin typeface="Aptos"/>
                          <a:ea typeface="Aptos"/>
                          <a:cs typeface="Aptos"/>
                        </a:rPr>
                        <a:t>Perte connue</a:t>
                      </a:r>
                    </a:p>
                  </a:txBody>
                  <a:tcPr marL="91440" marR="91440" marT="45720" marB="45720"/>
                </a:tc>
                <a:tc>
                  <a:txBody>
                    <a:bodyPr/>
                    <a:lstStyle/>
                    <a:p>
                      <a:r>
                        <a:rPr sz="1125">
                          <a:solidFill>
                            <a:srgbClr val="132238"/>
                          </a:solidFill>
                          <a:latin typeface="Aptos"/>
                          <a:ea typeface="Aptos"/>
                          <a:cs typeface="Aptos"/>
                        </a:rPr>
                        <a:t>6,2977</a:t>
                      </a:r>
                    </a:p>
                  </a:txBody>
                  <a:tcPr marL="91440" marR="91440" marT="45720" marB="45720"/>
                </a:tc>
                <a:tc>
                  <a:txBody>
                    <a:bodyPr/>
                    <a:lstStyle/>
                    <a:p>
                      <a:r>
                        <a:rPr sz="1125">
                          <a:solidFill>
                            <a:srgbClr val="132238"/>
                          </a:solidFill>
                          <a:latin typeface="Aptos"/>
                          <a:ea typeface="Aptos"/>
                          <a:cs typeface="Aptos"/>
                        </a:rPr>
                        <a:t>6,4059</a:t>
                      </a:r>
                    </a:p>
                  </a:txBody>
                  <a:tcPr marL="91440" marR="91440" marT="45720" marB="45720"/>
                </a:tc>
              </a:tr>
              <a:tr h="523875">
                <a:tc>
                  <a:txBody>
                    <a:bodyPr/>
                    <a:lstStyle/>
                    <a:p>
                      <a:r>
                        <a:rPr sz="1125">
                          <a:solidFill>
                            <a:srgbClr val="132238"/>
                          </a:solidFill>
                          <a:latin typeface="Aptos"/>
                          <a:ea typeface="Aptos"/>
                          <a:cs typeface="Aptos"/>
                        </a:rPr>
                        <a:t>Perte globale</a:t>
                      </a:r>
                    </a:p>
                  </a:txBody>
                  <a:tcPr marL="91440" marR="91440" marT="45720" marB="45720"/>
                </a:tc>
                <a:tc>
                  <a:txBody>
                    <a:bodyPr/>
                    <a:lstStyle/>
                    <a:p>
                      <a:r>
                        <a:rPr sz="1125">
                          <a:solidFill>
                            <a:srgbClr val="132238"/>
                          </a:solidFill>
                          <a:latin typeface="Aptos"/>
                          <a:ea typeface="Aptos"/>
                          <a:cs typeface="Aptos"/>
                        </a:rPr>
                        <a:t>7,2272</a:t>
                      </a:r>
                    </a:p>
                  </a:txBody>
                  <a:tcPr marL="91440" marR="91440" marT="45720" marB="45720"/>
                </a:tc>
                <a:tc>
                  <a:txBody>
                    <a:bodyPr/>
                    <a:lstStyle/>
                    <a:p>
                      <a:r>
                        <a:rPr sz="1125">
                          <a:solidFill>
                            <a:srgbClr val="132238"/>
                          </a:solidFill>
                          <a:latin typeface="Aptos"/>
                          <a:ea typeface="Aptos"/>
                          <a:cs typeface="Aptos"/>
                        </a:rPr>
                        <a:t>7,6950</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7EA65021-85ED-48C6-822A-616EF3153023}"/>
              </a:ext>
            </a:extLst>
          </p:cNvPr>
          <p:cNvSpPr>
            <a:spLocks xmlns:a="http://schemas.openxmlformats.org/drawingml/2006/main" noGrp="1"/>
          </p:cNvSpPr>
          <p:nvPr/>
        </p:nvSpPr>
        <p:spPr>
          <a:xfrm xmlns:a="http://schemas.openxmlformats.org/drawingml/2006/main">
            <a:off x="7620000" y="152400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450" b="1" i="0">
                <a:solidFill>
                  <a:srgbClr val="2F7D66"/>
                </a:solidFill>
              </a:defRPr>
            </a:defPPr>
            <a:lvl1pPr algn="ctr">
              <a:defRPr sz="3450" b="1" i="0">
                <a:solidFill>
                  <a:srgbClr val="2F7D66"/>
                </a:solidFill>
              </a:defRPr>
            </a:lvl1pPr>
            <a:lvl2pPr algn="ctr">
              <a:defRPr sz="3450" b="1" i="0">
                <a:solidFill>
                  <a:srgbClr val="2F7D66"/>
                </a:solidFill>
              </a:defRPr>
            </a:lvl2pPr>
            <a:lvl3pPr algn="ctr">
              <a:defRPr sz="3450" b="1" i="0">
                <a:solidFill>
                  <a:srgbClr val="2F7D66"/>
                </a:solidFill>
              </a:defRPr>
            </a:lvl3pPr>
            <a:lvl4pPr algn="ctr">
              <a:defRPr sz="3450" b="1" i="0">
                <a:solidFill>
                  <a:srgbClr val="2F7D66"/>
                </a:solidFill>
              </a:defRPr>
            </a:lvl4pPr>
            <a:lvl5pPr algn="ctr">
              <a:defRPr sz="3450" b="1" i="0">
                <a:solidFill>
                  <a:srgbClr val="2F7D66"/>
                </a:solidFill>
              </a:defRPr>
            </a:lvl5pPr>
            <a:lvl6pPr algn="ctr">
              <a:defRPr sz="3450" b="1" i="0">
                <a:solidFill>
                  <a:srgbClr val="2F7D66"/>
                </a:solidFill>
              </a:defRPr>
            </a:lvl6pPr>
            <a:lvl7pPr algn="ctr">
              <a:defRPr sz="3450" b="1" i="0">
                <a:solidFill>
                  <a:srgbClr val="2F7D66"/>
                </a:solidFill>
              </a:defRPr>
            </a:lvl7pPr>
            <a:lvl8pPr algn="ctr">
              <a:defRPr sz="3450" b="1" i="0">
                <a:solidFill>
                  <a:srgbClr val="2F7D66"/>
                </a:solidFill>
              </a:defRPr>
            </a:lvl8pPr>
            <a:lvl9pPr algn="ctr">
              <a:defRPr sz="3450" b="1" i="0">
                <a:solidFill>
                  <a:srgbClr val="2F7D66"/>
                </a:solidFill>
              </a:defRPr>
            </a:lvl9pPr>
          </a:lstStyle>
          <a:p xmlns:a="http://schemas.openxmlformats.org/drawingml/2006/main">
            <a:pPr algn="ctr">
              <a:defRPr sz="3450" b="1" i="0">
                <a:solidFill>
                  <a:srgbClr val="2F7D66"/>
                </a:solidFill>
              </a:defRPr>
            </a:pPr>
            <a:r>
              <a:rPr sz="3450" b="1" i="0">
                <a:solidFill>
                  <a:srgbClr val="2F7D66"/>
                </a:solidFill>
              </a:rPr>
              <a:t>+13</a:t>
            </a:r>
          </a:p>
        </p:txBody>
      </p:sp>
      <p:sp>
        <p:nvSpPr>
          <p:cNvPr id="7" name="">
            <a:extLst xmlns:a="http://schemas.openxmlformats.org/drawingml/2006/main">
              <a:ext uri="{FF2B5EF4-FFF2-40B4-BE49-F238E27FC236}">
                <a16:creationId xmlns:a16="http://schemas.microsoft.com/office/drawing/2014/main" id="{FF65393D-9CD4-48FA-BF1E-5E10529F23E7}"/>
              </a:ext>
            </a:extLst>
          </p:cNvPr>
          <p:cNvSpPr>
            <a:spLocks xmlns:a="http://schemas.openxmlformats.org/drawingml/2006/main" noGrp="1"/>
          </p:cNvSpPr>
          <p:nvPr/>
        </p:nvSpPr>
        <p:spPr>
          <a:xfrm xmlns:a="http://schemas.openxmlformats.org/drawingml/2006/main">
            <a:off x="7620000" y="2114550"/>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prédictions correctes nettes</a:t>
            </a:r>
          </a:p>
        </p:txBody>
      </p:sp>
      <p:sp>
        <p:nvSpPr>
          <p:cNvPr id="8" name="">
            <a:extLst xmlns:a="http://schemas.openxmlformats.org/drawingml/2006/main">
              <a:ext uri="{FF2B5EF4-FFF2-40B4-BE49-F238E27FC236}">
                <a16:creationId xmlns:a16="http://schemas.microsoft.com/office/drawing/2014/main" id="{3E99C3E1-E023-4C8A-BF9B-F02C1484A250}"/>
              </a:ext>
            </a:extLst>
          </p:cNvPr>
          <p:cNvSpPr>
            <a:spLocks xmlns:a="http://schemas.openxmlformats.org/drawingml/2006/main" noGrp="1"/>
          </p:cNvSpPr>
          <p:nvPr/>
        </p:nvSpPr>
        <p:spPr>
          <a:xfrm xmlns:a="http://schemas.openxmlformats.org/drawingml/2006/main">
            <a:off x="7667625" y="29527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75" b="1" i="0">
                <a:solidFill>
                  <a:srgbClr val="6757B8"/>
                </a:solidFill>
              </a:defRPr>
            </a:defPPr>
            <a:lvl1pPr algn="ctr">
              <a:defRPr sz="1575" b="1" i="0">
                <a:solidFill>
                  <a:srgbClr val="6757B8"/>
                </a:solidFill>
              </a:defRPr>
            </a:lvl1pPr>
            <a:lvl2pPr algn="ctr">
              <a:defRPr sz="1575" b="1" i="0">
                <a:solidFill>
                  <a:srgbClr val="6757B8"/>
                </a:solidFill>
              </a:defRPr>
            </a:lvl2pPr>
            <a:lvl3pPr algn="ctr">
              <a:defRPr sz="1575" b="1" i="0">
                <a:solidFill>
                  <a:srgbClr val="6757B8"/>
                </a:solidFill>
              </a:defRPr>
            </a:lvl3pPr>
            <a:lvl4pPr algn="ctr">
              <a:defRPr sz="1575" b="1" i="0">
                <a:solidFill>
                  <a:srgbClr val="6757B8"/>
                </a:solidFill>
              </a:defRPr>
            </a:lvl4pPr>
            <a:lvl5pPr algn="ctr">
              <a:defRPr sz="1575" b="1" i="0">
                <a:solidFill>
                  <a:srgbClr val="6757B8"/>
                </a:solidFill>
              </a:defRPr>
            </a:lvl5pPr>
            <a:lvl6pPr algn="ctr">
              <a:defRPr sz="1575" b="1" i="0">
                <a:solidFill>
                  <a:srgbClr val="6757B8"/>
                </a:solidFill>
              </a:defRPr>
            </a:lvl6pPr>
            <a:lvl7pPr algn="ctr">
              <a:defRPr sz="1575" b="1" i="0">
                <a:solidFill>
                  <a:srgbClr val="6757B8"/>
                </a:solidFill>
              </a:defRPr>
            </a:lvl7pPr>
            <a:lvl8pPr algn="ctr">
              <a:defRPr sz="1575" b="1" i="0">
                <a:solidFill>
                  <a:srgbClr val="6757B8"/>
                </a:solidFill>
              </a:defRPr>
            </a:lvl8pPr>
            <a:lvl9pPr algn="ctr">
              <a:defRPr sz="1575" b="1" i="0">
                <a:solidFill>
                  <a:srgbClr val="6757B8"/>
                </a:solidFill>
              </a:defRPr>
            </a:lvl9pPr>
          </a:lstStyle>
          <a:p xmlns:a="http://schemas.openxmlformats.org/drawingml/2006/main">
            <a:pPr algn="ctr">
              <a:defRPr sz="1575" b="1" i="0">
                <a:solidFill>
                  <a:srgbClr val="6757B8"/>
                </a:solidFill>
              </a:defRPr>
            </a:pPr>
            <a:r>
              <a:rPr sz="1575" b="1" i="0">
                <a:solidFill>
                  <a:srgbClr val="6757B8"/>
                </a:solidFill>
              </a:rPr>
              <a:t>Comparaison appariée</a:t>
            </a:r>
          </a:p>
        </p:txBody>
      </p:sp>
      <p:sp>
        <p:nvSpPr>
          <p:cNvPr id="9" name="">
            <a:extLst xmlns:a="http://schemas.openxmlformats.org/drawingml/2006/main">
              <a:ext uri="{FF2B5EF4-FFF2-40B4-BE49-F238E27FC236}">
                <a16:creationId xmlns:a16="http://schemas.microsoft.com/office/drawing/2014/main" id="{53CA8AA1-A659-4282-AA48-E37C2D917321}"/>
              </a:ext>
            </a:extLst>
          </p:cNvPr>
          <p:cNvSpPr>
            <a:spLocks xmlns:a="http://schemas.openxmlformats.org/drawingml/2006/main" noGrp="1"/>
          </p:cNvSpPr>
          <p:nvPr/>
        </p:nvSpPr>
        <p:spPr>
          <a:xfrm xmlns:a="http://schemas.openxmlformats.org/drawingml/2006/main">
            <a:off x="7667625" y="3381375"/>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i="0">
                <a:solidFill>
                  <a:srgbClr val="132238"/>
                </a:solidFill>
              </a:defRPr>
            </a:defPPr>
            <a:lvl1pPr algn="ctr">
              <a:defRPr sz="1500" b="0" i="0">
                <a:solidFill>
                  <a:srgbClr val="132238"/>
                </a:solidFill>
              </a:defRPr>
            </a:lvl1pPr>
            <a:lvl2pPr algn="ctr">
              <a:defRPr sz="1500" b="0" i="0">
                <a:solidFill>
                  <a:srgbClr val="132238"/>
                </a:solidFill>
              </a:defRPr>
            </a:lvl2pPr>
            <a:lvl3pPr algn="ctr">
              <a:defRPr sz="1500" b="0" i="0">
                <a:solidFill>
                  <a:srgbClr val="132238"/>
                </a:solidFill>
              </a:defRPr>
            </a:lvl3pPr>
            <a:lvl4pPr algn="ctr">
              <a:defRPr sz="1500" b="0" i="0">
                <a:solidFill>
                  <a:srgbClr val="132238"/>
                </a:solidFill>
              </a:defRPr>
            </a:lvl4pPr>
            <a:lvl5pPr algn="ctr">
              <a:defRPr sz="1500" b="0" i="0">
                <a:solidFill>
                  <a:srgbClr val="132238"/>
                </a:solidFill>
              </a:defRPr>
            </a:lvl5pPr>
            <a:lvl6pPr algn="ctr">
              <a:defRPr sz="1500" b="0" i="0">
                <a:solidFill>
                  <a:srgbClr val="132238"/>
                </a:solidFill>
              </a:defRPr>
            </a:lvl6pPr>
            <a:lvl7pPr algn="ctr">
              <a:defRPr sz="1500" b="0" i="0">
                <a:solidFill>
                  <a:srgbClr val="132238"/>
                </a:solidFill>
              </a:defRPr>
            </a:lvl7pPr>
            <a:lvl8pPr algn="ctr">
              <a:defRPr sz="1500" b="0" i="0">
                <a:solidFill>
                  <a:srgbClr val="132238"/>
                </a:solidFill>
              </a:defRPr>
            </a:lvl8pPr>
            <a:lvl9pPr algn="ctr">
              <a:defRPr sz="1500" b="0" i="0">
                <a:solidFill>
                  <a:srgbClr val="132238"/>
                </a:solidFill>
              </a:defRPr>
            </a:lvl9pPr>
          </a:lstStyle>
          <a:p xmlns:a="http://schemas.openxmlformats.org/drawingml/2006/main">
            <a:pPr algn="ctr">
              <a:defRPr sz="1500" b="0" i="0">
                <a:solidFill>
                  <a:srgbClr val="132238"/>
                </a:solidFill>
              </a:defRPr>
            </a:pPr>
            <a:r>
              <a:rPr sz="1500" b="0" i="0">
                <a:solidFill>
                  <a:srgbClr val="132238"/>
                </a:solidFill>
              </a:rPr>
              <a:t>59 corrects pour les deux</a:t>
            </a:r>
          </a:p>
          <a:p xmlns:a="http://schemas.openxmlformats.org/drawingml/2006/main">
            <a:pPr algn="ctr">
              <a:defRPr sz="1500" b="0" i="0">
                <a:solidFill>
                  <a:srgbClr val="132238"/>
                </a:solidFill>
              </a:defRPr>
            </a:pPr>
            <a:r>
              <a:rPr sz="1500" b="0" i="0">
                <a:solidFill>
                  <a:srgbClr val="132238"/>
                </a:solidFill>
              </a:rPr>
              <a:t>29 corrects pour le LSTM seul</a:t>
            </a:r>
          </a:p>
          <a:p xmlns:a="http://schemas.openxmlformats.org/drawingml/2006/main">
            <a:pPr algn="ctr">
              <a:defRPr sz="1500" b="0" i="0">
                <a:solidFill>
                  <a:srgbClr val="132238"/>
                </a:solidFill>
              </a:defRPr>
            </a:pPr>
            <a:r>
              <a:rPr sz="1500" b="0" i="0">
                <a:solidFill>
                  <a:srgbClr val="132238"/>
                </a:solidFill>
              </a:rPr>
              <a:t>16 corrects pour le SimpleRNN seul</a:t>
            </a:r>
          </a:p>
          <a:p xmlns:a="http://schemas.openxmlformats.org/drawingml/2006/main">
            <a:pPr algn="ctr">
              <a:defRPr sz="1500" b="0" i="0">
                <a:solidFill>
                  <a:srgbClr val="132238"/>
                </a:solidFill>
              </a:defRPr>
            </a:pPr>
            <a:r>
              <a:rPr sz="1500" b="0" i="0">
                <a:solidFill>
                  <a:srgbClr val="132238"/>
                </a:solidFill>
              </a:rPr>
              <a:t>1 937 faux pour les deux</a:t>
            </a:r>
          </a:p>
        </p:txBody>
      </p:sp>
      <p:sp>
        <p:nvSpPr>
          <p:cNvPr id="10" name="">
            <a:extLst xmlns:a="http://schemas.openxmlformats.org/drawingml/2006/main">
              <a:ext uri="{FF2B5EF4-FFF2-40B4-BE49-F238E27FC236}">
                <a16:creationId xmlns:a16="http://schemas.microsoft.com/office/drawing/2014/main" id="{2F0663D8-9BAA-4B27-9362-4068775E35D8}"/>
              </a:ext>
            </a:extLst>
          </p:cNvPr>
          <p:cNvSpPr>
            <a:spLocks xmlns:a="http://schemas.openxmlformats.org/drawingml/2006/main" noGrp="1"/>
          </p:cNvSpPr>
          <p:nvPr/>
        </p:nvSpPr>
        <p:spPr>
          <a:xfrm xmlns:a="http://schemas.openxmlformats.org/drawingml/2006/main">
            <a:off x="7191375" y="5143500"/>
            <a:ext cx="4095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132238"/>
                </a:solidFill>
              </a:defRPr>
            </a:defPPr>
            <a:lvl1pPr algn="ctr">
              <a:defRPr sz="1500" b="1" i="0">
                <a:solidFill>
                  <a:srgbClr val="132238"/>
                </a:solidFill>
              </a:defRPr>
            </a:lvl1pPr>
            <a:lvl2pPr algn="ctr">
              <a:defRPr sz="1500" b="1" i="0">
                <a:solidFill>
                  <a:srgbClr val="132238"/>
                </a:solidFill>
              </a:defRPr>
            </a:lvl2pPr>
            <a:lvl3pPr algn="ctr">
              <a:defRPr sz="1500" b="1" i="0">
                <a:solidFill>
                  <a:srgbClr val="132238"/>
                </a:solidFill>
              </a:defRPr>
            </a:lvl3pPr>
            <a:lvl4pPr algn="ctr">
              <a:defRPr sz="1500" b="1" i="0">
                <a:solidFill>
                  <a:srgbClr val="132238"/>
                </a:solidFill>
              </a:defRPr>
            </a:lvl4pPr>
            <a:lvl5pPr algn="ctr">
              <a:defRPr sz="1500" b="1" i="0">
                <a:solidFill>
                  <a:srgbClr val="132238"/>
                </a:solidFill>
              </a:defRPr>
            </a:lvl5pPr>
            <a:lvl6pPr algn="ctr">
              <a:defRPr sz="1500" b="1" i="0">
                <a:solidFill>
                  <a:srgbClr val="132238"/>
                </a:solidFill>
              </a:defRPr>
            </a:lvl6pPr>
            <a:lvl7pPr algn="ctr">
              <a:defRPr sz="1500" b="1" i="0">
                <a:solidFill>
                  <a:srgbClr val="132238"/>
                </a:solidFill>
              </a:defRPr>
            </a:lvl7pPr>
            <a:lvl8pPr algn="ctr">
              <a:defRPr sz="1500" b="1" i="0">
                <a:solidFill>
                  <a:srgbClr val="132238"/>
                </a:solidFill>
              </a:defRPr>
            </a:lvl8pPr>
            <a:lvl9pPr algn="ctr">
              <a:defRPr sz="1500" b="1" i="0">
                <a:solidFill>
                  <a:srgbClr val="132238"/>
                </a:solidFill>
              </a:defRPr>
            </a:lvl9pPr>
          </a:lstStyle>
          <a:p xmlns:a="http://schemas.openxmlformats.org/drawingml/2006/main">
            <a:pPr algn="ctr">
              <a:defRPr sz="1500" b="1" i="0">
                <a:solidFill>
                  <a:srgbClr val="132238"/>
                </a:solidFill>
              </a:defRPr>
            </a:pPr>
            <a:r>
              <a:rPr sz="1500" b="1" i="0">
                <a:solidFill>
                  <a:srgbClr val="132238"/>
                </a:solidFill>
              </a:rPr>
              <a:t>Le LSTM gagne 0,64 point d’accuracy connue, mais sa perte globale se dégrade. Il concentre ses top-1 sur 17 identifiants, contre 60.</a:t>
            </a:r>
          </a:p>
        </p:txBody>
      </p:sp>
      <p:sp>
        <p:nvSpPr>
          <p:cNvPr id="11" name="">
            <a:extLst xmlns:a="http://schemas.openxmlformats.org/drawingml/2006/main">
              <a:ext uri="{FF2B5EF4-FFF2-40B4-BE49-F238E27FC236}">
                <a16:creationId xmlns:a16="http://schemas.microsoft.com/office/drawing/2014/main" id="{480FDE1C-17EC-4742-B679-8D121346C958}"/>
              </a:ext>
            </a:extLst>
          </p:cNvPr>
          <p:cNvSpPr>
            <a:spLocks xmlns:a="http://schemas.openxmlformats.org/drawingml/2006/main" noGrp="1"/>
          </p:cNvSpPr>
          <p:nvPr/>
        </p:nvSpPr>
        <p:spPr>
          <a:xfrm xmlns:a="http://schemas.openxmlformats.org/drawingml/2006/main">
            <a:off x="666750" y="53340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650" b="1" i="0">
                <a:solidFill>
                  <a:srgbClr val="B94A48"/>
                </a:solidFill>
              </a:defRPr>
            </a:defPPr>
            <a:lvl1pPr algn="ctr">
              <a:defRPr sz="1650" b="1" i="0">
                <a:solidFill>
                  <a:srgbClr val="B94A48"/>
                </a:solidFill>
              </a:defRPr>
            </a:lvl1pPr>
            <a:lvl2pPr algn="ctr">
              <a:defRPr sz="1650" b="1" i="0">
                <a:solidFill>
                  <a:srgbClr val="B94A48"/>
                </a:solidFill>
              </a:defRPr>
            </a:lvl2pPr>
            <a:lvl3pPr algn="ctr">
              <a:defRPr sz="1650" b="1" i="0">
                <a:solidFill>
                  <a:srgbClr val="B94A48"/>
                </a:solidFill>
              </a:defRPr>
            </a:lvl3pPr>
            <a:lvl4pPr algn="ctr">
              <a:defRPr sz="1650" b="1" i="0">
                <a:solidFill>
                  <a:srgbClr val="B94A48"/>
                </a:solidFill>
              </a:defRPr>
            </a:lvl4pPr>
            <a:lvl5pPr algn="ctr">
              <a:defRPr sz="1650" b="1" i="0">
                <a:solidFill>
                  <a:srgbClr val="B94A48"/>
                </a:solidFill>
              </a:defRPr>
            </a:lvl5pPr>
            <a:lvl6pPr algn="ctr">
              <a:defRPr sz="1650" b="1" i="0">
                <a:solidFill>
                  <a:srgbClr val="B94A48"/>
                </a:solidFill>
              </a:defRPr>
            </a:lvl6pPr>
            <a:lvl7pPr algn="ctr">
              <a:defRPr sz="1650" b="1" i="0">
                <a:solidFill>
                  <a:srgbClr val="B94A48"/>
                </a:solidFill>
              </a:defRPr>
            </a:lvl7pPr>
            <a:lvl8pPr algn="ctr">
              <a:defRPr sz="1650" b="1" i="0">
                <a:solidFill>
                  <a:srgbClr val="B94A48"/>
                </a:solidFill>
              </a:defRPr>
            </a:lvl8pPr>
            <a:lvl9pPr algn="ctr">
              <a:defRPr sz="1650" b="1" i="0">
                <a:solidFill>
                  <a:srgbClr val="B94A48"/>
                </a:solidFill>
              </a:defRPr>
            </a:lvl9pPr>
          </a:lstStyle>
          <a:p xmlns:a="http://schemas.openxmlformats.org/drawingml/2006/main">
            <a:pPr algn="ctr">
              <a:defRPr sz="1650" b="1" i="0">
                <a:solidFill>
                  <a:srgbClr val="B94A48"/>
                </a:solidFill>
              </a:defRPr>
            </a:pPr>
            <a:r>
              <a:rPr sz="1650" b="1" i="0">
                <a:solidFill>
                  <a:srgbClr val="B94A48"/>
                </a:solidFill>
              </a:rPr>
              <a:t>Aucune nouvelle passe sur le test</a:t>
            </a:r>
          </a:p>
        </p:txBody>
      </p:sp>
    </p:spTree>
    <p:extLst>
      <p:ext uri="{BB962C8B-B14F-4D97-AF65-F5344CB8AC3E}">
        <p14:creationId xmlns:p14="http://schemas.microsoft.com/office/powerpoint/2010/main" val="535897158"/>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12B80F-0351-45F1-BCB7-3E25F11D9CE9}"/>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i="0">
                <a:solidFill>
                  <a:srgbClr val="132238"/>
                </a:solidFill>
              </a:defRPr>
            </a:defPPr>
            <a:lvl1pPr algn="l">
              <a:defRPr sz="2850" b="1" i="0">
                <a:solidFill>
                  <a:srgbClr val="132238"/>
                </a:solidFill>
              </a:defRPr>
            </a:lvl1pPr>
            <a:lvl2pPr algn="l">
              <a:defRPr sz="2850" b="1" i="0">
                <a:solidFill>
                  <a:srgbClr val="132238"/>
                </a:solidFill>
              </a:defRPr>
            </a:lvl2pPr>
            <a:lvl3pPr algn="l">
              <a:defRPr sz="2850" b="1" i="0">
                <a:solidFill>
                  <a:srgbClr val="132238"/>
                </a:solidFill>
              </a:defRPr>
            </a:lvl3pPr>
            <a:lvl4pPr algn="l">
              <a:defRPr sz="2850" b="1" i="0">
                <a:solidFill>
                  <a:srgbClr val="132238"/>
                </a:solidFill>
              </a:defRPr>
            </a:lvl4pPr>
            <a:lvl5pPr algn="l">
              <a:defRPr sz="2850" b="1" i="0">
                <a:solidFill>
                  <a:srgbClr val="132238"/>
                </a:solidFill>
              </a:defRPr>
            </a:lvl5pPr>
            <a:lvl6pPr algn="l">
              <a:defRPr sz="2850" b="1" i="0">
                <a:solidFill>
                  <a:srgbClr val="132238"/>
                </a:solidFill>
              </a:defRPr>
            </a:lvl6pPr>
            <a:lvl7pPr algn="l">
              <a:defRPr sz="2850" b="1" i="0">
                <a:solidFill>
                  <a:srgbClr val="132238"/>
                </a:solidFill>
              </a:defRPr>
            </a:lvl7pPr>
            <a:lvl8pPr algn="l">
              <a:defRPr sz="2850" b="1" i="0">
                <a:solidFill>
                  <a:srgbClr val="132238"/>
                </a:solidFill>
              </a:defRPr>
            </a:lvl8pPr>
            <a:lvl9pPr algn="l">
              <a:defRPr sz="2850" b="1" i="0">
                <a:solidFill>
                  <a:srgbClr val="132238"/>
                </a:solidFill>
              </a:defRPr>
            </a:lvl9pPr>
          </a:lstStyle>
          <a:p xmlns:a="http://schemas.openxmlformats.org/drawingml/2006/main">
            <a:pPr algn="l">
              <a:defRPr sz="2850" b="1" i="0">
                <a:solidFill>
                  <a:srgbClr val="132238"/>
                </a:solidFill>
              </a:defRPr>
            </a:pPr>
            <a:r>
              <a:rPr sz="2850" b="1" i="0">
                <a:solidFill>
                  <a:srgbClr val="132238"/>
                </a:solidFill>
              </a:rPr>
              <a:t>Génération : le LSTM produit ici un texte plus répétitif</a:t>
            </a:r>
          </a:p>
        </p:txBody>
      </p:sp>
      <p:sp>
        <p:nvSpPr>
          <p:cNvPr id="2" name="">
            <a:extLst xmlns:a="http://schemas.openxmlformats.org/drawingml/2006/main">
              <a:ext uri="{FF2B5EF4-FFF2-40B4-BE49-F238E27FC236}">
                <a16:creationId xmlns:a16="http://schemas.microsoft.com/office/drawing/2014/main" id="{ED9B0AE9-46B5-4F75-A508-9F60EACB38A2}"/>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6757B8"/>
          </a:solidFill>
          <a:ln xmlns:a="http://schemas.openxmlformats.org/drawingml/2006/main" w="0">
            <a:solidFill>
              <a:srgbClr val="6757B8"/>
            </a:solidFill>
            <a:prstDash val="solid"/>
          </a:ln>
        </p:spPr>
      </p:sp>
      <p:sp>
        <p:nvSpPr>
          <p:cNvPr id="3" name="">
            <a:extLst xmlns:a="http://schemas.openxmlformats.org/drawingml/2006/main">
              <a:ext uri="{FF2B5EF4-FFF2-40B4-BE49-F238E27FC236}">
                <a16:creationId xmlns:a16="http://schemas.microsoft.com/office/drawing/2014/main" id="{8353078A-2FDE-40C2-A409-9C8C602E5AFF}"/>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11</a:t>
            </a:r>
          </a:p>
        </p:txBody>
      </p:sp>
      <p:sp>
        <p:nvSpPr>
          <p:cNvPr id="4" name="">
            <a:extLst xmlns:a="http://schemas.openxmlformats.org/drawingml/2006/main">
              <a:ext uri="{FF2B5EF4-FFF2-40B4-BE49-F238E27FC236}">
                <a16:creationId xmlns:a16="http://schemas.microsoft.com/office/drawing/2014/main" id="{262FBAAB-D6CA-4C84-86C1-6EDAF95BC999}"/>
              </a:ext>
            </a:extLst>
          </p:cNvPr>
          <p:cNvSpPr>
            <a:spLocks xmlns:a="http://schemas.openxmlformats.org/drawingml/2006/main" noGrp="1"/>
          </p:cNvSpPr>
          <p:nvPr/>
        </p:nvSpPr>
        <p:spPr>
          <a:xfrm xmlns:a="http://schemas.openxmlformats.org/drawingml/2006/main">
            <a:off x="666750" y="131445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725" b="1" i="0">
                <a:solidFill>
                  <a:srgbClr val="6757B8"/>
                </a:solidFill>
              </a:defRPr>
            </a:defPPr>
            <a:lvl1pPr algn="l">
              <a:defRPr sz="1725" b="1" i="0">
                <a:solidFill>
                  <a:srgbClr val="6757B8"/>
                </a:solidFill>
              </a:defRPr>
            </a:lvl1pPr>
            <a:lvl2pPr algn="l">
              <a:defRPr sz="1725" b="1" i="0">
                <a:solidFill>
                  <a:srgbClr val="6757B8"/>
                </a:solidFill>
              </a:defRPr>
            </a:lvl2pPr>
            <a:lvl3pPr algn="l">
              <a:defRPr sz="1725" b="1" i="0">
                <a:solidFill>
                  <a:srgbClr val="6757B8"/>
                </a:solidFill>
              </a:defRPr>
            </a:lvl3pPr>
            <a:lvl4pPr algn="l">
              <a:defRPr sz="1725" b="1" i="0">
                <a:solidFill>
                  <a:srgbClr val="6757B8"/>
                </a:solidFill>
              </a:defRPr>
            </a:lvl4pPr>
            <a:lvl5pPr algn="l">
              <a:defRPr sz="1725" b="1" i="0">
                <a:solidFill>
                  <a:srgbClr val="6757B8"/>
                </a:solidFill>
              </a:defRPr>
            </a:lvl5pPr>
            <a:lvl6pPr algn="l">
              <a:defRPr sz="1725" b="1" i="0">
                <a:solidFill>
                  <a:srgbClr val="6757B8"/>
                </a:solidFill>
              </a:defRPr>
            </a:lvl6pPr>
            <a:lvl7pPr algn="l">
              <a:defRPr sz="1725" b="1" i="0">
                <a:solidFill>
                  <a:srgbClr val="6757B8"/>
                </a:solidFill>
              </a:defRPr>
            </a:lvl7pPr>
            <a:lvl8pPr algn="l">
              <a:defRPr sz="1725" b="1" i="0">
                <a:solidFill>
                  <a:srgbClr val="6757B8"/>
                </a:solidFill>
              </a:defRPr>
            </a:lvl8pPr>
            <a:lvl9pPr algn="l">
              <a:defRPr sz="1725" b="1" i="0">
                <a:solidFill>
                  <a:srgbClr val="6757B8"/>
                </a:solidFill>
              </a:defRPr>
            </a:lvl9pPr>
          </a:lstStyle>
          <a:p xmlns:a="http://schemas.openxmlformats.org/drawingml/2006/main">
            <a:pPr algn="l">
              <a:defRPr sz="1725" b="1" i="0">
                <a:solidFill>
                  <a:srgbClr val="6757B8"/>
                </a:solidFill>
              </a:defRPr>
            </a:pPr>
            <a:r>
              <a:rPr sz="1725" b="1" i="0">
                <a:solidFill>
                  <a:srgbClr val="6757B8"/>
                </a:solidFill>
              </a:rPr>
              <a:t>Amorce commune : « j’aime l’araignée et »</a:t>
            </a:r>
          </a:p>
        </p:txBody>
      </p:sp>
      <p:graphicFrame>
        <p:nvGraphicFramePr>
          <p:cNvPr id="5" name="Chart">
            <a:extLst xmlns:a="http://schemas.openxmlformats.org/drawingml/2006/main">
              <a:ext uri="{FF2B5EF4-FFF2-40B4-BE49-F238E27FC236}">
                <a16:creationId xmlns:a16="http://schemas.microsoft.com/office/drawing/2014/main" id="{69C97044-C7CD-4DC0-85E4-F11D7CDE0CF7}"/>
              </a:ext>
            </a:extLst>
          </p:cNvPr>
          <p:cNvGraphicFramePr/>
          <p:nvPr/>
        </p:nvGraphicFramePr>
        <p:xfrm>
          <a:off xmlns:a="http://schemas.openxmlformats.org/drawingml/2006/main" x="523875" y="1809750"/>
          <a:ext xmlns:a="http://schemas.openxmlformats.org/drawingml/2006/main" cx="6858000" cy="3429000"/>
        </p:xfrm>
        <a:graphic xmlns:a="http://schemas.openxmlformats.org/drawingml/2006/main">
          <a:graphicData uri="http://schemas.openxmlformats.org/drawingml/2006/chart">
            <c:chart xmlns:r="http://schemas.openxmlformats.org/officeDocument/2006/relationships" xmlns:c="http://schemas.openxmlformats.org/drawingml/2006/chart" r:id="Rd7d6e26726f34b5c"/>
          </a:graphicData>
        </a:graphic>
      </p:graphicFrame>
      <p:sp>
        <p:nvSpPr>
          <p:cNvPr id="6" name="">
            <a:extLst xmlns:a="http://schemas.openxmlformats.org/drawingml/2006/main">
              <a:ext uri="{FF2B5EF4-FFF2-40B4-BE49-F238E27FC236}">
                <a16:creationId xmlns:a16="http://schemas.microsoft.com/office/drawing/2014/main" id="{3BE5B7D7-EEF2-4FB7-AC77-80A732DECD2B}"/>
              </a:ext>
            </a:extLst>
          </p:cNvPr>
          <p:cNvSpPr>
            <a:spLocks xmlns:a="http://schemas.openxmlformats.org/drawingml/2006/main" noGrp="1"/>
          </p:cNvSpPr>
          <p:nvPr/>
        </p:nvSpPr>
        <p:spPr>
          <a:xfrm xmlns:a="http://schemas.openxmlformats.org/drawingml/2006/main">
            <a:off x="762000" y="5334000"/>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E6B78"/>
                </a:solidFill>
              </a:defRPr>
            </a:defPPr>
            <a:lvl1pPr algn="ctr">
              <a:defRPr sz="1350" b="0" i="0">
                <a:solidFill>
                  <a:srgbClr val="5E6B78"/>
                </a:solidFill>
              </a:defRPr>
            </a:lvl1pPr>
            <a:lvl2pPr algn="ctr">
              <a:defRPr sz="1350" b="0" i="0">
                <a:solidFill>
                  <a:srgbClr val="5E6B78"/>
                </a:solidFill>
              </a:defRPr>
            </a:lvl2pPr>
            <a:lvl3pPr algn="ctr">
              <a:defRPr sz="1350" b="0" i="0">
                <a:solidFill>
                  <a:srgbClr val="5E6B78"/>
                </a:solidFill>
              </a:defRPr>
            </a:lvl3pPr>
            <a:lvl4pPr algn="ctr">
              <a:defRPr sz="1350" b="0" i="0">
                <a:solidFill>
                  <a:srgbClr val="5E6B78"/>
                </a:solidFill>
              </a:defRPr>
            </a:lvl4pPr>
            <a:lvl5pPr algn="ctr">
              <a:defRPr sz="1350" b="0" i="0">
                <a:solidFill>
                  <a:srgbClr val="5E6B78"/>
                </a:solidFill>
              </a:defRPr>
            </a:lvl5pPr>
            <a:lvl6pPr algn="ctr">
              <a:defRPr sz="1350" b="0" i="0">
                <a:solidFill>
                  <a:srgbClr val="5E6B78"/>
                </a:solidFill>
              </a:defRPr>
            </a:lvl6pPr>
            <a:lvl7pPr algn="ctr">
              <a:defRPr sz="1350" b="0" i="0">
                <a:solidFill>
                  <a:srgbClr val="5E6B78"/>
                </a:solidFill>
              </a:defRPr>
            </a:lvl7pPr>
            <a:lvl8pPr algn="ctr">
              <a:defRPr sz="1350" b="0" i="0">
                <a:solidFill>
                  <a:srgbClr val="5E6B78"/>
                </a:solidFill>
              </a:defRPr>
            </a:lvl8pPr>
            <a:lvl9pPr algn="ctr">
              <a:defRPr sz="1350" b="0" i="0">
                <a:solidFill>
                  <a:srgbClr val="5E6B78"/>
                </a:solidFill>
              </a:defRPr>
            </a:lvl9pPr>
          </a:lstStyle>
          <a:p xmlns:a="http://schemas.openxmlformats.org/drawingml/2006/main">
            <a:pPr algn="ctr">
              <a:defRPr sz="1350" b="0" i="0">
                <a:solidFill>
                  <a:srgbClr val="5E6B78"/>
                </a:solidFill>
              </a:defRPr>
            </a:pPr>
            <a:r>
              <a:rPr sz="1350" b="0" i="0">
                <a:solidFill>
                  <a:srgbClr val="5E6B78"/>
                </a:solidFill>
              </a:rPr>
              <a:t>Diversité types / tokens sur 30 mots (%)</a:t>
            </a:r>
          </a:p>
        </p:txBody>
      </p:sp>
      <p:sp>
        <p:nvSpPr>
          <p:cNvPr id="7" name="">
            <a:extLst xmlns:a="http://schemas.openxmlformats.org/drawingml/2006/main">
              <a:ext uri="{FF2B5EF4-FFF2-40B4-BE49-F238E27FC236}">
                <a16:creationId xmlns:a16="http://schemas.microsoft.com/office/drawing/2014/main" id="{57D6536D-CC85-4592-AD1A-1A8E6B92DBEB}"/>
              </a:ext>
            </a:extLst>
          </p:cNvPr>
          <p:cNvSpPr>
            <a:spLocks xmlns:a="http://schemas.openxmlformats.org/drawingml/2006/main" noGrp="1"/>
          </p:cNvSpPr>
          <p:nvPr/>
        </p:nvSpPr>
        <p:spPr>
          <a:xfrm xmlns:a="http://schemas.openxmlformats.org/drawingml/2006/main">
            <a:off x="7905750" y="1428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650" b="1" i="0">
                <a:solidFill>
                  <a:srgbClr val="6757B8"/>
                </a:solidFill>
              </a:defRPr>
            </a:defPPr>
            <a:lvl1pPr algn="ctr">
              <a:defRPr sz="1650" b="1" i="0">
                <a:solidFill>
                  <a:srgbClr val="6757B8"/>
                </a:solidFill>
              </a:defRPr>
            </a:lvl1pPr>
            <a:lvl2pPr algn="ctr">
              <a:defRPr sz="1650" b="1" i="0">
                <a:solidFill>
                  <a:srgbClr val="6757B8"/>
                </a:solidFill>
              </a:defRPr>
            </a:lvl2pPr>
            <a:lvl3pPr algn="ctr">
              <a:defRPr sz="1650" b="1" i="0">
                <a:solidFill>
                  <a:srgbClr val="6757B8"/>
                </a:solidFill>
              </a:defRPr>
            </a:lvl3pPr>
            <a:lvl4pPr algn="ctr">
              <a:defRPr sz="1650" b="1" i="0">
                <a:solidFill>
                  <a:srgbClr val="6757B8"/>
                </a:solidFill>
              </a:defRPr>
            </a:lvl4pPr>
            <a:lvl5pPr algn="ctr">
              <a:defRPr sz="1650" b="1" i="0">
                <a:solidFill>
                  <a:srgbClr val="6757B8"/>
                </a:solidFill>
              </a:defRPr>
            </a:lvl5pPr>
            <a:lvl6pPr algn="ctr">
              <a:defRPr sz="1650" b="1" i="0">
                <a:solidFill>
                  <a:srgbClr val="6757B8"/>
                </a:solidFill>
              </a:defRPr>
            </a:lvl6pPr>
            <a:lvl7pPr algn="ctr">
              <a:defRPr sz="1650" b="1" i="0">
                <a:solidFill>
                  <a:srgbClr val="6757B8"/>
                </a:solidFill>
              </a:defRPr>
            </a:lvl7pPr>
            <a:lvl8pPr algn="ctr">
              <a:defRPr sz="1650" b="1" i="0">
                <a:solidFill>
                  <a:srgbClr val="6757B8"/>
                </a:solidFill>
              </a:defRPr>
            </a:lvl8pPr>
            <a:lvl9pPr algn="ctr">
              <a:defRPr sz="1650" b="1" i="0">
                <a:solidFill>
                  <a:srgbClr val="6757B8"/>
                </a:solidFill>
              </a:defRPr>
            </a:lvl9pPr>
          </a:lstStyle>
          <a:p xmlns:a="http://schemas.openxmlformats.org/drawingml/2006/main">
            <a:pPr algn="ctr">
              <a:defRPr sz="1650" b="1" i="0">
                <a:solidFill>
                  <a:srgbClr val="6757B8"/>
                </a:solidFill>
              </a:defRPr>
            </a:pPr>
            <a:r>
              <a:rPr sz="1650" b="1" i="0">
                <a:solidFill>
                  <a:srgbClr val="6757B8"/>
                </a:solidFill>
              </a:rPr>
              <a:t>Décodage glouton</a:t>
            </a:r>
          </a:p>
        </p:txBody>
      </p:sp>
      <p:sp>
        <p:nvSpPr>
          <p:cNvPr id="8" name="">
            <a:extLst xmlns:a="http://schemas.openxmlformats.org/drawingml/2006/main">
              <a:ext uri="{FF2B5EF4-FFF2-40B4-BE49-F238E27FC236}">
                <a16:creationId xmlns:a16="http://schemas.microsoft.com/office/drawing/2014/main" id="{5487A1C8-6D14-4235-AF80-C0C22EED5668}"/>
              </a:ext>
            </a:extLst>
          </p:cNvPr>
          <p:cNvSpPr>
            <a:spLocks xmlns:a="http://schemas.openxmlformats.org/drawingml/2006/main" noGrp="1"/>
          </p:cNvSpPr>
          <p:nvPr/>
        </p:nvSpPr>
        <p:spPr>
          <a:xfrm xmlns:a="http://schemas.openxmlformats.org/drawingml/2006/main">
            <a:off x="7905750" y="2047875"/>
            <a:ext cx="3143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0" i="0">
                <a:solidFill>
                  <a:srgbClr val="132238"/>
                </a:solidFill>
              </a:defRPr>
            </a:defPPr>
            <a:lvl1pPr algn="ctr">
              <a:defRPr sz="1500" b="0" i="0">
                <a:solidFill>
                  <a:srgbClr val="132238"/>
                </a:solidFill>
              </a:defRPr>
            </a:lvl1pPr>
            <a:lvl2pPr algn="ctr">
              <a:defRPr sz="1500" b="0" i="0">
                <a:solidFill>
                  <a:srgbClr val="132238"/>
                </a:solidFill>
              </a:defRPr>
            </a:lvl2pPr>
            <a:lvl3pPr algn="ctr">
              <a:defRPr sz="1500" b="0" i="0">
                <a:solidFill>
                  <a:srgbClr val="132238"/>
                </a:solidFill>
              </a:defRPr>
            </a:lvl3pPr>
            <a:lvl4pPr algn="ctr">
              <a:defRPr sz="1500" b="0" i="0">
                <a:solidFill>
                  <a:srgbClr val="132238"/>
                </a:solidFill>
              </a:defRPr>
            </a:lvl4pPr>
            <a:lvl5pPr algn="ctr">
              <a:defRPr sz="1500" b="0" i="0">
                <a:solidFill>
                  <a:srgbClr val="132238"/>
                </a:solidFill>
              </a:defRPr>
            </a:lvl5pPr>
            <a:lvl6pPr algn="ctr">
              <a:defRPr sz="1500" b="0" i="0">
                <a:solidFill>
                  <a:srgbClr val="132238"/>
                </a:solidFill>
              </a:defRPr>
            </a:lvl6pPr>
            <a:lvl7pPr algn="ctr">
              <a:defRPr sz="1500" b="0" i="0">
                <a:solidFill>
                  <a:srgbClr val="132238"/>
                </a:solidFill>
              </a:defRPr>
            </a:lvl7pPr>
            <a:lvl8pPr algn="ctr">
              <a:defRPr sz="1500" b="0" i="0">
                <a:solidFill>
                  <a:srgbClr val="132238"/>
                </a:solidFill>
              </a:defRPr>
            </a:lvl8pPr>
            <a:lvl9pPr algn="ctr">
              <a:defRPr sz="1500" b="0" i="0">
                <a:solidFill>
                  <a:srgbClr val="132238"/>
                </a:solidFill>
              </a:defRPr>
            </a:lvl9pPr>
          </a:lstStyle>
          <a:p xmlns:a="http://schemas.openxmlformats.org/drawingml/2006/main">
            <a:pPr algn="ctr">
              <a:defRPr sz="1500" b="0" i="0">
                <a:solidFill>
                  <a:srgbClr val="132238"/>
                </a:solidFill>
              </a:defRPr>
            </a:pPr>
            <a:r>
              <a:rPr sz="1500" b="0" i="0">
                <a:solidFill>
                  <a:srgbClr val="132238"/>
                </a:solidFill>
              </a:rPr>
              <a:t>SimpleRNN</a:t>
            </a:r>
          </a:p>
          <a:p xmlns:a="http://schemas.openxmlformats.org/drawingml/2006/main">
            <a:pPr algn="ctr">
              <a:defRPr sz="1500" b="0" i="0">
                <a:solidFill>
                  <a:srgbClr val="132238"/>
                </a:solidFill>
              </a:defRPr>
            </a:pPr>
            <a:r>
              <a:rPr sz="1500" b="0" i="0">
                <a:solidFill>
                  <a:srgbClr val="132238"/>
                </a:solidFill>
              </a:rPr>
              <a:t>« … et la nuit et la nuit … »</a:t>
            </a:r>
          </a:p>
        </p:txBody>
      </p:sp>
      <p:sp>
        <p:nvSpPr>
          <p:cNvPr id="9" name="">
            <a:extLst xmlns:a="http://schemas.openxmlformats.org/drawingml/2006/main">
              <a:ext uri="{FF2B5EF4-FFF2-40B4-BE49-F238E27FC236}">
                <a16:creationId xmlns:a16="http://schemas.microsoft.com/office/drawing/2014/main" id="{8F8992EA-7F7F-4309-82A6-2E265852B837}"/>
              </a:ext>
            </a:extLst>
          </p:cNvPr>
          <p:cNvSpPr>
            <a:spLocks xmlns:a="http://schemas.openxmlformats.org/drawingml/2006/main" noGrp="1"/>
          </p:cNvSpPr>
          <p:nvPr/>
        </p:nvSpPr>
        <p:spPr>
          <a:xfrm xmlns:a="http://schemas.openxmlformats.org/drawingml/2006/main">
            <a:off x="7905750" y="31432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0" i="0">
                <a:solidFill>
                  <a:srgbClr val="132238"/>
                </a:solidFill>
              </a:defRPr>
            </a:defPPr>
            <a:lvl1pPr algn="ctr">
              <a:defRPr sz="1500" b="0" i="0">
                <a:solidFill>
                  <a:srgbClr val="132238"/>
                </a:solidFill>
              </a:defRPr>
            </a:lvl1pPr>
            <a:lvl2pPr algn="ctr">
              <a:defRPr sz="1500" b="0" i="0">
                <a:solidFill>
                  <a:srgbClr val="132238"/>
                </a:solidFill>
              </a:defRPr>
            </a:lvl2pPr>
            <a:lvl3pPr algn="ctr">
              <a:defRPr sz="1500" b="0" i="0">
                <a:solidFill>
                  <a:srgbClr val="132238"/>
                </a:solidFill>
              </a:defRPr>
            </a:lvl3pPr>
            <a:lvl4pPr algn="ctr">
              <a:defRPr sz="1500" b="0" i="0">
                <a:solidFill>
                  <a:srgbClr val="132238"/>
                </a:solidFill>
              </a:defRPr>
            </a:lvl4pPr>
            <a:lvl5pPr algn="ctr">
              <a:defRPr sz="1500" b="0" i="0">
                <a:solidFill>
                  <a:srgbClr val="132238"/>
                </a:solidFill>
              </a:defRPr>
            </a:lvl5pPr>
            <a:lvl6pPr algn="ctr">
              <a:defRPr sz="1500" b="0" i="0">
                <a:solidFill>
                  <a:srgbClr val="132238"/>
                </a:solidFill>
              </a:defRPr>
            </a:lvl6pPr>
            <a:lvl7pPr algn="ctr">
              <a:defRPr sz="1500" b="0" i="0">
                <a:solidFill>
                  <a:srgbClr val="132238"/>
                </a:solidFill>
              </a:defRPr>
            </a:lvl7pPr>
            <a:lvl8pPr algn="ctr">
              <a:defRPr sz="1500" b="0" i="0">
                <a:solidFill>
                  <a:srgbClr val="132238"/>
                </a:solidFill>
              </a:defRPr>
            </a:lvl8pPr>
            <a:lvl9pPr algn="ctr">
              <a:defRPr sz="1500" b="0" i="0">
                <a:solidFill>
                  <a:srgbClr val="132238"/>
                </a:solidFill>
              </a:defRPr>
            </a:lvl9pPr>
          </a:lstStyle>
          <a:p xmlns:a="http://schemas.openxmlformats.org/drawingml/2006/main">
            <a:pPr algn="ctr">
              <a:defRPr sz="1500" b="0" i="0">
                <a:solidFill>
                  <a:srgbClr val="132238"/>
                </a:solidFill>
              </a:defRPr>
            </a:pPr>
            <a:r>
              <a:rPr sz="1500" b="0" i="0">
                <a:solidFill>
                  <a:srgbClr val="132238"/>
                </a:solidFill>
              </a:rPr>
              <a:t>LSTM</a:t>
            </a:r>
          </a:p>
          <a:p xmlns:a="http://schemas.openxmlformats.org/drawingml/2006/main">
            <a:pPr algn="ctr">
              <a:defRPr sz="1500" b="0" i="0">
                <a:solidFill>
                  <a:srgbClr val="132238"/>
                </a:solidFill>
              </a:defRPr>
            </a:pPr>
            <a:r>
              <a:rPr sz="1500" b="0" i="0">
                <a:solidFill>
                  <a:srgbClr val="132238"/>
                </a:solidFill>
              </a:rPr>
              <a:t>« … et la nuit et la nuit et la nuit … »</a:t>
            </a:r>
          </a:p>
        </p:txBody>
      </p:sp>
      <p:sp>
        <p:nvSpPr>
          <p:cNvPr id="10" name="">
            <a:extLst xmlns:a="http://schemas.openxmlformats.org/drawingml/2006/main">
              <a:ext uri="{FF2B5EF4-FFF2-40B4-BE49-F238E27FC236}">
                <a16:creationId xmlns:a16="http://schemas.microsoft.com/office/drawing/2014/main" id="{FC0CC184-961C-46AE-949C-97896073E4ED}"/>
              </a:ext>
            </a:extLst>
          </p:cNvPr>
          <p:cNvSpPr>
            <a:spLocks xmlns:a="http://schemas.openxmlformats.org/drawingml/2006/main" noGrp="1"/>
          </p:cNvSpPr>
          <p:nvPr/>
        </p:nvSpPr>
        <p:spPr>
          <a:xfrm xmlns:a="http://schemas.openxmlformats.org/drawingml/2006/main">
            <a:off x="7762875" y="4810125"/>
            <a:ext cx="342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75" b="1" i="0">
                <a:solidFill>
                  <a:srgbClr val="B94A48"/>
                </a:solidFill>
              </a:defRPr>
            </a:defPPr>
            <a:lvl1pPr algn="ctr">
              <a:defRPr sz="1575" b="1" i="0">
                <a:solidFill>
                  <a:srgbClr val="B94A48"/>
                </a:solidFill>
              </a:defRPr>
            </a:lvl1pPr>
            <a:lvl2pPr algn="ctr">
              <a:defRPr sz="1575" b="1" i="0">
                <a:solidFill>
                  <a:srgbClr val="B94A48"/>
                </a:solidFill>
              </a:defRPr>
            </a:lvl2pPr>
            <a:lvl3pPr algn="ctr">
              <a:defRPr sz="1575" b="1" i="0">
                <a:solidFill>
                  <a:srgbClr val="B94A48"/>
                </a:solidFill>
              </a:defRPr>
            </a:lvl3pPr>
            <a:lvl4pPr algn="ctr">
              <a:defRPr sz="1575" b="1" i="0">
                <a:solidFill>
                  <a:srgbClr val="B94A48"/>
                </a:solidFill>
              </a:defRPr>
            </a:lvl4pPr>
            <a:lvl5pPr algn="ctr">
              <a:defRPr sz="1575" b="1" i="0">
                <a:solidFill>
                  <a:srgbClr val="B94A48"/>
                </a:solidFill>
              </a:defRPr>
            </a:lvl5pPr>
            <a:lvl6pPr algn="ctr">
              <a:defRPr sz="1575" b="1" i="0">
                <a:solidFill>
                  <a:srgbClr val="B94A48"/>
                </a:solidFill>
              </a:defRPr>
            </a:lvl6pPr>
            <a:lvl7pPr algn="ctr">
              <a:defRPr sz="1575" b="1" i="0">
                <a:solidFill>
                  <a:srgbClr val="B94A48"/>
                </a:solidFill>
              </a:defRPr>
            </a:lvl7pPr>
            <a:lvl8pPr algn="ctr">
              <a:defRPr sz="1575" b="1" i="0">
                <a:solidFill>
                  <a:srgbClr val="B94A48"/>
                </a:solidFill>
              </a:defRPr>
            </a:lvl8pPr>
            <a:lvl9pPr algn="ctr">
              <a:defRPr sz="1575" b="1" i="0">
                <a:solidFill>
                  <a:srgbClr val="B94A48"/>
                </a:solidFill>
              </a:defRPr>
            </a:lvl9pPr>
          </a:lstStyle>
          <a:p xmlns:a="http://schemas.openxmlformats.org/drawingml/2006/main">
            <a:pPr algn="ctr">
              <a:defRPr sz="1575" b="1" i="0">
                <a:solidFill>
                  <a:srgbClr val="B94A48"/>
                </a:solidFill>
              </a:defRPr>
            </a:pPr>
            <a:r>
              <a:rPr sz="1575" b="1" i="0">
                <a:solidFill>
                  <a:srgbClr val="B94A48"/>
                </a:solidFill>
              </a:rPr>
              <a:t>Une seule amorce et un seul tirage par température ne suffisent pas pour mesurer la qualité littéraire.</a:t>
            </a:r>
          </a:p>
        </p:txBody>
      </p:sp>
    </p:spTree>
    <p:extLst>
      <p:ext uri="{BB962C8B-B14F-4D97-AF65-F5344CB8AC3E}">
        <p14:creationId xmlns:p14="http://schemas.microsoft.com/office/powerpoint/2010/main" val="548450216"/>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08F003-24BA-475D-8D12-5255885B6C66}"/>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i="0">
                <a:solidFill>
                  <a:srgbClr val="132238"/>
                </a:solidFill>
              </a:defRPr>
            </a:defPPr>
            <a:lvl1pPr algn="l">
              <a:defRPr sz="2850" b="1" i="0">
                <a:solidFill>
                  <a:srgbClr val="132238"/>
                </a:solidFill>
              </a:defRPr>
            </a:lvl1pPr>
            <a:lvl2pPr algn="l">
              <a:defRPr sz="2850" b="1" i="0">
                <a:solidFill>
                  <a:srgbClr val="132238"/>
                </a:solidFill>
              </a:defRPr>
            </a:lvl2pPr>
            <a:lvl3pPr algn="l">
              <a:defRPr sz="2850" b="1" i="0">
                <a:solidFill>
                  <a:srgbClr val="132238"/>
                </a:solidFill>
              </a:defRPr>
            </a:lvl3pPr>
            <a:lvl4pPr algn="l">
              <a:defRPr sz="2850" b="1" i="0">
                <a:solidFill>
                  <a:srgbClr val="132238"/>
                </a:solidFill>
              </a:defRPr>
            </a:lvl4pPr>
            <a:lvl5pPr algn="l">
              <a:defRPr sz="2850" b="1" i="0">
                <a:solidFill>
                  <a:srgbClr val="132238"/>
                </a:solidFill>
              </a:defRPr>
            </a:lvl5pPr>
            <a:lvl6pPr algn="l">
              <a:defRPr sz="2850" b="1" i="0">
                <a:solidFill>
                  <a:srgbClr val="132238"/>
                </a:solidFill>
              </a:defRPr>
            </a:lvl6pPr>
            <a:lvl7pPr algn="l">
              <a:defRPr sz="2850" b="1" i="0">
                <a:solidFill>
                  <a:srgbClr val="132238"/>
                </a:solidFill>
              </a:defRPr>
            </a:lvl7pPr>
            <a:lvl8pPr algn="l">
              <a:defRPr sz="2850" b="1" i="0">
                <a:solidFill>
                  <a:srgbClr val="132238"/>
                </a:solidFill>
              </a:defRPr>
            </a:lvl8pPr>
            <a:lvl9pPr algn="l">
              <a:defRPr sz="2850" b="1" i="0">
                <a:solidFill>
                  <a:srgbClr val="132238"/>
                </a:solidFill>
              </a:defRPr>
            </a:lvl9pPr>
          </a:lstStyle>
          <a:p xmlns:a="http://schemas.openxmlformats.org/drawingml/2006/main">
            <a:pPr algn="l">
              <a:defRPr sz="2850" b="1" i="0">
                <a:solidFill>
                  <a:srgbClr val="132238"/>
                </a:solidFill>
              </a:defRPr>
            </a:pPr>
            <a:r>
              <a:rPr sz="2850" b="1" i="0">
                <a:solidFill>
                  <a:srgbClr val="132238"/>
                </a:solidFill>
              </a:rPr>
              <a:t>Bilan : la qualité dépend autant du protocole que du modèle</a:t>
            </a:r>
          </a:p>
        </p:txBody>
      </p:sp>
      <p:sp>
        <p:nvSpPr>
          <p:cNvPr id="2" name="">
            <a:extLst xmlns:a="http://schemas.openxmlformats.org/drawingml/2006/main">
              <a:ext uri="{FF2B5EF4-FFF2-40B4-BE49-F238E27FC236}">
                <a16:creationId xmlns:a16="http://schemas.microsoft.com/office/drawing/2014/main" id="{A2A618F7-3B64-4DD6-B34C-5039EC6DCBA8}"/>
              </a:ext>
            </a:extLst>
          </p:cNvPr>
          <p:cNvSpPr>
            <a:spLocks xmlns:a="http://schemas.openxmlformats.org/drawingml/2006/main" noGrp="1"/>
          </p:cNvSpPr>
          <p:nvPr/>
        </p:nvSpPr>
        <p:spPr>
          <a:xfrm xmlns:a="http://schemas.openxmlformats.org/drawingml/2006/main">
            <a:off x="666750" y="1028700"/>
            <a:ext cx="10858500" cy="38100"/>
          </a:xfrm>
          <a:prstGeom xmlns:a="http://schemas.openxmlformats.org/drawingml/2006/main" prst="rect">
            <a:avLst/>
          </a:prstGeom>
          <a:solidFill xmlns:a="http://schemas.openxmlformats.org/drawingml/2006/main">
            <a:srgbClr val="D5A62E"/>
          </a:solidFill>
          <a:ln xmlns:a="http://schemas.openxmlformats.org/drawingml/2006/main" w="0">
            <a:solidFill>
              <a:srgbClr val="D5A62E"/>
            </a:solidFill>
            <a:prstDash val="solid"/>
          </a:ln>
        </p:spPr>
      </p:sp>
      <p:sp>
        <p:nvSpPr>
          <p:cNvPr id="3" name="">
            <a:extLst xmlns:a="http://schemas.openxmlformats.org/drawingml/2006/main">
              <a:ext uri="{FF2B5EF4-FFF2-40B4-BE49-F238E27FC236}">
                <a16:creationId xmlns:a16="http://schemas.microsoft.com/office/drawing/2014/main" id="{A1B42CE9-C904-44C7-83F7-1395E6626632}"/>
              </a:ext>
            </a:extLst>
          </p:cNvPr>
          <p:cNvSpPr>
            <a:spLocks xmlns:a="http://schemas.openxmlformats.org/drawingml/2006/main" noGrp="1"/>
          </p:cNvSpPr>
          <p:nvPr/>
        </p:nvSpPr>
        <p:spPr>
          <a:xfrm xmlns:a="http://schemas.openxmlformats.org/drawingml/2006/main">
            <a:off x="11049000" y="6229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1050" b="0" i="0">
                <a:solidFill>
                  <a:srgbClr val="5E6B78"/>
                </a:solidFill>
              </a:defRPr>
            </a:defPPr>
            <a:lvl1pPr algn="r">
              <a:defRPr sz="1050" b="0" i="0">
                <a:solidFill>
                  <a:srgbClr val="5E6B78"/>
                </a:solidFill>
              </a:defRPr>
            </a:lvl1pPr>
            <a:lvl2pPr algn="r">
              <a:defRPr sz="1050" b="0" i="0">
                <a:solidFill>
                  <a:srgbClr val="5E6B78"/>
                </a:solidFill>
              </a:defRPr>
            </a:lvl2pPr>
            <a:lvl3pPr algn="r">
              <a:defRPr sz="1050" b="0" i="0">
                <a:solidFill>
                  <a:srgbClr val="5E6B78"/>
                </a:solidFill>
              </a:defRPr>
            </a:lvl3pPr>
            <a:lvl4pPr algn="r">
              <a:defRPr sz="1050" b="0" i="0">
                <a:solidFill>
                  <a:srgbClr val="5E6B78"/>
                </a:solidFill>
              </a:defRPr>
            </a:lvl4pPr>
            <a:lvl5pPr algn="r">
              <a:defRPr sz="1050" b="0" i="0">
                <a:solidFill>
                  <a:srgbClr val="5E6B78"/>
                </a:solidFill>
              </a:defRPr>
            </a:lvl5pPr>
            <a:lvl6pPr algn="r">
              <a:defRPr sz="1050" b="0" i="0">
                <a:solidFill>
                  <a:srgbClr val="5E6B78"/>
                </a:solidFill>
              </a:defRPr>
            </a:lvl6pPr>
            <a:lvl7pPr algn="r">
              <a:defRPr sz="1050" b="0" i="0">
                <a:solidFill>
                  <a:srgbClr val="5E6B78"/>
                </a:solidFill>
              </a:defRPr>
            </a:lvl7pPr>
            <a:lvl8pPr algn="r">
              <a:defRPr sz="1050" b="0" i="0">
                <a:solidFill>
                  <a:srgbClr val="5E6B78"/>
                </a:solidFill>
              </a:defRPr>
            </a:lvl8pPr>
            <a:lvl9pPr algn="r">
              <a:defRPr sz="1050" b="0" i="0">
                <a:solidFill>
                  <a:srgbClr val="5E6B78"/>
                </a:solidFill>
              </a:defRPr>
            </a:lvl9pPr>
          </a:lstStyle>
          <a:p xmlns:a="http://schemas.openxmlformats.org/drawingml/2006/main">
            <a:pPr algn="r">
              <a:defRPr sz="1050" b="0" i="0">
                <a:solidFill>
                  <a:srgbClr val="5E6B78"/>
                </a:solidFill>
              </a:defRPr>
            </a:pPr>
            <a:r>
              <a:rPr sz="1050" b="0" i="0">
                <a:solidFill>
                  <a:srgbClr val="5E6B78"/>
                </a:solidFill>
              </a:rPr>
              <a:t>12</a:t>
            </a:r>
          </a:p>
        </p:txBody>
      </p:sp>
      <p:graphicFrame>
        <p:nvGraphicFramePr>
          <p:cNvPr id="4" name="">
            <a:extLst xmlns:a="http://schemas.openxmlformats.org/drawingml/2006/main">
              <a:ext uri="{FF2B5EF4-FFF2-40B4-BE49-F238E27FC236}">
                <a16:creationId xmlns:a16="http://schemas.microsoft.com/office/drawing/2014/main" id="{ED2A6928-3590-4DF9-B3DB-B6E9108CF857}"/>
              </a:ext>
            </a:extLst>
          </p:cNvPr>
          <p:cNvGraphicFramePr/>
          <p:nvPr/>
        </p:nvGraphicFramePr>
        <p:xfrm>
          <a:off xmlns:a="http://schemas.openxmlformats.org/drawingml/2006/main" x="666750" y="1381125"/>
          <a:ext xmlns:a="http://schemas.openxmlformats.org/drawingml/2006/main" cx="10858500" cy="2952750"/>
        </p:xfrm>
        <a:graphic xmlns:a="http://schemas.openxmlformats.org/drawingml/2006/main">
          <a:graphicData uri="http://schemas.openxmlformats.org/drawingml/2006/table">
            <a:tbl>
              <a:tblPr firstRow="1" firstCol="0" bandRow="1">
                <a:tableStyleId>{5C22544A-7EE6-4342-B048-85BDC9FD1C3A}</a:tableStyleId>
              </a:tblPr>
              <a:tblGrid>
                <a:gridCol w="2095500"/>
                <a:gridCol w="1905000"/>
                <a:gridCol w="3143250"/>
                <a:gridCol w="3714750"/>
              </a:tblGrid>
              <a:tr h="590550">
                <a:tc>
                  <a:txBody>
                    <a:bodyPr/>
                    <a:lstStyle/>
                    <a:p>
                      <a:r>
                        <a:rPr sz="1200" b="1">
                          <a:solidFill>
                            <a:srgbClr val="FFFFFF"/>
                          </a:solidFill>
                          <a:latin typeface="Aptos"/>
                          <a:ea typeface="Aptos"/>
                          <a:cs typeface="Aptos"/>
                        </a:rPr>
                        <a:t>Données</a:t>
                      </a:r>
                    </a:p>
                  </a:txBody>
                  <a:tcPr marL="91440" marR="91440" marT="45720" marB="45720">
                    <a:solidFill>
                      <a:srgbClr val="0D2035"/>
                    </a:solidFill>
                  </a:tcPr>
                </a:tc>
                <a:tc>
                  <a:txBody>
                    <a:bodyPr/>
                    <a:lstStyle/>
                    <a:p>
                      <a:r>
                        <a:rPr sz="1200" b="1">
                          <a:solidFill>
                            <a:srgbClr val="FFFFFF"/>
                          </a:solidFill>
                          <a:latin typeface="Aptos"/>
                          <a:ea typeface="Aptos"/>
                          <a:cs typeface="Aptos"/>
                        </a:rPr>
                        <a:t>Modèle</a:t>
                      </a:r>
                    </a:p>
                  </a:txBody>
                  <a:tcPr marL="91440" marR="91440" marT="45720" marB="45720">
                    <a:solidFill>
                      <a:srgbClr val="0D2035"/>
                    </a:solidFill>
                  </a:tcPr>
                </a:tc>
                <a:tc>
                  <a:txBody>
                    <a:bodyPr/>
                    <a:lstStyle/>
                    <a:p>
                      <a:r>
                        <a:rPr sz="1200" b="1">
                          <a:solidFill>
                            <a:srgbClr val="FFFFFF"/>
                          </a:solidFill>
                          <a:latin typeface="Aptos"/>
                          <a:ea typeface="Aptos"/>
                          <a:cs typeface="Aptos"/>
                        </a:rPr>
                        <a:t>Résultat retenu</a:t>
                      </a:r>
                    </a:p>
                  </a:txBody>
                  <a:tcPr marL="91440" marR="91440" marT="45720" marB="45720">
                    <a:solidFill>
                      <a:srgbClr val="0D2035"/>
                    </a:solidFill>
                  </a:tcPr>
                </a:tc>
                <a:tc>
                  <a:txBody>
                    <a:bodyPr/>
                    <a:lstStyle/>
                    <a:p>
                      <a:r>
                        <a:rPr sz="1200" b="1">
                          <a:solidFill>
                            <a:srgbClr val="FFFFFF"/>
                          </a:solidFill>
                          <a:latin typeface="Aptos"/>
                          <a:ea typeface="Aptos"/>
                          <a:cs typeface="Aptos"/>
                        </a:rPr>
                        <a:t>Limite principale</a:t>
                      </a:r>
                    </a:p>
                  </a:txBody>
                  <a:tcPr marL="91440" marR="91440" marT="45720" marB="45720">
                    <a:solidFill>
                      <a:srgbClr val="0D2035"/>
                    </a:solidFill>
                  </a:tcPr>
                </a:tc>
              </a:tr>
              <a:tr h="590550">
                <a:tc>
                  <a:txBody>
                    <a:bodyPr/>
                    <a:lstStyle/>
                    <a:p>
                      <a:r>
                        <a:rPr sz="1125">
                          <a:solidFill>
                            <a:srgbClr val="132238"/>
                          </a:solidFill>
                          <a:latin typeface="Aptos"/>
                          <a:ea typeface="Aptos"/>
                          <a:cs typeface="Aptos"/>
                        </a:rPr>
                        <a:t>Titanic</a:t>
                      </a:r>
                    </a:p>
                  </a:txBody>
                  <a:tcPr marL="91440" marR="91440" marT="45720" marB="45720"/>
                </a:tc>
                <a:tc>
                  <a:txBody>
                    <a:bodyPr/>
                    <a:lstStyle/>
                    <a:p>
                      <a:r>
                        <a:rPr sz="1125">
                          <a:solidFill>
                            <a:srgbClr val="132238"/>
                          </a:solidFill>
                          <a:latin typeface="Aptos"/>
                          <a:ea typeface="Aptos"/>
                          <a:cs typeface="Aptos"/>
                        </a:rPr>
                        <a:t>MLP</a:t>
                      </a:r>
                    </a:p>
                  </a:txBody>
                  <a:tcPr marL="91440" marR="91440" marT="45720" marB="45720"/>
                </a:tc>
                <a:tc>
                  <a:txBody>
                    <a:bodyPr/>
                    <a:lstStyle/>
                    <a:p>
                      <a:r>
                        <a:rPr sz="1125">
                          <a:solidFill>
                            <a:srgbClr val="132238"/>
                          </a:solidFill>
                          <a:latin typeface="Aptos"/>
                          <a:ea typeface="Aptos"/>
                          <a:cs typeface="Aptos"/>
                        </a:rPr>
                        <a:t>80,4 % accuracy test</a:t>
                      </a:r>
                    </a:p>
                  </a:txBody>
                  <a:tcPr marL="91440" marR="91440" marT="45720" marB="45720"/>
                </a:tc>
                <a:tc>
                  <a:txBody>
                    <a:bodyPr/>
                    <a:lstStyle/>
                    <a:p>
                      <a:r>
                        <a:rPr sz="1125">
                          <a:solidFill>
                            <a:srgbClr val="132238"/>
                          </a:solidFill>
                          <a:latin typeface="Aptos"/>
                          <a:ea typeface="Aptos"/>
                          <a:cs typeface="Aptos"/>
                        </a:rPr>
                        <a:t>Rappel survivant : 58,0 %</a:t>
                      </a:r>
                    </a:p>
                  </a:txBody>
                  <a:tcPr marL="91440" marR="91440" marT="45720" marB="45720"/>
                </a:tc>
              </a:tr>
              <a:tr h="590550">
                <a:tc>
                  <a:txBody>
                    <a:bodyPr/>
                    <a:lstStyle/>
                    <a:p>
                      <a:r>
                        <a:rPr sz="1125">
                          <a:solidFill>
                            <a:srgbClr val="132238"/>
                          </a:solidFill>
                          <a:latin typeface="Aptos"/>
                          <a:ea typeface="Aptos"/>
                          <a:cs typeface="Aptos"/>
                        </a:rPr>
                        <a:t>Fashion-MNIST</a:t>
                      </a:r>
                    </a:p>
                  </a:txBody>
                  <a:tcPr marL="91440" marR="91440" marT="45720" marB="45720"/>
                </a:tc>
                <a:tc>
                  <a:txBody>
                    <a:bodyPr/>
                    <a:lstStyle/>
                    <a:p>
                      <a:r>
                        <a:rPr sz="1125">
                          <a:solidFill>
                            <a:srgbClr val="132238"/>
                          </a:solidFill>
                          <a:latin typeface="Aptos"/>
                          <a:ea typeface="Aptos"/>
                          <a:cs typeface="Aptos"/>
                        </a:rPr>
                        <a:t>CNN</a:t>
                      </a:r>
                    </a:p>
                  </a:txBody>
                  <a:tcPr marL="91440" marR="91440" marT="45720" marB="45720"/>
                </a:tc>
                <a:tc>
                  <a:txBody>
                    <a:bodyPr/>
                    <a:lstStyle/>
                    <a:p>
                      <a:r>
                        <a:rPr sz="1125">
                          <a:solidFill>
                            <a:srgbClr val="132238"/>
                          </a:solidFill>
                          <a:latin typeface="Aptos"/>
                          <a:ea typeface="Aptos"/>
                          <a:cs typeface="Aptos"/>
                        </a:rPr>
                        <a:t>91,3 % accuracy test</a:t>
                      </a:r>
                    </a:p>
                  </a:txBody>
                  <a:tcPr marL="91440" marR="91440" marT="45720" marB="45720"/>
                </a:tc>
                <a:tc>
                  <a:txBody>
                    <a:bodyPr/>
                    <a:lstStyle/>
                    <a:p>
                      <a:r>
                        <a:rPr sz="1125">
                          <a:solidFill>
                            <a:srgbClr val="132238"/>
                          </a:solidFill>
                          <a:latin typeface="Aptos"/>
                          <a:ea typeface="Aptos"/>
                          <a:cs typeface="Aptos"/>
                        </a:rPr>
                        <a:t>Chemise : F1 de 0,729</a:t>
                      </a:r>
                    </a:p>
                  </a:txBody>
                  <a:tcPr marL="91440" marR="91440" marT="45720" marB="45720"/>
                </a:tc>
              </a:tr>
              <a:tr h="590550">
                <a:tc>
                  <a:txBody>
                    <a:bodyPr/>
                    <a:lstStyle/>
                    <a:p>
                      <a:r>
                        <a:rPr sz="1125">
                          <a:solidFill>
                            <a:srgbClr val="132238"/>
                          </a:solidFill>
                          <a:latin typeface="Aptos"/>
                          <a:ea typeface="Aptos"/>
                          <a:cs typeface="Aptos"/>
                        </a:rPr>
                        <a:t>Victor Hugo</a:t>
                      </a:r>
                    </a:p>
                  </a:txBody>
                  <a:tcPr marL="91440" marR="91440" marT="45720" marB="45720"/>
                </a:tc>
                <a:tc>
                  <a:txBody>
                    <a:bodyPr/>
                    <a:lstStyle/>
                    <a:p>
                      <a:r>
                        <a:rPr sz="1125">
                          <a:solidFill>
                            <a:srgbClr val="132238"/>
                          </a:solidFill>
                          <a:latin typeface="Aptos"/>
                          <a:ea typeface="Aptos"/>
                          <a:cs typeface="Aptos"/>
                        </a:rPr>
                        <a:t>SimpleRNN</a:t>
                      </a:r>
                    </a:p>
                  </a:txBody>
                  <a:tcPr marL="91440" marR="91440" marT="45720" marB="45720"/>
                </a:tc>
                <a:tc>
                  <a:txBody>
                    <a:bodyPr/>
                    <a:lstStyle/>
                    <a:p>
                      <a:r>
                        <a:rPr sz="1125">
                          <a:solidFill>
                            <a:srgbClr val="132238"/>
                          </a:solidFill>
                          <a:latin typeface="Aptos"/>
                          <a:ea typeface="Aptos"/>
                          <a:cs typeface="Aptos"/>
                        </a:rPr>
                        <a:t>4,12 % top-1 connu test</a:t>
                      </a:r>
                    </a:p>
                  </a:txBody>
                  <a:tcPr marL="91440" marR="91440" marT="45720" marB="45720"/>
                </a:tc>
                <a:tc>
                  <a:txBody>
                    <a:bodyPr/>
                    <a:lstStyle/>
                    <a:p>
                      <a:r>
                        <a:rPr sz="1125">
                          <a:solidFill>
                            <a:srgbClr val="132238"/>
                          </a:solidFill>
                          <a:latin typeface="Aptos"/>
                          <a:ea typeface="Aptos"/>
                          <a:cs typeface="Aptos"/>
                        </a:rPr>
                        <a:t>Sous la baseline à 5,52 %</a:t>
                      </a:r>
                    </a:p>
                  </a:txBody>
                  <a:tcPr marL="91440" marR="91440" marT="45720" marB="45720"/>
                </a:tc>
              </a:tr>
              <a:tr h="590550">
                <a:tc>
                  <a:txBody>
                    <a:bodyPr/>
                    <a:lstStyle/>
                    <a:p>
                      <a:r>
                        <a:rPr sz="1125">
                          <a:solidFill>
                            <a:srgbClr val="132238"/>
                          </a:solidFill>
                          <a:latin typeface="Aptos"/>
                          <a:ea typeface="Aptos"/>
                          <a:cs typeface="Aptos"/>
                        </a:rPr>
                        <a:t>Victor Hugo</a:t>
                      </a:r>
                    </a:p>
                  </a:txBody>
                  <a:tcPr marL="91440" marR="91440" marT="45720" marB="45720"/>
                </a:tc>
                <a:tc>
                  <a:txBody>
                    <a:bodyPr/>
                    <a:lstStyle/>
                    <a:p>
                      <a:r>
                        <a:rPr sz="1125">
                          <a:solidFill>
                            <a:srgbClr val="132238"/>
                          </a:solidFill>
                          <a:latin typeface="Aptos"/>
                          <a:ea typeface="Aptos"/>
                          <a:cs typeface="Aptos"/>
                        </a:rPr>
                        <a:t>LSTM</a:t>
                      </a:r>
                    </a:p>
                  </a:txBody>
                  <a:tcPr marL="91440" marR="91440" marT="45720" marB="45720"/>
                </a:tc>
                <a:tc>
                  <a:txBody>
                    <a:bodyPr/>
                    <a:lstStyle/>
                    <a:p>
                      <a:r>
                        <a:rPr sz="1125">
                          <a:solidFill>
                            <a:srgbClr val="132238"/>
                          </a:solidFill>
                          <a:latin typeface="Aptos"/>
                          <a:ea typeface="Aptos"/>
                          <a:cs typeface="Aptos"/>
                        </a:rPr>
                        <a:t>4,31 % top-1 connu validation</a:t>
                      </a:r>
                    </a:p>
                  </a:txBody>
                  <a:tcPr marL="91440" marR="91440" marT="45720" marB="45720"/>
                </a:tc>
                <a:tc>
                  <a:txBody>
                    <a:bodyPr/>
                    <a:lstStyle/>
                    <a:p>
                      <a:r>
                        <a:rPr sz="1125">
                          <a:solidFill>
                            <a:srgbClr val="132238"/>
                          </a:solidFill>
                          <a:latin typeface="Aptos"/>
                          <a:ea typeface="Aptos"/>
                          <a:cs typeface="Aptos"/>
                        </a:rPr>
                        <a:t>Perte globale de validation plus forte</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5CA8384D-2BA9-4FD7-8A72-FF49C943857A}"/>
              </a:ext>
            </a:extLst>
          </p:cNvPr>
          <p:cNvSpPr>
            <a:spLocks xmlns:a="http://schemas.openxmlformats.org/drawingml/2006/main" noGrp="1"/>
          </p:cNvSpPr>
          <p:nvPr/>
        </p:nvSpPr>
        <p:spPr>
          <a:xfrm xmlns:a="http://schemas.openxmlformats.org/drawingml/2006/main">
            <a:off x="857250" y="47625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550" b="1" i="0">
                <a:solidFill>
                  <a:srgbClr val="D5A62E"/>
                </a:solidFill>
              </a:defRPr>
            </a:defPPr>
            <a:lvl1pPr algn="ctr">
              <a:defRPr sz="2550" b="1" i="0">
                <a:solidFill>
                  <a:srgbClr val="D5A62E"/>
                </a:solidFill>
              </a:defRPr>
            </a:lvl1pPr>
            <a:lvl2pPr algn="ctr">
              <a:defRPr sz="2550" b="1" i="0">
                <a:solidFill>
                  <a:srgbClr val="D5A62E"/>
                </a:solidFill>
              </a:defRPr>
            </a:lvl2pPr>
            <a:lvl3pPr algn="ctr">
              <a:defRPr sz="2550" b="1" i="0">
                <a:solidFill>
                  <a:srgbClr val="D5A62E"/>
                </a:solidFill>
              </a:defRPr>
            </a:lvl3pPr>
            <a:lvl4pPr algn="ctr">
              <a:defRPr sz="2550" b="1" i="0">
                <a:solidFill>
                  <a:srgbClr val="D5A62E"/>
                </a:solidFill>
              </a:defRPr>
            </a:lvl4pPr>
            <a:lvl5pPr algn="ctr">
              <a:defRPr sz="2550" b="1" i="0">
                <a:solidFill>
                  <a:srgbClr val="D5A62E"/>
                </a:solidFill>
              </a:defRPr>
            </a:lvl5pPr>
            <a:lvl6pPr algn="ctr">
              <a:defRPr sz="2550" b="1" i="0">
                <a:solidFill>
                  <a:srgbClr val="D5A62E"/>
                </a:solidFill>
              </a:defRPr>
            </a:lvl6pPr>
            <a:lvl7pPr algn="ctr">
              <a:defRPr sz="2550" b="1" i="0">
                <a:solidFill>
                  <a:srgbClr val="D5A62E"/>
                </a:solidFill>
              </a:defRPr>
            </a:lvl7pPr>
            <a:lvl8pPr algn="ctr">
              <a:defRPr sz="2550" b="1" i="0">
                <a:solidFill>
                  <a:srgbClr val="D5A62E"/>
                </a:solidFill>
              </a:defRPr>
            </a:lvl8pPr>
            <a:lvl9pPr algn="ctr">
              <a:defRPr sz="2550" b="1" i="0">
                <a:solidFill>
                  <a:srgbClr val="D5A62E"/>
                </a:solidFill>
              </a:defRPr>
            </a:lvl9pPr>
          </a:lstStyle>
          <a:p xmlns:a="http://schemas.openxmlformats.org/drawingml/2006/main">
            <a:pPr algn="ctr">
              <a:defRPr sz="2550" b="1" i="0">
                <a:solidFill>
                  <a:srgbClr val="D5A62E"/>
                </a:solidFill>
              </a:defRPr>
            </a:pPr>
            <a:r>
              <a:rPr sz="2550" b="1" i="0">
                <a:solidFill>
                  <a:srgbClr val="D5A62E"/>
                </a:solidFill>
              </a:rPr>
              <a:t>1</a:t>
            </a:r>
          </a:p>
        </p:txBody>
      </p:sp>
      <p:sp>
        <p:nvSpPr>
          <p:cNvPr id="6" name="">
            <a:extLst xmlns:a="http://schemas.openxmlformats.org/drawingml/2006/main">
              <a:ext uri="{FF2B5EF4-FFF2-40B4-BE49-F238E27FC236}">
                <a16:creationId xmlns:a16="http://schemas.microsoft.com/office/drawing/2014/main" id="{EDEC5E3F-BC13-4002-A8B9-62C8D9148A84}"/>
              </a:ext>
            </a:extLst>
          </p:cNvPr>
          <p:cNvSpPr>
            <a:spLocks xmlns:a="http://schemas.openxmlformats.org/drawingml/2006/main" noGrp="1"/>
          </p:cNvSpPr>
          <p:nvPr/>
        </p:nvSpPr>
        <p:spPr>
          <a:xfrm xmlns:a="http://schemas.openxmlformats.org/drawingml/2006/main">
            <a:off x="1333500" y="48101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132238"/>
                </a:solidFill>
              </a:defRPr>
            </a:defPPr>
            <a:lvl1pPr algn="l">
              <a:defRPr sz="1575" b="1" i="0">
                <a:solidFill>
                  <a:srgbClr val="132238"/>
                </a:solidFill>
              </a:defRPr>
            </a:lvl1pPr>
            <a:lvl2pPr algn="l">
              <a:defRPr sz="1575" b="1" i="0">
                <a:solidFill>
                  <a:srgbClr val="132238"/>
                </a:solidFill>
              </a:defRPr>
            </a:lvl2pPr>
            <a:lvl3pPr algn="l">
              <a:defRPr sz="1575" b="1" i="0">
                <a:solidFill>
                  <a:srgbClr val="132238"/>
                </a:solidFill>
              </a:defRPr>
            </a:lvl3pPr>
            <a:lvl4pPr algn="l">
              <a:defRPr sz="1575" b="1" i="0">
                <a:solidFill>
                  <a:srgbClr val="132238"/>
                </a:solidFill>
              </a:defRPr>
            </a:lvl4pPr>
            <a:lvl5pPr algn="l">
              <a:defRPr sz="1575" b="1" i="0">
                <a:solidFill>
                  <a:srgbClr val="132238"/>
                </a:solidFill>
              </a:defRPr>
            </a:lvl5pPr>
            <a:lvl6pPr algn="l">
              <a:defRPr sz="1575" b="1" i="0">
                <a:solidFill>
                  <a:srgbClr val="132238"/>
                </a:solidFill>
              </a:defRPr>
            </a:lvl6pPr>
            <a:lvl7pPr algn="l">
              <a:defRPr sz="1575" b="1" i="0">
                <a:solidFill>
                  <a:srgbClr val="132238"/>
                </a:solidFill>
              </a:defRPr>
            </a:lvl7pPr>
            <a:lvl8pPr algn="l">
              <a:defRPr sz="1575" b="1" i="0">
                <a:solidFill>
                  <a:srgbClr val="132238"/>
                </a:solidFill>
              </a:defRPr>
            </a:lvl8pPr>
            <a:lvl9pPr algn="l">
              <a:defRPr sz="1575" b="1" i="0">
                <a:solidFill>
                  <a:srgbClr val="132238"/>
                </a:solidFill>
              </a:defRPr>
            </a:lvl9pPr>
          </a:lstStyle>
          <a:p xmlns:a="http://schemas.openxmlformats.org/drawingml/2006/main">
            <a:pPr algn="l">
              <a:defRPr sz="1575" b="1" i="0">
                <a:solidFill>
                  <a:srgbClr val="132238"/>
                </a:solidFill>
              </a:defRPr>
            </a:pPr>
            <a:r>
              <a:rPr sz="1575" b="1" i="0">
                <a:solidFill>
                  <a:srgbClr val="132238"/>
                </a:solidFill>
              </a:rPr>
              <a:t>Séparer avant de préparer</a:t>
            </a:r>
          </a:p>
        </p:txBody>
      </p:sp>
      <p:sp>
        <p:nvSpPr>
          <p:cNvPr id="7" name="">
            <a:extLst xmlns:a="http://schemas.openxmlformats.org/drawingml/2006/main">
              <a:ext uri="{FF2B5EF4-FFF2-40B4-BE49-F238E27FC236}">
                <a16:creationId xmlns:a16="http://schemas.microsoft.com/office/drawing/2014/main" id="{83788808-9C6B-4979-A630-C5E606789500}"/>
              </a:ext>
            </a:extLst>
          </p:cNvPr>
          <p:cNvSpPr>
            <a:spLocks xmlns:a="http://schemas.openxmlformats.org/drawingml/2006/main" noGrp="1"/>
          </p:cNvSpPr>
          <p:nvPr/>
        </p:nvSpPr>
        <p:spPr>
          <a:xfrm xmlns:a="http://schemas.openxmlformats.org/drawingml/2006/main">
            <a:off x="4572000" y="47625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550" b="1" i="0">
                <a:solidFill>
                  <a:srgbClr val="D5A62E"/>
                </a:solidFill>
              </a:defRPr>
            </a:defPPr>
            <a:lvl1pPr algn="ctr">
              <a:defRPr sz="2550" b="1" i="0">
                <a:solidFill>
                  <a:srgbClr val="D5A62E"/>
                </a:solidFill>
              </a:defRPr>
            </a:lvl1pPr>
            <a:lvl2pPr algn="ctr">
              <a:defRPr sz="2550" b="1" i="0">
                <a:solidFill>
                  <a:srgbClr val="D5A62E"/>
                </a:solidFill>
              </a:defRPr>
            </a:lvl2pPr>
            <a:lvl3pPr algn="ctr">
              <a:defRPr sz="2550" b="1" i="0">
                <a:solidFill>
                  <a:srgbClr val="D5A62E"/>
                </a:solidFill>
              </a:defRPr>
            </a:lvl3pPr>
            <a:lvl4pPr algn="ctr">
              <a:defRPr sz="2550" b="1" i="0">
                <a:solidFill>
                  <a:srgbClr val="D5A62E"/>
                </a:solidFill>
              </a:defRPr>
            </a:lvl4pPr>
            <a:lvl5pPr algn="ctr">
              <a:defRPr sz="2550" b="1" i="0">
                <a:solidFill>
                  <a:srgbClr val="D5A62E"/>
                </a:solidFill>
              </a:defRPr>
            </a:lvl5pPr>
            <a:lvl6pPr algn="ctr">
              <a:defRPr sz="2550" b="1" i="0">
                <a:solidFill>
                  <a:srgbClr val="D5A62E"/>
                </a:solidFill>
              </a:defRPr>
            </a:lvl6pPr>
            <a:lvl7pPr algn="ctr">
              <a:defRPr sz="2550" b="1" i="0">
                <a:solidFill>
                  <a:srgbClr val="D5A62E"/>
                </a:solidFill>
              </a:defRPr>
            </a:lvl7pPr>
            <a:lvl8pPr algn="ctr">
              <a:defRPr sz="2550" b="1" i="0">
                <a:solidFill>
                  <a:srgbClr val="D5A62E"/>
                </a:solidFill>
              </a:defRPr>
            </a:lvl8pPr>
            <a:lvl9pPr algn="ctr">
              <a:defRPr sz="2550" b="1" i="0">
                <a:solidFill>
                  <a:srgbClr val="D5A62E"/>
                </a:solidFill>
              </a:defRPr>
            </a:lvl9pPr>
          </a:lstStyle>
          <a:p xmlns:a="http://schemas.openxmlformats.org/drawingml/2006/main">
            <a:pPr algn="ctr">
              <a:defRPr sz="2550" b="1" i="0">
                <a:solidFill>
                  <a:srgbClr val="D5A62E"/>
                </a:solidFill>
              </a:defRPr>
            </a:pPr>
            <a:r>
              <a:rPr sz="2550" b="1" i="0">
                <a:solidFill>
                  <a:srgbClr val="D5A62E"/>
                </a:solidFill>
              </a:rPr>
              <a:t>2</a:t>
            </a:r>
          </a:p>
        </p:txBody>
      </p:sp>
      <p:sp>
        <p:nvSpPr>
          <p:cNvPr id="8" name="">
            <a:extLst xmlns:a="http://schemas.openxmlformats.org/drawingml/2006/main">
              <a:ext uri="{FF2B5EF4-FFF2-40B4-BE49-F238E27FC236}">
                <a16:creationId xmlns:a16="http://schemas.microsoft.com/office/drawing/2014/main" id="{D4AA3E91-8F50-4EB7-8A94-F71C0542C95B}"/>
              </a:ext>
            </a:extLst>
          </p:cNvPr>
          <p:cNvSpPr>
            <a:spLocks xmlns:a="http://schemas.openxmlformats.org/drawingml/2006/main" noGrp="1"/>
          </p:cNvSpPr>
          <p:nvPr/>
        </p:nvSpPr>
        <p:spPr>
          <a:xfrm xmlns:a="http://schemas.openxmlformats.org/drawingml/2006/main">
            <a:off x="5048250" y="48101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132238"/>
                </a:solidFill>
              </a:defRPr>
            </a:defPPr>
            <a:lvl1pPr algn="l">
              <a:defRPr sz="1575" b="1" i="0">
                <a:solidFill>
                  <a:srgbClr val="132238"/>
                </a:solidFill>
              </a:defRPr>
            </a:lvl1pPr>
            <a:lvl2pPr algn="l">
              <a:defRPr sz="1575" b="1" i="0">
                <a:solidFill>
                  <a:srgbClr val="132238"/>
                </a:solidFill>
              </a:defRPr>
            </a:lvl2pPr>
            <a:lvl3pPr algn="l">
              <a:defRPr sz="1575" b="1" i="0">
                <a:solidFill>
                  <a:srgbClr val="132238"/>
                </a:solidFill>
              </a:defRPr>
            </a:lvl3pPr>
            <a:lvl4pPr algn="l">
              <a:defRPr sz="1575" b="1" i="0">
                <a:solidFill>
                  <a:srgbClr val="132238"/>
                </a:solidFill>
              </a:defRPr>
            </a:lvl4pPr>
            <a:lvl5pPr algn="l">
              <a:defRPr sz="1575" b="1" i="0">
                <a:solidFill>
                  <a:srgbClr val="132238"/>
                </a:solidFill>
              </a:defRPr>
            </a:lvl5pPr>
            <a:lvl6pPr algn="l">
              <a:defRPr sz="1575" b="1" i="0">
                <a:solidFill>
                  <a:srgbClr val="132238"/>
                </a:solidFill>
              </a:defRPr>
            </a:lvl6pPr>
            <a:lvl7pPr algn="l">
              <a:defRPr sz="1575" b="1" i="0">
                <a:solidFill>
                  <a:srgbClr val="132238"/>
                </a:solidFill>
              </a:defRPr>
            </a:lvl7pPr>
            <a:lvl8pPr algn="l">
              <a:defRPr sz="1575" b="1" i="0">
                <a:solidFill>
                  <a:srgbClr val="132238"/>
                </a:solidFill>
              </a:defRPr>
            </a:lvl8pPr>
            <a:lvl9pPr algn="l">
              <a:defRPr sz="1575" b="1" i="0">
                <a:solidFill>
                  <a:srgbClr val="132238"/>
                </a:solidFill>
              </a:defRPr>
            </a:lvl9pPr>
          </a:lstStyle>
          <a:p xmlns:a="http://schemas.openxmlformats.org/drawingml/2006/main">
            <a:pPr algn="l">
              <a:defRPr sz="1575" b="1" i="0">
                <a:solidFill>
                  <a:srgbClr val="132238"/>
                </a:solidFill>
              </a:defRPr>
            </a:pPr>
            <a:r>
              <a:rPr sz="1575" b="1" i="0">
                <a:solidFill>
                  <a:srgbClr val="132238"/>
                </a:solidFill>
              </a:rPr>
              <a:t>Choisir avec la validation</a:t>
            </a:r>
          </a:p>
        </p:txBody>
      </p:sp>
      <p:sp>
        <p:nvSpPr>
          <p:cNvPr id="9" name="">
            <a:extLst xmlns:a="http://schemas.openxmlformats.org/drawingml/2006/main">
              <a:ext uri="{FF2B5EF4-FFF2-40B4-BE49-F238E27FC236}">
                <a16:creationId xmlns:a16="http://schemas.microsoft.com/office/drawing/2014/main" id="{DA19B5D4-4B78-43F8-9A37-2F7501FCA1A5}"/>
              </a:ext>
            </a:extLst>
          </p:cNvPr>
          <p:cNvSpPr>
            <a:spLocks xmlns:a="http://schemas.openxmlformats.org/drawingml/2006/main" noGrp="1"/>
          </p:cNvSpPr>
          <p:nvPr/>
        </p:nvSpPr>
        <p:spPr>
          <a:xfrm xmlns:a="http://schemas.openxmlformats.org/drawingml/2006/main">
            <a:off x="8286750" y="47625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550" b="1" i="0">
                <a:solidFill>
                  <a:srgbClr val="D5A62E"/>
                </a:solidFill>
              </a:defRPr>
            </a:defPPr>
            <a:lvl1pPr algn="ctr">
              <a:defRPr sz="2550" b="1" i="0">
                <a:solidFill>
                  <a:srgbClr val="D5A62E"/>
                </a:solidFill>
              </a:defRPr>
            </a:lvl1pPr>
            <a:lvl2pPr algn="ctr">
              <a:defRPr sz="2550" b="1" i="0">
                <a:solidFill>
                  <a:srgbClr val="D5A62E"/>
                </a:solidFill>
              </a:defRPr>
            </a:lvl2pPr>
            <a:lvl3pPr algn="ctr">
              <a:defRPr sz="2550" b="1" i="0">
                <a:solidFill>
                  <a:srgbClr val="D5A62E"/>
                </a:solidFill>
              </a:defRPr>
            </a:lvl3pPr>
            <a:lvl4pPr algn="ctr">
              <a:defRPr sz="2550" b="1" i="0">
                <a:solidFill>
                  <a:srgbClr val="D5A62E"/>
                </a:solidFill>
              </a:defRPr>
            </a:lvl4pPr>
            <a:lvl5pPr algn="ctr">
              <a:defRPr sz="2550" b="1" i="0">
                <a:solidFill>
                  <a:srgbClr val="D5A62E"/>
                </a:solidFill>
              </a:defRPr>
            </a:lvl5pPr>
            <a:lvl6pPr algn="ctr">
              <a:defRPr sz="2550" b="1" i="0">
                <a:solidFill>
                  <a:srgbClr val="D5A62E"/>
                </a:solidFill>
              </a:defRPr>
            </a:lvl6pPr>
            <a:lvl7pPr algn="ctr">
              <a:defRPr sz="2550" b="1" i="0">
                <a:solidFill>
                  <a:srgbClr val="D5A62E"/>
                </a:solidFill>
              </a:defRPr>
            </a:lvl7pPr>
            <a:lvl8pPr algn="ctr">
              <a:defRPr sz="2550" b="1" i="0">
                <a:solidFill>
                  <a:srgbClr val="D5A62E"/>
                </a:solidFill>
              </a:defRPr>
            </a:lvl8pPr>
            <a:lvl9pPr algn="ctr">
              <a:defRPr sz="2550" b="1" i="0">
                <a:solidFill>
                  <a:srgbClr val="D5A62E"/>
                </a:solidFill>
              </a:defRPr>
            </a:lvl9pPr>
          </a:lstStyle>
          <a:p xmlns:a="http://schemas.openxmlformats.org/drawingml/2006/main">
            <a:pPr algn="ctr">
              <a:defRPr sz="2550" b="1" i="0">
                <a:solidFill>
                  <a:srgbClr val="D5A62E"/>
                </a:solidFill>
              </a:defRPr>
            </a:pPr>
            <a:r>
              <a:rPr sz="2550" b="1" i="0">
                <a:solidFill>
                  <a:srgbClr val="D5A62E"/>
                </a:solidFill>
              </a:rPr>
              <a:t>3</a:t>
            </a:r>
          </a:p>
        </p:txBody>
      </p:sp>
      <p:sp>
        <p:nvSpPr>
          <p:cNvPr id="10" name="">
            <a:extLst xmlns:a="http://schemas.openxmlformats.org/drawingml/2006/main">
              <a:ext uri="{FF2B5EF4-FFF2-40B4-BE49-F238E27FC236}">
                <a16:creationId xmlns:a16="http://schemas.microsoft.com/office/drawing/2014/main" id="{1597A93B-48AA-4427-B900-17760B85D4D7}"/>
              </a:ext>
            </a:extLst>
          </p:cNvPr>
          <p:cNvSpPr>
            <a:spLocks xmlns:a="http://schemas.openxmlformats.org/drawingml/2006/main" noGrp="1"/>
          </p:cNvSpPr>
          <p:nvPr/>
        </p:nvSpPr>
        <p:spPr>
          <a:xfrm xmlns:a="http://schemas.openxmlformats.org/drawingml/2006/main">
            <a:off x="8763000" y="48101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132238"/>
                </a:solidFill>
              </a:defRPr>
            </a:defPPr>
            <a:lvl1pPr algn="l">
              <a:defRPr sz="1575" b="1" i="0">
                <a:solidFill>
                  <a:srgbClr val="132238"/>
                </a:solidFill>
              </a:defRPr>
            </a:lvl1pPr>
            <a:lvl2pPr algn="l">
              <a:defRPr sz="1575" b="1" i="0">
                <a:solidFill>
                  <a:srgbClr val="132238"/>
                </a:solidFill>
              </a:defRPr>
            </a:lvl2pPr>
            <a:lvl3pPr algn="l">
              <a:defRPr sz="1575" b="1" i="0">
                <a:solidFill>
                  <a:srgbClr val="132238"/>
                </a:solidFill>
              </a:defRPr>
            </a:lvl3pPr>
            <a:lvl4pPr algn="l">
              <a:defRPr sz="1575" b="1" i="0">
                <a:solidFill>
                  <a:srgbClr val="132238"/>
                </a:solidFill>
              </a:defRPr>
            </a:lvl4pPr>
            <a:lvl5pPr algn="l">
              <a:defRPr sz="1575" b="1" i="0">
                <a:solidFill>
                  <a:srgbClr val="132238"/>
                </a:solidFill>
              </a:defRPr>
            </a:lvl5pPr>
            <a:lvl6pPr algn="l">
              <a:defRPr sz="1575" b="1" i="0">
                <a:solidFill>
                  <a:srgbClr val="132238"/>
                </a:solidFill>
              </a:defRPr>
            </a:lvl6pPr>
            <a:lvl7pPr algn="l">
              <a:defRPr sz="1575" b="1" i="0">
                <a:solidFill>
                  <a:srgbClr val="132238"/>
                </a:solidFill>
              </a:defRPr>
            </a:lvl7pPr>
            <a:lvl8pPr algn="l">
              <a:defRPr sz="1575" b="1" i="0">
                <a:solidFill>
                  <a:srgbClr val="132238"/>
                </a:solidFill>
              </a:defRPr>
            </a:lvl8pPr>
            <a:lvl9pPr algn="l">
              <a:defRPr sz="1575" b="1" i="0">
                <a:solidFill>
                  <a:srgbClr val="132238"/>
                </a:solidFill>
              </a:defRPr>
            </a:lvl9pPr>
          </a:lstStyle>
          <a:p xmlns:a="http://schemas.openxmlformats.org/drawingml/2006/main">
            <a:pPr algn="l">
              <a:defRPr sz="1575" b="1" i="0">
                <a:solidFill>
                  <a:srgbClr val="132238"/>
                </a:solidFill>
              </a:defRPr>
            </a:pPr>
            <a:r>
              <a:rPr sz="1575" b="1" i="0">
                <a:solidFill>
                  <a:srgbClr val="132238"/>
                </a:solidFill>
              </a:rPr>
              <a:t>Ouvrir le test une seule fois</a:t>
            </a:r>
          </a:p>
        </p:txBody>
      </p:sp>
      <p:sp>
        <p:nvSpPr>
          <p:cNvPr id="11" name="">
            <a:extLst xmlns:a="http://schemas.openxmlformats.org/drawingml/2006/main">
              <a:ext uri="{FF2B5EF4-FFF2-40B4-BE49-F238E27FC236}">
                <a16:creationId xmlns:a16="http://schemas.microsoft.com/office/drawing/2014/main" id="{AFB1A2EB-8AC2-4AE7-B069-A3DD85735CBA}"/>
              </a:ext>
            </a:extLst>
          </p:cNvPr>
          <p:cNvSpPr>
            <a:spLocks xmlns:a="http://schemas.openxmlformats.org/drawingml/2006/main" noGrp="1"/>
          </p:cNvSpPr>
          <p:nvPr/>
        </p:nvSpPr>
        <p:spPr>
          <a:xfrm xmlns:a="http://schemas.openxmlformats.org/drawingml/2006/main">
            <a:off x="952500" y="56197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i="0">
                <a:solidFill>
                  <a:srgbClr val="0D2035"/>
                </a:solidFill>
              </a:defRPr>
            </a:defPPr>
            <a:lvl1pPr algn="ctr">
              <a:defRPr sz="1725" b="1" i="0">
                <a:solidFill>
                  <a:srgbClr val="0D2035"/>
                </a:solidFill>
              </a:defRPr>
            </a:lvl1pPr>
            <a:lvl2pPr algn="ctr">
              <a:defRPr sz="1725" b="1" i="0">
                <a:solidFill>
                  <a:srgbClr val="0D2035"/>
                </a:solidFill>
              </a:defRPr>
            </a:lvl2pPr>
            <a:lvl3pPr algn="ctr">
              <a:defRPr sz="1725" b="1" i="0">
                <a:solidFill>
                  <a:srgbClr val="0D2035"/>
                </a:solidFill>
              </a:defRPr>
            </a:lvl3pPr>
            <a:lvl4pPr algn="ctr">
              <a:defRPr sz="1725" b="1" i="0">
                <a:solidFill>
                  <a:srgbClr val="0D2035"/>
                </a:solidFill>
              </a:defRPr>
            </a:lvl4pPr>
            <a:lvl5pPr algn="ctr">
              <a:defRPr sz="1725" b="1" i="0">
                <a:solidFill>
                  <a:srgbClr val="0D2035"/>
                </a:solidFill>
              </a:defRPr>
            </a:lvl5pPr>
            <a:lvl6pPr algn="ctr">
              <a:defRPr sz="1725" b="1" i="0">
                <a:solidFill>
                  <a:srgbClr val="0D2035"/>
                </a:solidFill>
              </a:defRPr>
            </a:lvl6pPr>
            <a:lvl7pPr algn="ctr">
              <a:defRPr sz="1725" b="1" i="0">
                <a:solidFill>
                  <a:srgbClr val="0D2035"/>
                </a:solidFill>
              </a:defRPr>
            </a:lvl7pPr>
            <a:lvl8pPr algn="ctr">
              <a:defRPr sz="1725" b="1" i="0">
                <a:solidFill>
                  <a:srgbClr val="0D2035"/>
                </a:solidFill>
              </a:defRPr>
            </a:lvl8pPr>
            <a:lvl9pPr algn="ctr">
              <a:defRPr sz="1725" b="1" i="0">
                <a:solidFill>
                  <a:srgbClr val="0D2035"/>
                </a:solidFill>
              </a:defRPr>
            </a:lvl9pPr>
          </a:lstStyle>
          <a:p xmlns:a="http://schemas.openxmlformats.org/drawingml/2006/main">
            <a:pPr algn="ctr">
              <a:defRPr sz="1725" b="1" i="0">
                <a:solidFill>
                  <a:srgbClr val="0D2035"/>
                </a:solidFill>
              </a:defRPr>
            </a:pPr>
            <a:r>
              <a:rPr sz="1725" b="1" i="0">
                <a:solidFill>
                  <a:srgbClr val="0D2035"/>
                </a:solidFill>
              </a:rPr>
              <a:t>Les courbes signalent le surapprentissage. Les matrices de confusion et les baselines expliquent ensuite où le modèle réussit ou échoue.</a:t>
            </a:r>
          </a:p>
        </p:txBody>
      </p:sp>
    </p:spTree>
    <p:extLst>
      <p:ext uri="{BB962C8B-B14F-4D97-AF65-F5344CB8AC3E}">
        <p14:creationId xmlns:p14="http://schemas.microsoft.com/office/powerpoint/2010/main" val="1260245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2026-10-20T09:21:32.7450000Z</dcterms:created>
  <dcterms:modified xsi:type="dcterms:W3CDTF">2026-10-20T09:21:32.7450000Z</dcterms:modified>
</coreProperties>
</file>