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77a3171b084e30" /><Relationship Type="http://schemas.openxmlformats.org/officeDocument/2006/relationships/extended-properties" Target="/docProps/app.xml" Id="Rdbb5d9465efe4971" /><Relationship Type="http://schemas.openxmlformats.org/officeDocument/2006/relationships/officeDocument" Target="/ppt/presentation.xml" Id="Rb8fa0999baf84a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3c6f57c2894c7f"/>
  </p:sldMasterIdLst>
  <p:notesMasterIdLst>
    <p:notesMasterId xmlns:r="http://schemas.openxmlformats.org/officeDocument/2006/relationships" r:id="Rf28d417a0e4e4f4a"/>
  </p:notesMasterIdLst>
  <p:sldIdLst>
    <p:sldId xmlns:r="http://schemas.openxmlformats.org/officeDocument/2006/relationships" id="256" r:id="R48a1a4e337984396"/>
    <p:sldId xmlns:r="http://schemas.openxmlformats.org/officeDocument/2006/relationships" id="257" r:id="R5b2bb2d9f1124554"/>
    <p:sldId xmlns:r="http://schemas.openxmlformats.org/officeDocument/2006/relationships" id="258" r:id="R53a2a9ddb89b4174"/>
    <p:sldId xmlns:r="http://schemas.openxmlformats.org/officeDocument/2006/relationships" id="259" r:id="R58ae460f56494cd5"/>
    <p:sldId xmlns:r="http://schemas.openxmlformats.org/officeDocument/2006/relationships" id="260" r:id="R1af498c8e38c42e7"/>
    <p:sldId xmlns:r="http://schemas.openxmlformats.org/officeDocument/2006/relationships" id="261" r:id="R86d9691ed15944f6"/>
    <p:sldId xmlns:r="http://schemas.openxmlformats.org/officeDocument/2006/relationships" id="262" r:id="R57fded22e03c486d"/>
    <p:sldId xmlns:r="http://schemas.openxmlformats.org/officeDocument/2006/relationships" id="263" r:id="Rebcba4f516c74d9d"/>
    <p:sldId xmlns:r="http://schemas.openxmlformats.org/officeDocument/2006/relationships" id="264" r:id="R3af478e3e02348d9"/>
    <p:sldId xmlns:r="http://schemas.openxmlformats.org/officeDocument/2006/relationships" id="265" r:id="R026c7eb56a584f77"/>
    <p:sldId xmlns:r="http://schemas.openxmlformats.org/officeDocument/2006/relationships" id="266" r:id="R8260f86a81974f82"/>
    <p:sldId xmlns:r="http://schemas.openxmlformats.org/officeDocument/2006/relationships" id="267" r:id="R94e4af9c36184f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9f42e9652a4b0c" /><Relationship Type="http://schemas.openxmlformats.org/officeDocument/2006/relationships/slideMaster" Target="/ppt/slideMasters/slideMaster1.xml" Id="Rec3c6f57c2894c7f" /><Relationship Type="http://schemas.openxmlformats.org/officeDocument/2006/relationships/notesMaster" Target="/ppt/notesMasters/notesMaster1.xml" Id="Rf28d417a0e4e4f4a" /><Relationship Type="http://schemas.openxmlformats.org/officeDocument/2006/relationships/presProps" Target="/ppt/presProps.xml" Id="R37374c46df994fbc" /><Relationship Type="http://schemas.openxmlformats.org/officeDocument/2006/relationships/tableStyles" Target="/ppt/tableStyles.xml" Id="R81c770f517624b1e" /><Relationship Type="http://schemas.openxmlformats.org/officeDocument/2006/relationships/slide" Target="/ppt/slides/slide1.xml" Id="R48a1a4e337984396" /><Relationship Type="http://schemas.openxmlformats.org/officeDocument/2006/relationships/slide" Target="/ppt/slides/slide2.xml" Id="R5b2bb2d9f1124554" /><Relationship Type="http://schemas.openxmlformats.org/officeDocument/2006/relationships/slide" Target="/ppt/slides/slide3.xml" Id="R53a2a9ddb89b4174" /><Relationship Type="http://schemas.openxmlformats.org/officeDocument/2006/relationships/slide" Target="/ppt/slides/slide4.xml" Id="R58ae460f56494cd5" /><Relationship Type="http://schemas.openxmlformats.org/officeDocument/2006/relationships/slide" Target="/ppt/slides/slide5.xml" Id="R1af498c8e38c42e7" /><Relationship Type="http://schemas.openxmlformats.org/officeDocument/2006/relationships/slide" Target="/ppt/slides/slide6.xml" Id="R86d9691ed15944f6" /><Relationship Type="http://schemas.openxmlformats.org/officeDocument/2006/relationships/slide" Target="/ppt/slides/slide7.xml" Id="R57fded22e03c486d" /><Relationship Type="http://schemas.openxmlformats.org/officeDocument/2006/relationships/slide" Target="/ppt/slides/slide8.xml" Id="Rebcba4f516c74d9d" /><Relationship Type="http://schemas.openxmlformats.org/officeDocument/2006/relationships/slide" Target="/ppt/slides/slide9.xml" Id="R3af478e3e02348d9" /><Relationship Type="http://schemas.openxmlformats.org/officeDocument/2006/relationships/slide" Target="/ppt/slides/slide10.xml" Id="R026c7eb56a584f77" /><Relationship Type="http://schemas.openxmlformats.org/officeDocument/2006/relationships/slide" Target="/ppt/slides/slide11.xml" Id="R8260f86a81974f82" /><Relationship Type="http://schemas.openxmlformats.org/officeDocument/2006/relationships/slide" Target="/ppt/slides/slide12.xml" Id="R94e4af9c36184f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355471e4df4e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766c1ea1a8419d" /><Relationship Type="http://schemas.openxmlformats.org/officeDocument/2006/relationships/notesMaster" Target="/ppt/notesMasters/notesMaster1.xml" Id="R2975b7bec02f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60c9ffed3c4371" /><Relationship Type="http://schemas.openxmlformats.org/officeDocument/2006/relationships/notesMaster" Target="/ppt/notesMasters/notesMaster1.xml" Id="Rc3cf4e54ecc44f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dacbd13cdd4ef6" /><Relationship Type="http://schemas.openxmlformats.org/officeDocument/2006/relationships/notesMaster" Target="/ppt/notesMasters/notesMaster1.xml" Id="Rfda74d4eee0942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a79a86ea3d4fcd" /><Relationship Type="http://schemas.openxmlformats.org/officeDocument/2006/relationships/notesMaster" Target="/ppt/notesMasters/notesMaster1.xml" Id="Rd14f9ea62e5b4a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60ddfa03a4417d" /><Relationship Type="http://schemas.openxmlformats.org/officeDocument/2006/relationships/notesMaster" Target="/ppt/notesMasters/notesMaster1.xml" Id="Rc8756178c8704e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ba5ccfb5ae44d8" /><Relationship Type="http://schemas.openxmlformats.org/officeDocument/2006/relationships/notesMaster" Target="/ppt/notesMasters/notesMaster1.xml" Id="Rad648624a83241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8b4d9dc8584cc0" /><Relationship Type="http://schemas.openxmlformats.org/officeDocument/2006/relationships/notesMaster" Target="/ppt/notesMasters/notesMaster1.xml" Id="R1749cb4006a541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d4a2d3b66642c4" /><Relationship Type="http://schemas.openxmlformats.org/officeDocument/2006/relationships/notesMaster" Target="/ppt/notesMasters/notesMaster1.xml" Id="R22702b74eeae42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8ea0402dd24b14" /><Relationship Type="http://schemas.openxmlformats.org/officeDocument/2006/relationships/notesMaster" Target="/ppt/notesMasters/notesMaster1.xml" Id="Re77a644a29444e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553d607f2d4343" /><Relationship Type="http://schemas.openxmlformats.org/officeDocument/2006/relationships/notesMaster" Target="/ppt/notesMasters/notesMaster1.xml" Id="R4c917c65d7744a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7683cb1d694339" /><Relationship Type="http://schemas.openxmlformats.org/officeDocument/2006/relationships/notesMaster" Target="/ppt/notesMasters/notesMaster1.xml" Id="Rc511743cd2d54e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7f565ed96a4bb4" /><Relationship Type="http://schemas.openxmlformats.org/officeDocument/2006/relationships/notesMaster" Target="/ppt/notesMasters/notesMaster1.xml" Id="R70bf3343f66045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fil conducteur : une architecture différente pour chaque nature de données, avec un protocole expérimental commun.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internes : les trois notebooks. Insister sur la séparation avant tout prétraitement et sur le test utilisé une seule fois.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brief_deep_learning.ipynb. Le préprocesseur transforme 7 variables brutes en 12 variables numériques.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brief_deep_learning.ipynb, évaluation unique du test. Accuracy 0,804, 35 erreurs, précision survivant 0,870, rappel survivant 0,580.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fashion_mnist_cnn.ipynb. La séparation est stratifiée. Les dix classes ont chacune 1 000 exemples dans le test officiel.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fashion_mnist_cnn.ipynb. L’arrêt anticipé restaure les poids de l’époque 9. Test final : perte 0,2529 et accuracy 91,30 %.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fashion_mnist_cnn.ipynb. Meilleur F1 : Pantalon 0,988. F1 minimal : Chemise 0,729. Confusion principale : Chemise vers T-shirt ou haut, 115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victor_hugo_rnn.ipynb. Le vocabulaire est appris uniquement sur les 34 poèmes d’entraînement. La validation contient 488 mots hors vocabulaire sur 2 529.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victor_hugo_rnn.ipynb, unique passe test du SimpleRNN. Accuracy connue 4,12 %, top-5 connue 14,21 %, perte globale 7,5190. Baseline majoritaire 5,52 % et baseline top-5 fréquence 17,94 %.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victor_hugo_rnn.ipynb. La comparaison RNN-LSTM porte seulement sur la validation. Les deux modèles montrent un signal de surapprentissage.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victor_hugo_rnn.ipynb, génération contrôlée avec la même amorce, 30 mots, top-k 10, températures 0,8, 1,0 et 1,2, graine 42. Le ratio types/tokens mesure seulement la répétition.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de l’oral. La nature des données guide l’architecture, tandis que le protocole et l’analyse des erreurs déterminent la fiabilité de la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ceb0f425644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9ff57f0a640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0c049c5824c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fc6ba3f1242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77a397c604e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cd4887d3b4b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B56463-2FCF-4BEC-8C79-F7BF66DBA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4F1BAA-00E4-41F2-9148-872CD08EC2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E404B1-2D68-4531-8CA7-9FDABD220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4992DF-5550-4AF9-BD86-E8EA94880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001EA0-2CAC-4528-B560-2CA5FFED83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A2F12E-026D-41C1-A1B1-A0E1A7E11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E0E9AB-09FD-4AF4-BC5A-992773A817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0C0E8B-A1EC-4352-8C4D-1C127585BB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922109-BD78-40D3-AB47-4192375753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6182ED-70ED-4F5E-AF00-DB736003AA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747876acab4f89" /><Relationship Type="http://schemas.openxmlformats.org/officeDocument/2006/relationships/slideLayout" Target="/ppt/slideLayouts/slideLayout1.xml" Id="Re67a7908a2184eaa" /><Relationship Type="http://schemas.openxmlformats.org/officeDocument/2006/relationships/slideLayout" Target="/ppt/slideLayouts/slideLayout2.xml" Id="R3530bdbe6c07413a" /><Relationship Type="http://schemas.openxmlformats.org/officeDocument/2006/relationships/slideLayout" Target="/ppt/slideLayouts/slideLayout3.xml" Id="R19895380100a4253" /><Relationship Type="http://schemas.openxmlformats.org/officeDocument/2006/relationships/slideLayout" Target="/ppt/slideLayouts/slideLayout4.xml" Id="Rd3274192f2af4762" /><Relationship Type="http://schemas.openxmlformats.org/officeDocument/2006/relationships/slideLayout" Target="/ppt/slideLayouts/slideLayout5.xml" Id="R8235e26814c74de5" /><Relationship Type="http://schemas.openxmlformats.org/officeDocument/2006/relationships/slideLayout" Target="/ppt/slideLayouts/slideLayout6.xml" Id="R94a5d1b3977a49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7a7908a2184eaa"/>
    <p:sldLayoutId xmlns:r="http://schemas.openxmlformats.org/officeDocument/2006/relationships" id="2147483650" r:id="R3530bdbe6c07413a"/>
    <p:sldLayoutId xmlns:r="http://schemas.openxmlformats.org/officeDocument/2006/relationships" id="2147483651" r:id="R19895380100a4253"/>
    <p:sldLayoutId xmlns:r="http://schemas.openxmlformats.org/officeDocument/2006/relationships" id="2147483652" r:id="Rd3274192f2af4762"/>
    <p:sldLayoutId xmlns:r="http://schemas.openxmlformats.org/officeDocument/2006/relationships" id="2147483653" r:id="R8235e26814c74de5"/>
    <p:sldLayoutId xmlns:r="http://schemas.openxmlformats.org/officeDocument/2006/relationships" id="2147483654" r:id="R94a5d1b3977a49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41d8ea34334a95" /><Relationship Type="http://schemas.openxmlformats.org/officeDocument/2006/relationships/notesSlide" Target="/ppt/notesSlides/notesSlide1.xml" Id="Ra35a56243b944c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2d9d449a64669" /><Relationship Type="http://schemas.openxmlformats.org/officeDocument/2006/relationships/notesSlide" Target="/ppt/notesSlides/notesSlide2.xml" Id="R366c013a738b4e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e3f2293d55493e" /><Relationship Type="http://schemas.openxmlformats.org/officeDocument/2006/relationships/notesSlide" Target="/ppt/notesSlides/notesSlide3.xml" Id="R7b0c3600790a48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9d681000c4e7a" /><Relationship Type="http://schemas.openxmlformats.org/officeDocument/2006/relationships/chart" Target="/ppt/slides/charts/chart1.xml" Id="Rbc9cfaeda94c4bb1" /><Relationship Type="http://schemas.openxmlformats.org/officeDocument/2006/relationships/notesSlide" Target="/ppt/notesSlides/notesSlide4.xml" Id="Rd53d4dac519d46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892736d6934d7d" /><Relationship Type="http://schemas.openxmlformats.org/officeDocument/2006/relationships/notesSlide" Target="/ppt/notesSlides/notesSlide5.xml" Id="R260d7b1731724d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e37cdd36248e9" /><Relationship Type="http://schemas.openxmlformats.org/officeDocument/2006/relationships/chart" Target="/ppt/slides/charts/chart2.xml" Id="R7dcb437f5ab54614" /><Relationship Type="http://schemas.openxmlformats.org/officeDocument/2006/relationships/notesSlide" Target="/ppt/notesSlides/notesSlide6.xml" Id="Rea9b2cb1d0d645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b834755fe4406e" /><Relationship Type="http://schemas.openxmlformats.org/officeDocument/2006/relationships/chart" Target="/ppt/slides/charts/chart3.xml" Id="Rf15ff9c627da4fee" /><Relationship Type="http://schemas.openxmlformats.org/officeDocument/2006/relationships/notesSlide" Target="/ppt/notesSlides/notesSlide7.xml" Id="R1943e649a8124c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60b1bc6234028" /><Relationship Type="http://schemas.openxmlformats.org/officeDocument/2006/relationships/notesSlide" Target="/ppt/notesSlides/notesSlide8.xml" Id="Rd706b54eb57741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8a15cc982b4c4f" /><Relationship Type="http://schemas.openxmlformats.org/officeDocument/2006/relationships/chart" Target="/ppt/slides/charts/chart4.xml" Id="R3b0708d642d34c6d" /><Relationship Type="http://schemas.openxmlformats.org/officeDocument/2006/relationships/notesSlide" Target="/ppt/notesSlides/notesSlide9.xml" Id="R712e64355b6f48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1e1ce8cf2c44a2" /><Relationship Type="http://schemas.openxmlformats.org/officeDocument/2006/relationships/notesSlide" Target="/ppt/notesSlides/notesSlide10.xml" Id="Rfa7a05ac96464a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7ef5a41fc240cf" /><Relationship Type="http://schemas.openxmlformats.org/officeDocument/2006/relationships/chart" Target="/ppt/slides/charts/chart5.xml" Id="Rd7d6e26726f34b5c" /><Relationship Type="http://schemas.openxmlformats.org/officeDocument/2006/relationships/notesSlide" Target="/ppt/notesSlides/notesSlide11.xml" Id="R1130c1367b3f45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a39ca6ba74244" /><Relationship Type="http://schemas.openxmlformats.org/officeDocument/2006/relationships/notesSlide" Target="/ppt/notesSlides/notesSlide12.xml" Id="R046e6a2c991a4a8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D7654F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Classe majoritaire</c:v>
                </c:pt>
                <c:pt idx="1">
                  <c:v>MLP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61.5</c:v>
                </c:pt>
                <c:pt idx="1">
                  <c:v>80.4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9D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Entraînement</c:v>
          </c:tx>
          <c:spPr>
            <a:solidFill xmlns:a="http://schemas.openxmlformats.org/drawingml/2006/main">
              <a:srgbClr val="0D2035"/>
            </a:solidFill>
          </c:spPr>
          <c:marker>
            <c:symbol val="none"/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56.62</c:v>
                </c:pt>
                <c:pt idx="1">
                  <c:v>35.19</c:v>
                </c:pt>
                <c:pt idx="2">
                  <c:v>30.13</c:v>
                </c:pt>
                <c:pt idx="3">
                  <c:v>27.45</c:v>
                </c:pt>
                <c:pt idx="4">
                  <c:v>24.97</c:v>
                </c:pt>
                <c:pt idx="5">
                  <c:v>22.9</c:v>
                </c:pt>
                <c:pt idx="6">
                  <c:v>21.24</c:v>
                </c:pt>
                <c:pt idx="7">
                  <c:v>19.97</c:v>
                </c:pt>
                <c:pt idx="8">
                  <c:v>18.33</c:v>
                </c:pt>
                <c:pt idx="9">
                  <c:v>16.92</c:v>
                </c:pt>
                <c:pt idx="10">
                  <c:v>15.71</c:v>
                </c:pt>
                <c:pt idx="11">
                  <c:v>14.78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238A7A"/>
            </a:solidFill>
          </c:spPr>
          <c:marker>
            <c:symbol val="none"/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36.62</c:v>
                </c:pt>
                <c:pt idx="1">
                  <c:v>28.76</c:v>
                </c:pt>
                <c:pt idx="2">
                  <c:v>26</c:v>
                </c:pt>
                <c:pt idx="3">
                  <c:v>24.79</c:v>
                </c:pt>
                <c:pt idx="4">
                  <c:v>24.02</c:v>
                </c:pt>
                <c:pt idx="5">
                  <c:v>23.04</c:v>
                </c:pt>
                <c:pt idx="6">
                  <c:v>22.97</c:v>
                </c:pt>
                <c:pt idx="7">
                  <c:v>22.3</c:v>
                </c:pt>
                <c:pt idx="8">
                  <c:v>21.78</c:v>
                </c:pt>
                <c:pt idx="9">
                  <c:v>21.98</c:v>
                </c:pt>
                <c:pt idx="10">
                  <c:v>21.8</c:v>
                </c:pt>
                <c:pt idx="11">
                  <c:v>22.9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9D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238A7A"/>
            </a:solidFill>
          </c:spPr>
          <c:invertIfNegative val="0"/>
          <c:cat>
            <c:strRef>
              <c:f>'Chart Data'!$A$2:$A$11</c:f>
              <c:strCache>
                <c:ptCount val="10"/>
                <c:pt idx="0">
                  <c:v>T-shirt</c:v>
                </c:pt>
                <c:pt idx="1">
                  <c:v>Pantalon</c:v>
                </c:pt>
                <c:pt idx="2">
                  <c:v>Pull</c:v>
                </c:pt>
                <c:pt idx="3">
                  <c:v>Robe</c:v>
                </c:pt>
                <c:pt idx="4">
                  <c:v>Manteau</c:v>
                </c:pt>
                <c:pt idx="5">
                  <c:v>Sandale</c:v>
                </c:pt>
                <c:pt idx="6">
                  <c:v>Chemise</c:v>
                </c:pt>
                <c:pt idx="7">
                  <c:v>Basket</c:v>
                </c:pt>
                <c:pt idx="8">
                  <c:v>Sac</c:v>
                </c:pt>
                <c:pt idx="9">
                  <c:v>Bottine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87.1</c:v>
                </c:pt>
                <c:pt idx="1">
                  <c:v>98.8</c:v>
                </c:pt>
                <c:pt idx="2">
                  <c:v>86.7</c:v>
                </c:pt>
                <c:pt idx="3">
                  <c:v>91.6</c:v>
                </c:pt>
                <c:pt idx="4">
                  <c:v>86</c:v>
                </c:pt>
                <c:pt idx="5">
                  <c:v>97.8</c:v>
                </c:pt>
                <c:pt idx="6">
                  <c:v>72.9</c:v>
                </c:pt>
                <c:pt idx="7">
                  <c:v>96</c:v>
                </c:pt>
                <c:pt idx="8">
                  <c:v>98.3</c:v>
                </c:pt>
                <c:pt idx="9">
                  <c:v>96.9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9D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SimpleRNN</c:v>
          </c:tx>
          <c:spPr>
            <a:solidFill xmlns:a="http://schemas.openxmlformats.org/drawingml/2006/main">
              <a:srgbClr val="6757B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Top-1</c:v>
                </c:pt>
                <c:pt idx="1">
                  <c:v>Top-5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4.12</c:v>
                </c:pt>
                <c:pt idx="1">
                  <c:v>14.21</c:v>
                </c:pt>
              </c:numCache>
            </c:numRef>
          </c:val>
        </c:ser>
        <c:ser>
          <c:idx val="1"/>
          <c:order val="1"/>
          <c:tx>
            <c:v>Baseline fréquence</c:v>
          </c:tx>
          <c:spPr>
            <a:solidFill xmlns:a="http://schemas.openxmlformats.org/drawingml/2006/main">
              <a:srgbClr val="D5A62E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Top-1</c:v>
                </c:pt>
                <c:pt idx="1">
                  <c:v>Top-5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5.52</c:v>
                </c:pt>
                <c:pt idx="1">
                  <c:v>17.94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9D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SimpleRNN</c:v>
          </c:tx>
          <c:spPr>
            <a:solidFill xmlns:a="http://schemas.openxmlformats.org/drawingml/2006/main">
              <a:srgbClr val="0D2035"/>
            </a:solidFill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Glouton</c:v>
                </c:pt>
                <c:pt idx="1">
                  <c:v>Top-10 T=0,8</c:v>
                </c:pt>
                <c:pt idx="2">
                  <c:v>Top-10 T=1,0</c:v>
                </c:pt>
                <c:pt idx="3">
                  <c:v>Top-10 T=1,2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36.67</c:v>
                </c:pt>
                <c:pt idx="1">
                  <c:v>76.67</c:v>
                </c:pt>
                <c:pt idx="2">
                  <c:v>73.33</c:v>
                </c:pt>
                <c:pt idx="3">
                  <c:v>76.67</c:v>
                </c:pt>
              </c:numCache>
            </c:numRef>
          </c:val>
        </c:ser>
        <c:ser>
          <c:idx val="1"/>
          <c:order val="1"/>
          <c:tx>
            <c:v>LSTM</c:v>
          </c:tx>
          <c:spPr>
            <a:solidFill xmlns:a="http://schemas.openxmlformats.org/drawingml/2006/main">
              <a:srgbClr val="6757B8"/>
            </a:solidFill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Glouton</c:v>
                </c:pt>
                <c:pt idx="1">
                  <c:v>Top-10 T=0,8</c:v>
                </c:pt>
                <c:pt idx="2">
                  <c:v>Top-10 T=1,0</c:v>
                </c:pt>
                <c:pt idx="3">
                  <c:v>Top-10 T=1,2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13.33</c:v>
                </c:pt>
                <c:pt idx="1">
                  <c:v>63.33</c:v>
                </c:pt>
                <c:pt idx="2">
                  <c:v>66.67</c:v>
                </c:pt>
                <c:pt idx="3">
                  <c:v>63.33</c:v>
                </c:pt>
              </c:numCache>
            </c:numRef>
          </c:val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9D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0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DCF26-CFB7-43B7-B2D2-5E78D984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E"/>
          </a:solidFill>
          <a:ln xmlns:a="http://schemas.openxmlformats.org/drawingml/2006/main" w="0">
            <a:solidFill>
              <a:srgbClr val="D5A6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59BBD-7B51-4992-A453-73EC3F0D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 i="0">
                <a:solidFill>
                  <a:srgbClr val="FFFFFF"/>
                </a:solidFill>
              </a:defRPr>
            </a:defPPr>
            <a:lvl1pPr algn="l">
              <a:defRPr sz="4350" b="1" i="0">
                <a:solidFill>
                  <a:srgbClr val="FFFFFF"/>
                </a:solidFill>
              </a:defRPr>
            </a:lvl1pPr>
            <a:lvl2pPr algn="l">
              <a:defRPr sz="4350" b="1" i="0">
                <a:solidFill>
                  <a:srgbClr val="FFFFFF"/>
                </a:solidFill>
              </a:defRPr>
            </a:lvl2pPr>
            <a:lvl3pPr algn="l">
              <a:defRPr sz="4350" b="1" i="0">
                <a:solidFill>
                  <a:srgbClr val="FFFFFF"/>
                </a:solidFill>
              </a:defRPr>
            </a:lvl3pPr>
            <a:lvl4pPr algn="l">
              <a:defRPr sz="4350" b="1" i="0">
                <a:solidFill>
                  <a:srgbClr val="FFFFFF"/>
                </a:solidFill>
              </a:defRPr>
            </a:lvl4pPr>
            <a:lvl5pPr algn="l">
              <a:defRPr sz="4350" b="1" i="0">
                <a:solidFill>
                  <a:srgbClr val="FFFFFF"/>
                </a:solidFill>
              </a:defRPr>
            </a:lvl5pPr>
            <a:lvl6pPr algn="l">
              <a:defRPr sz="4350" b="1" i="0">
                <a:solidFill>
                  <a:srgbClr val="FFFFFF"/>
                </a:solidFill>
              </a:defRPr>
            </a:lvl6pPr>
            <a:lvl7pPr algn="l">
              <a:defRPr sz="4350" b="1" i="0">
                <a:solidFill>
                  <a:srgbClr val="FFFFFF"/>
                </a:solidFill>
              </a:defRPr>
            </a:lvl7pPr>
            <a:lvl8pPr algn="l">
              <a:defRPr sz="4350" b="1" i="0">
                <a:solidFill>
                  <a:srgbClr val="FFFFFF"/>
                </a:solidFill>
              </a:defRPr>
            </a:lvl8pPr>
            <a:lvl9pPr algn="l">
              <a:defRPr sz="43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Deep Learning selon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la nature des données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FEEBC-06B1-4D29-BFC7-07FBD62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 i="0">
                <a:solidFill>
                  <a:srgbClr val="D8E1E8"/>
                </a:solidFill>
              </a:defRPr>
            </a:defPPr>
            <a:lvl1pPr algn="l">
              <a:defRPr sz="2100" b="0" i="0">
                <a:solidFill>
                  <a:srgbClr val="D8E1E8"/>
                </a:solidFill>
              </a:defRPr>
            </a:lvl1pPr>
            <a:lvl2pPr algn="l">
              <a:defRPr sz="2100" b="0" i="0">
                <a:solidFill>
                  <a:srgbClr val="D8E1E8"/>
                </a:solidFill>
              </a:defRPr>
            </a:lvl2pPr>
            <a:lvl3pPr algn="l">
              <a:defRPr sz="2100" b="0" i="0">
                <a:solidFill>
                  <a:srgbClr val="D8E1E8"/>
                </a:solidFill>
              </a:defRPr>
            </a:lvl3pPr>
            <a:lvl4pPr algn="l">
              <a:defRPr sz="2100" b="0" i="0">
                <a:solidFill>
                  <a:srgbClr val="D8E1E8"/>
                </a:solidFill>
              </a:defRPr>
            </a:lvl4pPr>
            <a:lvl5pPr algn="l">
              <a:defRPr sz="2100" b="0" i="0">
                <a:solidFill>
                  <a:srgbClr val="D8E1E8"/>
                </a:solidFill>
              </a:defRPr>
            </a:lvl5pPr>
            <a:lvl6pPr algn="l">
              <a:defRPr sz="2100" b="0" i="0">
                <a:solidFill>
                  <a:srgbClr val="D8E1E8"/>
                </a:solidFill>
              </a:defRPr>
            </a:lvl6pPr>
            <a:lvl7pPr algn="l">
              <a:defRPr sz="2100" b="0" i="0">
                <a:solidFill>
                  <a:srgbClr val="D8E1E8"/>
                </a:solidFill>
              </a:defRPr>
            </a:lvl7pPr>
            <a:lvl8pPr algn="l">
              <a:defRPr sz="2100" b="0" i="0">
                <a:solidFill>
                  <a:srgbClr val="D8E1E8"/>
                </a:solidFill>
              </a:defRPr>
            </a:lvl8pPr>
            <a:lvl9pPr algn="l">
              <a:defRPr sz="2100" b="0" i="0">
                <a:solidFill>
                  <a:srgbClr val="D8E1E8"/>
                </a:solidFill>
              </a:defRPr>
            </a:lvl9pPr>
          </a:lstStyle>
          <a:p xmlns:a="http://schemas.openxmlformats.org/drawingml/2006/main">
            <a:pPr algn="l">
              <a:defRPr sz="2100" b="0" i="0">
                <a:solidFill>
                  <a:srgbClr val="D8E1E8"/>
                </a:solidFill>
              </a:defRPr>
            </a:pPr>
            <a:r>
              <a:rPr sz="2100" b="0" i="0">
                <a:solidFill>
                  <a:srgbClr val="D8E1E8"/>
                </a:solidFill>
              </a:rPr>
              <a:t>MLP, CNN, SimpleRNN et LSTM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A7993-76B3-4396-AD33-47808158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F39A85"/>
                </a:solidFill>
              </a:defRPr>
            </a:defPPr>
            <a:lvl1pPr algn="l">
              <a:defRPr sz="1650" b="1" i="0">
                <a:solidFill>
                  <a:srgbClr val="F39A85"/>
                </a:solidFill>
              </a:defRPr>
            </a:lvl1pPr>
            <a:lvl2pPr algn="l">
              <a:defRPr sz="1650" b="1" i="0">
                <a:solidFill>
                  <a:srgbClr val="F39A85"/>
                </a:solidFill>
              </a:defRPr>
            </a:lvl2pPr>
            <a:lvl3pPr algn="l">
              <a:defRPr sz="1650" b="1" i="0">
                <a:solidFill>
                  <a:srgbClr val="F39A85"/>
                </a:solidFill>
              </a:defRPr>
            </a:lvl3pPr>
            <a:lvl4pPr algn="l">
              <a:defRPr sz="1650" b="1" i="0">
                <a:solidFill>
                  <a:srgbClr val="F39A85"/>
                </a:solidFill>
              </a:defRPr>
            </a:lvl4pPr>
            <a:lvl5pPr algn="l">
              <a:defRPr sz="1650" b="1" i="0">
                <a:solidFill>
                  <a:srgbClr val="F39A85"/>
                </a:solidFill>
              </a:defRPr>
            </a:lvl5pPr>
            <a:lvl6pPr algn="l">
              <a:defRPr sz="1650" b="1" i="0">
                <a:solidFill>
                  <a:srgbClr val="F39A85"/>
                </a:solidFill>
              </a:defRPr>
            </a:lvl6pPr>
            <a:lvl7pPr algn="l">
              <a:defRPr sz="1650" b="1" i="0">
                <a:solidFill>
                  <a:srgbClr val="F39A85"/>
                </a:solidFill>
              </a:defRPr>
            </a:lvl7pPr>
            <a:lvl8pPr algn="l">
              <a:defRPr sz="1650" b="1" i="0">
                <a:solidFill>
                  <a:srgbClr val="F39A85"/>
                </a:solidFill>
              </a:defRPr>
            </a:lvl8pPr>
            <a:lvl9pPr algn="l">
              <a:defRPr sz="1650" b="1" i="0">
                <a:solidFill>
                  <a:srgbClr val="F39A85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F39A85"/>
                </a:solidFill>
              </a:defRPr>
            </a:pPr>
            <a:r>
              <a:rPr sz="1650" b="1" i="0">
                <a:solidFill>
                  <a:srgbClr val="F39A85"/>
                </a:solidFill>
              </a:rPr>
              <a:t>Données tabulaires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FDBDF-548C-4997-9087-472B4D1B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56C5B5"/>
                </a:solidFill>
              </a:defRPr>
            </a:defPPr>
            <a:lvl1pPr algn="l">
              <a:defRPr sz="1650" b="1" i="0">
                <a:solidFill>
                  <a:srgbClr val="56C5B5"/>
                </a:solidFill>
              </a:defRPr>
            </a:lvl1pPr>
            <a:lvl2pPr algn="l">
              <a:defRPr sz="1650" b="1" i="0">
                <a:solidFill>
                  <a:srgbClr val="56C5B5"/>
                </a:solidFill>
              </a:defRPr>
            </a:lvl2pPr>
            <a:lvl3pPr algn="l">
              <a:defRPr sz="1650" b="1" i="0">
                <a:solidFill>
                  <a:srgbClr val="56C5B5"/>
                </a:solidFill>
              </a:defRPr>
            </a:lvl3pPr>
            <a:lvl4pPr algn="l">
              <a:defRPr sz="1650" b="1" i="0">
                <a:solidFill>
                  <a:srgbClr val="56C5B5"/>
                </a:solidFill>
              </a:defRPr>
            </a:lvl4pPr>
            <a:lvl5pPr algn="l">
              <a:defRPr sz="1650" b="1" i="0">
                <a:solidFill>
                  <a:srgbClr val="56C5B5"/>
                </a:solidFill>
              </a:defRPr>
            </a:lvl5pPr>
            <a:lvl6pPr algn="l">
              <a:defRPr sz="1650" b="1" i="0">
                <a:solidFill>
                  <a:srgbClr val="56C5B5"/>
                </a:solidFill>
              </a:defRPr>
            </a:lvl6pPr>
            <a:lvl7pPr algn="l">
              <a:defRPr sz="1650" b="1" i="0">
                <a:solidFill>
                  <a:srgbClr val="56C5B5"/>
                </a:solidFill>
              </a:defRPr>
            </a:lvl7pPr>
            <a:lvl8pPr algn="l">
              <a:defRPr sz="1650" b="1" i="0">
                <a:solidFill>
                  <a:srgbClr val="56C5B5"/>
                </a:solidFill>
              </a:defRPr>
            </a:lvl8pPr>
            <a:lvl9pPr algn="l">
              <a:defRPr sz="1650" b="1" i="0">
                <a:solidFill>
                  <a:srgbClr val="56C5B5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56C5B5"/>
                </a:solidFill>
              </a:defRPr>
            </a:pPr>
            <a:r>
              <a:rPr sz="1650" b="1" i="0">
                <a:solidFill>
                  <a:srgbClr val="56C5B5"/>
                </a:solidFill>
              </a:rPr>
              <a:t>Images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4E8D4-A54B-4117-8D5B-274BB07A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B8AEF2"/>
                </a:solidFill>
              </a:defRPr>
            </a:defPPr>
            <a:lvl1pPr algn="l">
              <a:defRPr sz="1650" b="1" i="0">
                <a:solidFill>
                  <a:srgbClr val="B8AEF2"/>
                </a:solidFill>
              </a:defRPr>
            </a:lvl1pPr>
            <a:lvl2pPr algn="l">
              <a:defRPr sz="1650" b="1" i="0">
                <a:solidFill>
                  <a:srgbClr val="B8AEF2"/>
                </a:solidFill>
              </a:defRPr>
            </a:lvl2pPr>
            <a:lvl3pPr algn="l">
              <a:defRPr sz="1650" b="1" i="0">
                <a:solidFill>
                  <a:srgbClr val="B8AEF2"/>
                </a:solidFill>
              </a:defRPr>
            </a:lvl3pPr>
            <a:lvl4pPr algn="l">
              <a:defRPr sz="1650" b="1" i="0">
                <a:solidFill>
                  <a:srgbClr val="B8AEF2"/>
                </a:solidFill>
              </a:defRPr>
            </a:lvl4pPr>
            <a:lvl5pPr algn="l">
              <a:defRPr sz="1650" b="1" i="0">
                <a:solidFill>
                  <a:srgbClr val="B8AEF2"/>
                </a:solidFill>
              </a:defRPr>
            </a:lvl5pPr>
            <a:lvl6pPr algn="l">
              <a:defRPr sz="1650" b="1" i="0">
                <a:solidFill>
                  <a:srgbClr val="B8AEF2"/>
                </a:solidFill>
              </a:defRPr>
            </a:lvl6pPr>
            <a:lvl7pPr algn="l">
              <a:defRPr sz="1650" b="1" i="0">
                <a:solidFill>
                  <a:srgbClr val="B8AEF2"/>
                </a:solidFill>
              </a:defRPr>
            </a:lvl7pPr>
            <a:lvl8pPr algn="l">
              <a:defRPr sz="1650" b="1" i="0">
                <a:solidFill>
                  <a:srgbClr val="B8AEF2"/>
                </a:solidFill>
              </a:defRPr>
            </a:lvl8pPr>
            <a:lvl9pPr algn="l">
              <a:defRPr sz="1650" b="1" i="0">
                <a:solidFill>
                  <a:srgbClr val="B8AEF2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B8AEF2"/>
                </a:solidFill>
              </a:defRPr>
            </a:pPr>
            <a:r>
              <a:rPr sz="1650" b="1" i="0">
                <a:solidFill>
                  <a:srgbClr val="B8AEF2"/>
                </a:solidFill>
              </a:rPr>
              <a:t>Texte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AE869-7F67-4741-9B95-44CB7DEA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AEBCC8"/>
                </a:solidFill>
              </a:defRPr>
            </a:defPPr>
            <a:lvl1pPr algn="l">
              <a:defRPr sz="1425" b="0" i="0">
                <a:solidFill>
                  <a:srgbClr val="AEBCC8"/>
                </a:solidFill>
              </a:defRPr>
            </a:lvl1pPr>
            <a:lvl2pPr algn="l">
              <a:defRPr sz="1425" b="0" i="0">
                <a:solidFill>
                  <a:srgbClr val="AEBCC8"/>
                </a:solidFill>
              </a:defRPr>
            </a:lvl2pPr>
            <a:lvl3pPr algn="l">
              <a:defRPr sz="1425" b="0" i="0">
                <a:solidFill>
                  <a:srgbClr val="AEBCC8"/>
                </a:solidFill>
              </a:defRPr>
            </a:lvl3pPr>
            <a:lvl4pPr algn="l">
              <a:defRPr sz="1425" b="0" i="0">
                <a:solidFill>
                  <a:srgbClr val="AEBCC8"/>
                </a:solidFill>
              </a:defRPr>
            </a:lvl4pPr>
            <a:lvl5pPr algn="l">
              <a:defRPr sz="1425" b="0" i="0">
                <a:solidFill>
                  <a:srgbClr val="AEBCC8"/>
                </a:solidFill>
              </a:defRPr>
            </a:lvl5pPr>
            <a:lvl6pPr algn="l">
              <a:defRPr sz="1425" b="0" i="0">
                <a:solidFill>
                  <a:srgbClr val="AEBCC8"/>
                </a:solidFill>
              </a:defRPr>
            </a:lvl6pPr>
            <a:lvl7pPr algn="l">
              <a:defRPr sz="1425" b="0" i="0">
                <a:solidFill>
                  <a:srgbClr val="AEBCC8"/>
                </a:solidFill>
              </a:defRPr>
            </a:lvl7pPr>
            <a:lvl8pPr algn="l">
              <a:defRPr sz="1425" b="0" i="0">
                <a:solidFill>
                  <a:srgbClr val="AEBCC8"/>
                </a:solidFill>
              </a:defRPr>
            </a:lvl8pPr>
            <a:lvl9pPr algn="l">
              <a:defRPr sz="1425" b="0" i="0">
                <a:solidFill>
                  <a:srgbClr val="AEBCC8"/>
                </a:solidFill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AEBCC8"/>
                </a:solidFill>
              </a:defRPr>
            </a:pPr>
            <a:r>
              <a:rPr sz="1425" b="0" i="0">
                <a:solidFill>
                  <a:srgbClr val="AEBCC8"/>
                </a:solidFill>
              </a:rPr>
              <a:t>Préparer, entraîner, évaluer, interpréter</a:t>
            </a:r>
          </a:p>
        </p:txBody>
      </p:sp>
    </p:spTree>
    <p:extLst>
      <p:ext uri="{BB962C8B-B14F-4D97-AF65-F5344CB8AC3E}">
        <p14:creationId xmlns:p14="http://schemas.microsoft.com/office/powerpoint/2010/main" val="1300545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05F80-67D8-4340-966C-3398FCF082A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39200" y="17526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A62E"/>
            </a:solidFill>
            <a:prstDash val="soli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1C90E-76F3-4FE5-9B3F-C954FB78B45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57900" y="17526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A62E"/>
            </a:solidFill>
            <a:prstDash val="soli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EC8C6-DFCF-4838-9D2D-3D8829B15F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76600" y="17526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A62E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1987E-847B-4558-B152-00C93CB7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132238"/>
                </a:solidFill>
              </a:defRPr>
            </a:defPPr>
            <a:lvl1pPr algn="l">
              <a:defRPr sz="2850" b="1" i="0">
                <a:solidFill>
                  <a:srgbClr val="132238"/>
                </a:solidFill>
              </a:defRPr>
            </a:lvl1pPr>
            <a:lvl2pPr algn="l">
              <a:defRPr sz="2850" b="1" i="0">
                <a:solidFill>
                  <a:srgbClr val="132238"/>
                </a:solidFill>
              </a:defRPr>
            </a:lvl2pPr>
            <a:lvl3pPr algn="l">
              <a:defRPr sz="2850" b="1" i="0">
                <a:solidFill>
                  <a:srgbClr val="132238"/>
                </a:solidFill>
              </a:defRPr>
            </a:lvl3pPr>
            <a:lvl4pPr algn="l">
              <a:defRPr sz="2850" b="1" i="0">
                <a:solidFill>
                  <a:srgbClr val="132238"/>
                </a:solidFill>
              </a:defRPr>
            </a:lvl4pPr>
            <a:lvl5pPr algn="l">
              <a:defRPr sz="2850" b="1" i="0">
                <a:solidFill>
                  <a:srgbClr val="132238"/>
                </a:solidFill>
              </a:defRPr>
            </a:lvl5pPr>
            <a:lvl6pPr algn="l">
              <a:defRPr sz="2850" b="1" i="0">
                <a:solidFill>
                  <a:srgbClr val="132238"/>
                </a:solidFill>
              </a:defRPr>
            </a:lvl6pPr>
            <a:lvl7pPr algn="l">
              <a:defRPr sz="2850" b="1" i="0">
                <a:solidFill>
                  <a:srgbClr val="132238"/>
                </a:solidFill>
              </a:defRPr>
            </a:lvl7pPr>
            <a:lvl8pPr algn="l">
              <a:defRPr sz="2850" b="1" i="0">
                <a:solidFill>
                  <a:srgbClr val="132238"/>
                </a:solidFill>
              </a:defRPr>
            </a:lvl8pPr>
            <a:lvl9pPr algn="l">
              <a:defRPr sz="28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32238"/>
                </a:solidFill>
              </a:defRPr>
            </a:pPr>
            <a:r>
              <a:rPr sz="2850" b="1" i="0">
                <a:solidFill>
                  <a:srgbClr val="132238"/>
                </a:solidFill>
              </a:rPr>
              <a:t>Un protocole commun pour trois problèmes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39299-7D6D-4291-99D2-A4E436D3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E"/>
          </a:solidFill>
          <a:ln xmlns:a="http://schemas.openxmlformats.org/drawingml/2006/main" w="0">
            <a:solidFill>
              <a:srgbClr val="D5A6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6500D-60C1-403E-90DE-681D7CE8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5E6B78"/>
                </a:solidFill>
              </a:defRPr>
            </a:defPPr>
            <a:lvl1pPr algn="r">
              <a:defRPr sz="1050" b="0" i="0">
                <a:solidFill>
                  <a:srgbClr val="5E6B78"/>
                </a:solidFill>
              </a:defRPr>
            </a:lvl1pPr>
            <a:lvl2pPr algn="r">
              <a:defRPr sz="1050" b="0" i="0">
                <a:solidFill>
                  <a:srgbClr val="5E6B78"/>
                </a:solidFill>
              </a:defRPr>
            </a:lvl2pPr>
            <a:lvl3pPr algn="r">
              <a:defRPr sz="1050" b="0" i="0">
                <a:solidFill>
                  <a:srgbClr val="5E6B78"/>
                </a:solidFill>
              </a:defRPr>
            </a:lvl3pPr>
            <a:lvl4pPr algn="r">
              <a:defRPr sz="1050" b="0" i="0">
                <a:solidFill>
                  <a:srgbClr val="5E6B78"/>
                </a:solidFill>
              </a:defRPr>
            </a:lvl4pPr>
            <a:lvl5pPr algn="r">
              <a:defRPr sz="1050" b="0" i="0">
                <a:solidFill>
                  <a:srgbClr val="5E6B78"/>
                </a:solidFill>
              </a:defRPr>
            </a:lvl5pPr>
            <a:lvl6pPr algn="r">
              <a:defRPr sz="1050" b="0" i="0">
                <a:solidFill>
                  <a:srgbClr val="5E6B78"/>
                </a:solidFill>
              </a:defRPr>
            </a:lvl6pPr>
            <a:lvl7pPr algn="r">
              <a:defRPr sz="1050" b="0" i="0">
                <a:solidFill>
                  <a:srgbClr val="5E6B78"/>
                </a:solidFill>
              </a:defRPr>
            </a:lvl7pPr>
            <a:lvl8pPr algn="r">
              <a:defRPr sz="1050" b="0" i="0">
                <a:solidFill>
                  <a:srgbClr val="5E6B78"/>
                </a:solidFill>
              </a:defRPr>
            </a:lvl8pPr>
            <a:lvl9pPr algn="r">
              <a:defRPr sz="10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5E6B78"/>
                </a:solidFill>
              </a:defRPr>
            </a:pPr>
            <a:r>
              <a:rPr sz="1050" b="0" i="0">
                <a:solidFill>
                  <a:srgbClr val="5E6B7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4D717-D114-4F34-B2DA-4BE15329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 i="0">
                <a:solidFill>
                  <a:srgbClr val="D5A62E"/>
                </a:solidFill>
              </a:defRPr>
            </a:defPPr>
            <a:lvl1pPr algn="ctr">
              <a:defRPr sz="2550" b="1" i="0">
                <a:solidFill>
                  <a:srgbClr val="D5A62E"/>
                </a:solidFill>
              </a:defRPr>
            </a:lvl1pPr>
            <a:lvl2pPr algn="ctr">
              <a:defRPr sz="2550" b="1" i="0">
                <a:solidFill>
                  <a:srgbClr val="D5A62E"/>
                </a:solidFill>
              </a:defRPr>
            </a:lvl2pPr>
            <a:lvl3pPr algn="ctr">
              <a:defRPr sz="2550" b="1" i="0">
                <a:solidFill>
                  <a:srgbClr val="D5A62E"/>
                </a:solidFill>
              </a:defRPr>
            </a:lvl3pPr>
            <a:lvl4pPr algn="ctr">
              <a:defRPr sz="2550" b="1" i="0">
                <a:solidFill>
                  <a:srgbClr val="D5A62E"/>
                </a:solidFill>
              </a:defRPr>
            </a:lvl4pPr>
            <a:lvl5pPr algn="ctr">
              <a:defRPr sz="2550" b="1" i="0">
                <a:solidFill>
                  <a:srgbClr val="D5A62E"/>
                </a:solidFill>
              </a:defRPr>
            </a:lvl5pPr>
            <a:lvl6pPr algn="ctr">
              <a:defRPr sz="2550" b="1" i="0">
                <a:solidFill>
                  <a:srgbClr val="D5A62E"/>
                </a:solidFill>
              </a:defRPr>
            </a:lvl6pPr>
            <a:lvl7pPr algn="ctr">
              <a:defRPr sz="2550" b="1" i="0">
                <a:solidFill>
                  <a:srgbClr val="D5A62E"/>
                </a:solidFill>
              </a:defRPr>
            </a:lvl7pPr>
            <a:lvl8pPr algn="ctr">
              <a:defRPr sz="2550" b="1" i="0">
                <a:solidFill>
                  <a:srgbClr val="D5A62E"/>
                </a:solidFill>
              </a:defRPr>
            </a:lvl8pPr>
            <a:lvl9pPr algn="ctr">
              <a:defRPr sz="2550" b="1" i="0">
                <a:solidFill>
                  <a:srgbClr val="D5A62E"/>
                </a:solidFill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D5A62E"/>
                </a:solidFill>
              </a:defRPr>
            </a:pPr>
            <a:r>
              <a:rPr sz="2550" b="1" i="0">
                <a:solidFill>
                  <a:srgbClr val="D5A62E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F5FE5-C8B0-430D-B487-DBAE1CA7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52550"/>
            <a:ext cx="2057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32238"/>
                </a:solidFill>
              </a:defRPr>
            </a:defPPr>
            <a:lvl1pPr algn="ctr">
              <a:defRPr sz="1350" b="1">
                <a:solidFill>
                  <a:srgbClr val="132238"/>
                </a:solidFill>
              </a:defRPr>
            </a:lvl1pPr>
            <a:lvl2pPr algn="ctr">
              <a:defRPr sz="1350" b="1">
                <a:solidFill>
                  <a:srgbClr val="132238"/>
                </a:solidFill>
              </a:defRPr>
            </a:lvl2pPr>
            <a:lvl3pPr algn="ctr">
              <a:defRPr sz="1350" b="1">
                <a:solidFill>
                  <a:srgbClr val="132238"/>
                </a:solidFill>
              </a:defRPr>
            </a:lvl3pPr>
            <a:lvl4pPr algn="ctr">
              <a:defRPr sz="1350" b="1">
                <a:solidFill>
                  <a:srgbClr val="132238"/>
                </a:solidFill>
              </a:defRPr>
            </a:lvl4pPr>
            <a:lvl5pPr algn="ctr">
              <a:defRPr sz="1350" b="1">
                <a:solidFill>
                  <a:srgbClr val="132238"/>
                </a:solidFill>
              </a:defRPr>
            </a:lvl5pPr>
            <a:lvl6pPr algn="ctr">
              <a:defRPr sz="1350" b="1">
                <a:solidFill>
                  <a:srgbClr val="132238"/>
                </a:solidFill>
              </a:defRPr>
            </a:lvl6pPr>
            <a:lvl7pPr algn="ctr">
              <a:defRPr sz="1350" b="1">
                <a:solidFill>
                  <a:srgbClr val="132238"/>
                </a:solidFill>
              </a:defRPr>
            </a:lvl7pPr>
            <a:lvl8pPr algn="ctr">
              <a:defRPr sz="1350" b="1">
                <a:solidFill>
                  <a:srgbClr val="132238"/>
                </a:solidFill>
              </a:defRPr>
            </a:lvl8pPr>
            <a:lvl9pPr algn="ctr">
              <a:defRPr sz="135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Séparer</a:t>
            </a:r>
          </a:p>
          <a:p xmlns:a="http://schemas.openxmlformats.org/drawingml/2006/main"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Train, validation et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020F0-C4D8-48B9-AD04-4FB37BB8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28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 i="0">
                <a:solidFill>
                  <a:srgbClr val="D5A62E"/>
                </a:solidFill>
              </a:defRPr>
            </a:defPPr>
            <a:lvl1pPr algn="ctr">
              <a:defRPr sz="2550" b="1" i="0">
                <a:solidFill>
                  <a:srgbClr val="D5A62E"/>
                </a:solidFill>
              </a:defRPr>
            </a:lvl1pPr>
            <a:lvl2pPr algn="ctr">
              <a:defRPr sz="2550" b="1" i="0">
                <a:solidFill>
                  <a:srgbClr val="D5A62E"/>
                </a:solidFill>
              </a:defRPr>
            </a:lvl2pPr>
            <a:lvl3pPr algn="ctr">
              <a:defRPr sz="2550" b="1" i="0">
                <a:solidFill>
                  <a:srgbClr val="D5A62E"/>
                </a:solidFill>
              </a:defRPr>
            </a:lvl3pPr>
            <a:lvl4pPr algn="ctr">
              <a:defRPr sz="2550" b="1" i="0">
                <a:solidFill>
                  <a:srgbClr val="D5A62E"/>
                </a:solidFill>
              </a:defRPr>
            </a:lvl4pPr>
            <a:lvl5pPr algn="ctr">
              <a:defRPr sz="2550" b="1" i="0">
                <a:solidFill>
                  <a:srgbClr val="D5A62E"/>
                </a:solidFill>
              </a:defRPr>
            </a:lvl5pPr>
            <a:lvl6pPr algn="ctr">
              <a:defRPr sz="2550" b="1" i="0">
                <a:solidFill>
                  <a:srgbClr val="D5A62E"/>
                </a:solidFill>
              </a:defRPr>
            </a:lvl6pPr>
            <a:lvl7pPr algn="ctr">
              <a:defRPr sz="2550" b="1" i="0">
                <a:solidFill>
                  <a:srgbClr val="D5A62E"/>
                </a:solidFill>
              </a:defRPr>
            </a:lvl7pPr>
            <a:lvl8pPr algn="ctr">
              <a:defRPr sz="2550" b="1" i="0">
                <a:solidFill>
                  <a:srgbClr val="D5A62E"/>
                </a:solidFill>
              </a:defRPr>
            </a:lvl8pPr>
            <a:lvl9pPr algn="ctr">
              <a:defRPr sz="2550" b="1" i="0">
                <a:solidFill>
                  <a:srgbClr val="D5A62E"/>
                </a:solidFill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D5A62E"/>
                </a:solidFill>
              </a:defRPr>
            </a:pPr>
            <a:r>
              <a:rPr sz="2550" b="1" i="0">
                <a:solidFill>
                  <a:srgbClr val="D5A62E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AF8A2-5C08-4F5B-9D40-DB161C1F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2057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32238"/>
                </a:solidFill>
              </a:defRPr>
            </a:defPPr>
            <a:lvl1pPr algn="ctr">
              <a:defRPr sz="1350" b="0">
                <a:solidFill>
                  <a:srgbClr val="132238"/>
                </a:solidFill>
              </a:defRPr>
            </a:lvl1pPr>
            <a:lvl2pPr algn="ctr">
              <a:defRPr sz="1350" b="0">
                <a:solidFill>
                  <a:srgbClr val="132238"/>
                </a:solidFill>
              </a:defRPr>
            </a:lvl2pPr>
            <a:lvl3pPr algn="ctr">
              <a:defRPr sz="1350" b="0">
                <a:solidFill>
                  <a:srgbClr val="132238"/>
                </a:solidFill>
              </a:defRPr>
            </a:lvl3pPr>
            <a:lvl4pPr algn="ctr">
              <a:defRPr sz="1350" b="0">
                <a:solidFill>
                  <a:srgbClr val="132238"/>
                </a:solidFill>
              </a:defRPr>
            </a:lvl4pPr>
            <a:lvl5pPr algn="ctr">
              <a:defRPr sz="1350" b="0">
                <a:solidFill>
                  <a:srgbClr val="132238"/>
                </a:solidFill>
              </a:defRPr>
            </a:lvl5pPr>
            <a:lvl6pPr algn="ctr">
              <a:defRPr sz="1350" b="0">
                <a:solidFill>
                  <a:srgbClr val="132238"/>
                </a:solidFill>
              </a:defRPr>
            </a:lvl6pPr>
            <a:lvl7pPr algn="ctr">
              <a:defRPr sz="1350" b="0">
                <a:solidFill>
                  <a:srgbClr val="132238"/>
                </a:solidFill>
              </a:defRPr>
            </a:lvl7pPr>
            <a:lvl8pPr algn="ctr">
              <a:defRPr sz="1350" b="0">
                <a:solidFill>
                  <a:srgbClr val="132238"/>
                </a:solidFill>
              </a:defRPr>
            </a:lvl8pPr>
            <a:lvl9pPr algn="ctr">
              <a:defRPr sz="1350" b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Préparer</a:t>
            </a:r>
          </a:p>
          <a:p xmlns:a="http://schemas.openxmlformats.org/drawingml/2006/main">
            <a:pPr algn="ctr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Ajuster sur le 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27CB2-6F45-4081-AEC7-6A9E54CA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 i="0">
                <a:solidFill>
                  <a:srgbClr val="D5A62E"/>
                </a:solidFill>
              </a:defRPr>
            </a:defPPr>
            <a:lvl1pPr algn="ctr">
              <a:defRPr sz="2550" b="1" i="0">
                <a:solidFill>
                  <a:srgbClr val="D5A62E"/>
                </a:solidFill>
              </a:defRPr>
            </a:lvl1pPr>
            <a:lvl2pPr algn="ctr">
              <a:defRPr sz="2550" b="1" i="0">
                <a:solidFill>
                  <a:srgbClr val="D5A62E"/>
                </a:solidFill>
              </a:defRPr>
            </a:lvl2pPr>
            <a:lvl3pPr algn="ctr">
              <a:defRPr sz="2550" b="1" i="0">
                <a:solidFill>
                  <a:srgbClr val="D5A62E"/>
                </a:solidFill>
              </a:defRPr>
            </a:lvl3pPr>
            <a:lvl4pPr algn="ctr">
              <a:defRPr sz="2550" b="1" i="0">
                <a:solidFill>
                  <a:srgbClr val="D5A62E"/>
                </a:solidFill>
              </a:defRPr>
            </a:lvl4pPr>
            <a:lvl5pPr algn="ctr">
              <a:defRPr sz="2550" b="1" i="0">
                <a:solidFill>
                  <a:srgbClr val="D5A62E"/>
                </a:solidFill>
              </a:defRPr>
            </a:lvl5pPr>
            <a:lvl6pPr algn="ctr">
              <a:defRPr sz="2550" b="1" i="0">
                <a:solidFill>
                  <a:srgbClr val="D5A62E"/>
                </a:solidFill>
              </a:defRPr>
            </a:lvl6pPr>
            <a:lvl7pPr algn="ctr">
              <a:defRPr sz="2550" b="1" i="0">
                <a:solidFill>
                  <a:srgbClr val="D5A62E"/>
                </a:solidFill>
              </a:defRPr>
            </a:lvl7pPr>
            <a:lvl8pPr algn="ctr">
              <a:defRPr sz="2550" b="1" i="0">
                <a:solidFill>
                  <a:srgbClr val="D5A62E"/>
                </a:solidFill>
              </a:defRPr>
            </a:lvl8pPr>
            <a:lvl9pPr algn="ctr">
              <a:defRPr sz="2550" b="1" i="0">
                <a:solidFill>
                  <a:srgbClr val="D5A62E"/>
                </a:solidFill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D5A62E"/>
                </a:solidFill>
              </a:defRPr>
            </a:pPr>
            <a:r>
              <a:rPr sz="2550" b="1" i="0">
                <a:solidFill>
                  <a:srgbClr val="D5A62E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E71C9-9B84-4EB0-9C36-19931694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52550"/>
            <a:ext cx="2057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32238"/>
                </a:solidFill>
              </a:defRPr>
            </a:defPPr>
            <a:lvl1pPr algn="ctr">
              <a:defRPr sz="1350" b="0">
                <a:solidFill>
                  <a:srgbClr val="132238"/>
                </a:solidFill>
              </a:defRPr>
            </a:lvl1pPr>
            <a:lvl2pPr algn="ctr">
              <a:defRPr sz="1350" b="0">
                <a:solidFill>
                  <a:srgbClr val="132238"/>
                </a:solidFill>
              </a:defRPr>
            </a:lvl2pPr>
            <a:lvl3pPr algn="ctr">
              <a:defRPr sz="1350" b="0">
                <a:solidFill>
                  <a:srgbClr val="132238"/>
                </a:solidFill>
              </a:defRPr>
            </a:lvl3pPr>
            <a:lvl4pPr algn="ctr">
              <a:defRPr sz="1350" b="0">
                <a:solidFill>
                  <a:srgbClr val="132238"/>
                </a:solidFill>
              </a:defRPr>
            </a:lvl4pPr>
            <a:lvl5pPr algn="ctr">
              <a:defRPr sz="1350" b="0">
                <a:solidFill>
                  <a:srgbClr val="132238"/>
                </a:solidFill>
              </a:defRPr>
            </a:lvl5pPr>
            <a:lvl6pPr algn="ctr">
              <a:defRPr sz="1350" b="0">
                <a:solidFill>
                  <a:srgbClr val="132238"/>
                </a:solidFill>
              </a:defRPr>
            </a:lvl6pPr>
            <a:lvl7pPr algn="ctr">
              <a:defRPr sz="1350" b="0">
                <a:solidFill>
                  <a:srgbClr val="132238"/>
                </a:solidFill>
              </a:defRPr>
            </a:lvl7pPr>
            <a:lvl8pPr algn="ctr">
              <a:defRPr sz="1350" b="0">
                <a:solidFill>
                  <a:srgbClr val="132238"/>
                </a:solidFill>
              </a:defRPr>
            </a:lvl8pPr>
            <a:lvl9pPr algn="ctr">
              <a:defRPr sz="1350" b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Entraîner</a:t>
            </a:r>
          </a:p>
          <a:p xmlns:a="http://schemas.openxmlformats.org/drawingml/2006/main">
            <a:pPr algn="ctr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Suivre la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84FDF-57DC-4243-A29E-063CD715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28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 i="0">
                <a:solidFill>
                  <a:srgbClr val="D5A62E"/>
                </a:solidFill>
              </a:defRPr>
            </a:defPPr>
            <a:lvl1pPr algn="ctr">
              <a:defRPr sz="2550" b="1" i="0">
                <a:solidFill>
                  <a:srgbClr val="D5A62E"/>
                </a:solidFill>
              </a:defRPr>
            </a:lvl1pPr>
            <a:lvl2pPr algn="ctr">
              <a:defRPr sz="2550" b="1" i="0">
                <a:solidFill>
                  <a:srgbClr val="D5A62E"/>
                </a:solidFill>
              </a:defRPr>
            </a:lvl2pPr>
            <a:lvl3pPr algn="ctr">
              <a:defRPr sz="2550" b="1" i="0">
                <a:solidFill>
                  <a:srgbClr val="D5A62E"/>
                </a:solidFill>
              </a:defRPr>
            </a:lvl3pPr>
            <a:lvl4pPr algn="ctr">
              <a:defRPr sz="2550" b="1" i="0">
                <a:solidFill>
                  <a:srgbClr val="D5A62E"/>
                </a:solidFill>
              </a:defRPr>
            </a:lvl4pPr>
            <a:lvl5pPr algn="ctr">
              <a:defRPr sz="2550" b="1" i="0">
                <a:solidFill>
                  <a:srgbClr val="D5A62E"/>
                </a:solidFill>
              </a:defRPr>
            </a:lvl5pPr>
            <a:lvl6pPr algn="ctr">
              <a:defRPr sz="2550" b="1" i="0">
                <a:solidFill>
                  <a:srgbClr val="D5A62E"/>
                </a:solidFill>
              </a:defRPr>
            </a:lvl6pPr>
            <a:lvl7pPr algn="ctr">
              <a:defRPr sz="2550" b="1" i="0">
                <a:solidFill>
                  <a:srgbClr val="D5A62E"/>
                </a:solidFill>
              </a:defRPr>
            </a:lvl7pPr>
            <a:lvl8pPr algn="ctr">
              <a:defRPr sz="2550" b="1" i="0">
                <a:solidFill>
                  <a:srgbClr val="D5A62E"/>
                </a:solidFill>
              </a:defRPr>
            </a:lvl8pPr>
            <a:lvl9pPr algn="ctr">
              <a:defRPr sz="2550" b="1" i="0">
                <a:solidFill>
                  <a:srgbClr val="D5A62E"/>
                </a:solidFill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D5A62E"/>
                </a:solidFill>
              </a:defRPr>
            </a:pPr>
            <a:r>
              <a:rPr sz="2550" b="1" i="0">
                <a:solidFill>
                  <a:srgbClr val="D5A62E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534F4-86C2-475D-A0CB-9F78C9B0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352550"/>
            <a:ext cx="2057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32238"/>
                </a:solidFill>
              </a:defRPr>
            </a:defPPr>
            <a:lvl1pPr algn="ctr">
              <a:defRPr sz="1350" b="0">
                <a:solidFill>
                  <a:srgbClr val="132238"/>
                </a:solidFill>
              </a:defRPr>
            </a:lvl1pPr>
            <a:lvl2pPr algn="ctr">
              <a:defRPr sz="1350" b="0">
                <a:solidFill>
                  <a:srgbClr val="132238"/>
                </a:solidFill>
              </a:defRPr>
            </a:lvl2pPr>
            <a:lvl3pPr algn="ctr">
              <a:defRPr sz="1350" b="0">
                <a:solidFill>
                  <a:srgbClr val="132238"/>
                </a:solidFill>
              </a:defRPr>
            </a:lvl3pPr>
            <a:lvl4pPr algn="ctr">
              <a:defRPr sz="1350" b="0">
                <a:solidFill>
                  <a:srgbClr val="132238"/>
                </a:solidFill>
              </a:defRPr>
            </a:lvl4pPr>
            <a:lvl5pPr algn="ctr">
              <a:defRPr sz="1350" b="0">
                <a:solidFill>
                  <a:srgbClr val="132238"/>
                </a:solidFill>
              </a:defRPr>
            </a:lvl5pPr>
            <a:lvl6pPr algn="ctr">
              <a:defRPr sz="1350" b="0">
                <a:solidFill>
                  <a:srgbClr val="132238"/>
                </a:solidFill>
              </a:defRPr>
            </a:lvl6pPr>
            <a:lvl7pPr algn="ctr">
              <a:defRPr sz="1350" b="0">
                <a:solidFill>
                  <a:srgbClr val="132238"/>
                </a:solidFill>
              </a:defRPr>
            </a:lvl7pPr>
            <a:lvl8pPr algn="ctr">
              <a:defRPr sz="1350" b="0">
                <a:solidFill>
                  <a:srgbClr val="132238"/>
                </a:solidFill>
              </a:defRPr>
            </a:lvl8pPr>
            <a:lvl9pPr algn="ctr">
              <a:defRPr sz="1350" b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Tester</a:t>
            </a:r>
          </a:p>
          <a:p xmlns:a="http://schemas.openxmlformats.org/drawingml/2006/main">
            <a:pPr algn="ctr">
              <a:defRPr sz="1350" b="0">
                <a:solidFill>
                  <a:srgbClr val="132238"/>
                </a:solidFill>
              </a:defRPr>
            </a:pPr>
            <a:r>
              <a:rPr sz="1350" b="0">
                <a:solidFill>
                  <a:srgbClr val="132238"/>
                </a:solidFill>
              </a:rPr>
              <a:t>Une évaluation finale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1B8EF-D228-4D75-8931-86B5B79632A1}"/>
              </a:ext>
            </a:extLst>
          </p:cNvPr>
          <p:cNvGraphicFramePr/>
          <p:nvPr/>
        </p:nvGraphicFramePr>
        <p:xfrm>
          <a:off xmlns:a="http://schemas.openxmlformats.org/drawingml/2006/main" x="666750" y="2857500"/>
          <a:ext xmlns:a="http://schemas.openxmlformats.org/drawingml/2006/main" cx="10858500" cy="2381250"/>
        </p:xfrm>
        <a:graphic xmlns:a="http://schemas.openxmlformats.org/drawingml/2006/main">
          <a:graphicData uri="http://schemas.openxmlformats.org/drawingml/2006/table">
            <a:tbl>
              <a:tblPr firstRow="1" firstCol="0" bandRow="1">
                <a:tableStyleId>{5C22544A-7EE6-4342-B048-85BDC9FD1C3A}</a:tableStyleId>
              </a:tblPr>
              <a:tblGrid>
                <a:gridCol w="1809750"/>
                <a:gridCol w="3143250"/>
                <a:gridCol w="2476500"/>
                <a:gridCol w="3429000"/>
              </a:tblGrid>
              <a:tr h="5953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Nature</a:t>
                      </a:r>
                    </a:p>
                  </a:txBody>
                  <a:tcPr marL="91440" marR="91440" marT="45720" marB="45720"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Jeu de données</a:t>
                      </a:r>
                    </a:p>
                  </a:txBody>
                  <a:tcPr marL="91440" marR="91440" marT="45720" marB="45720"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Tâche</a:t>
                      </a:r>
                    </a:p>
                  </a:txBody>
                  <a:tcPr marL="91440" marR="91440" marT="45720" marB="45720"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Architecture</a:t>
                      </a:r>
                    </a:p>
                  </a:txBody>
                  <a:tcPr marL="91440" marR="91440" marT="45720" marB="45720">
                    <a:solidFill>
                      <a:srgbClr val="0D2035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Tabulaire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Titanic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Survie binaire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MLP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Image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Fashion-MNIST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10 classes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CNN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Texte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48 poèmes de Victor Hugo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Mot suivant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SimpleRNN puis LSTM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8908C-B781-4C6E-8903-1ED641A0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0D2035"/>
                </a:solidFill>
              </a:defRPr>
            </a:defPPr>
            <a:lvl1pPr algn="l">
              <a:defRPr sz="1575" b="1" i="0">
                <a:solidFill>
                  <a:srgbClr val="0D2035"/>
                </a:solidFill>
              </a:defRPr>
            </a:lvl1pPr>
            <a:lvl2pPr algn="l">
              <a:defRPr sz="1575" b="1" i="0">
                <a:solidFill>
                  <a:srgbClr val="0D2035"/>
                </a:solidFill>
              </a:defRPr>
            </a:lvl2pPr>
            <a:lvl3pPr algn="l">
              <a:defRPr sz="1575" b="1" i="0">
                <a:solidFill>
                  <a:srgbClr val="0D2035"/>
                </a:solidFill>
              </a:defRPr>
            </a:lvl3pPr>
            <a:lvl4pPr algn="l">
              <a:defRPr sz="1575" b="1" i="0">
                <a:solidFill>
                  <a:srgbClr val="0D2035"/>
                </a:solidFill>
              </a:defRPr>
            </a:lvl4pPr>
            <a:lvl5pPr algn="l">
              <a:defRPr sz="1575" b="1" i="0">
                <a:solidFill>
                  <a:srgbClr val="0D2035"/>
                </a:solidFill>
              </a:defRPr>
            </a:lvl5pPr>
            <a:lvl6pPr algn="l">
              <a:defRPr sz="1575" b="1" i="0">
                <a:solidFill>
                  <a:srgbClr val="0D2035"/>
                </a:solidFill>
              </a:defRPr>
            </a:lvl6pPr>
            <a:lvl7pPr algn="l">
              <a:defRPr sz="1575" b="1" i="0">
                <a:solidFill>
                  <a:srgbClr val="0D2035"/>
                </a:solidFill>
              </a:defRPr>
            </a:lvl7pPr>
            <a:lvl8pPr algn="l">
              <a:defRPr sz="1575" b="1" i="0">
                <a:solidFill>
                  <a:srgbClr val="0D2035"/>
                </a:solidFill>
              </a:defRPr>
            </a:lvl8pPr>
            <a:lvl9pPr algn="l">
              <a:defRPr sz="1575" b="1" i="0">
                <a:solidFill>
                  <a:srgbClr val="0D2035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D2035"/>
                </a:solidFill>
              </a:defRPr>
            </a:pPr>
            <a:r>
              <a:rPr sz="1575" b="1" i="0">
                <a:solidFill>
                  <a:srgbClr val="0D2035"/>
                </a:solidFill>
              </a:rPr>
              <a:t>Principe : les choix viennent de la validation. Le test confirme ensuite la généralisation.</a:t>
            </a:r>
          </a:p>
        </p:txBody>
      </p:sp>
    </p:spTree>
    <p:extLst>
      <p:ext uri="{BB962C8B-B14F-4D97-AF65-F5344CB8AC3E}">
        <p14:creationId xmlns:p14="http://schemas.microsoft.com/office/powerpoint/2010/main" val="959262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FCAF0-02DB-4417-8776-F399C162CC5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9239250" y="2924175"/>
            <a:ext cx="1404938" cy="981075"/>
          </a:xfrm>
          <a:prstGeom xmlns:a="http://schemas.openxmlformats.org/drawingml/2006/main" prst="bentConnector5">
            <a:avLst>
              <a:gd name="adj1" fmla="val 0"/>
              <a:gd name="adj2" fmla="val 23301"/>
              <a:gd name="adj3" fmla="val 83729"/>
            </a:avLst>
          </a:prstGeom>
          <a:ln xmlns:a="http://schemas.openxmlformats.org/drawingml/2006/main" w="19050">
            <a:solidFill>
              <a:srgbClr val="D7654F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8C637-0385-4A8C-AA2A-D8CDAB3CD39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477375" y="2438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654F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19096-BDA7-4B15-82C0-F96A7998161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62875" y="2438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654F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D7BB5-D863-4585-80BA-B9762AACE51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62625" y="2438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654F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DCAF85-9B70-42BD-A11F-CE30549B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132238"/>
                </a:solidFill>
              </a:defRPr>
            </a:defPPr>
            <a:lvl1pPr algn="l">
              <a:defRPr sz="2850" b="1" i="0">
                <a:solidFill>
                  <a:srgbClr val="132238"/>
                </a:solidFill>
              </a:defRPr>
            </a:lvl1pPr>
            <a:lvl2pPr algn="l">
              <a:defRPr sz="2850" b="1" i="0">
                <a:solidFill>
                  <a:srgbClr val="132238"/>
                </a:solidFill>
              </a:defRPr>
            </a:lvl2pPr>
            <a:lvl3pPr algn="l">
              <a:defRPr sz="2850" b="1" i="0">
                <a:solidFill>
                  <a:srgbClr val="132238"/>
                </a:solidFill>
              </a:defRPr>
            </a:lvl3pPr>
            <a:lvl4pPr algn="l">
              <a:defRPr sz="2850" b="1" i="0">
                <a:solidFill>
                  <a:srgbClr val="132238"/>
                </a:solidFill>
              </a:defRPr>
            </a:lvl4pPr>
            <a:lvl5pPr algn="l">
              <a:defRPr sz="2850" b="1" i="0">
                <a:solidFill>
                  <a:srgbClr val="132238"/>
                </a:solidFill>
              </a:defRPr>
            </a:lvl5pPr>
            <a:lvl6pPr algn="l">
              <a:defRPr sz="2850" b="1" i="0">
                <a:solidFill>
                  <a:srgbClr val="132238"/>
                </a:solidFill>
              </a:defRPr>
            </a:lvl6pPr>
            <a:lvl7pPr algn="l">
              <a:defRPr sz="2850" b="1" i="0">
                <a:solidFill>
                  <a:srgbClr val="132238"/>
                </a:solidFill>
              </a:defRPr>
            </a:lvl7pPr>
            <a:lvl8pPr algn="l">
              <a:defRPr sz="2850" b="1" i="0">
                <a:solidFill>
                  <a:srgbClr val="132238"/>
                </a:solidFill>
              </a:defRPr>
            </a:lvl8pPr>
            <a:lvl9pPr algn="l">
              <a:defRPr sz="28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32238"/>
                </a:solidFill>
              </a:defRPr>
            </a:pPr>
            <a:r>
              <a:rPr sz="2850" b="1" i="0">
                <a:solidFill>
                  <a:srgbClr val="132238"/>
                </a:solidFill>
              </a:rPr>
              <a:t>Titanic : un MLP compact pour les données tabulaires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2EAD6-316F-4F1C-8D62-C01BC1DB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F"/>
          </a:solidFill>
          <a:ln xmlns:a="http://schemas.openxmlformats.org/drawingml/2006/main" w="0">
            <a:solidFill>
              <a:srgbClr val="D765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D7462-B254-40C1-9ACD-2165F57B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5E6B78"/>
                </a:solidFill>
              </a:defRPr>
            </a:defPPr>
            <a:lvl1pPr algn="r">
              <a:defRPr sz="1050" b="0" i="0">
                <a:solidFill>
                  <a:srgbClr val="5E6B78"/>
                </a:solidFill>
              </a:defRPr>
            </a:lvl1pPr>
            <a:lvl2pPr algn="r">
              <a:defRPr sz="1050" b="0" i="0">
                <a:solidFill>
                  <a:srgbClr val="5E6B78"/>
                </a:solidFill>
              </a:defRPr>
            </a:lvl2pPr>
            <a:lvl3pPr algn="r">
              <a:defRPr sz="1050" b="0" i="0">
                <a:solidFill>
                  <a:srgbClr val="5E6B78"/>
                </a:solidFill>
              </a:defRPr>
            </a:lvl3pPr>
            <a:lvl4pPr algn="r">
              <a:defRPr sz="1050" b="0" i="0">
                <a:solidFill>
                  <a:srgbClr val="5E6B78"/>
                </a:solidFill>
              </a:defRPr>
            </a:lvl4pPr>
            <a:lvl5pPr algn="r">
              <a:defRPr sz="1050" b="0" i="0">
                <a:solidFill>
                  <a:srgbClr val="5E6B78"/>
                </a:solidFill>
              </a:defRPr>
            </a:lvl5pPr>
            <a:lvl6pPr algn="r">
              <a:defRPr sz="1050" b="0" i="0">
                <a:solidFill>
                  <a:srgbClr val="5E6B78"/>
                </a:solidFill>
              </a:defRPr>
            </a:lvl6pPr>
            <a:lvl7pPr algn="r">
              <a:defRPr sz="1050" b="0" i="0">
                <a:solidFill>
                  <a:srgbClr val="5E6B78"/>
                </a:solidFill>
              </a:defRPr>
            </a:lvl7pPr>
            <a:lvl8pPr algn="r">
              <a:defRPr sz="1050" b="0" i="0">
                <a:solidFill>
                  <a:srgbClr val="5E6B78"/>
                </a:solidFill>
              </a:defRPr>
            </a:lvl8pPr>
            <a:lvl9pPr algn="r">
              <a:defRPr sz="10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5E6B78"/>
                </a:solidFill>
              </a:defRPr>
            </a:pPr>
            <a:r>
              <a:rPr sz="1050" b="0" i="0">
                <a:solidFill>
                  <a:srgbClr val="5E6B7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D769E-7703-4318-94AF-CF2EFD99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D7654F"/>
                </a:solidFill>
              </a:defRPr>
            </a:defPPr>
            <a:lvl1pPr algn="l">
              <a:defRPr sz="1800" b="1" i="0">
                <a:solidFill>
                  <a:srgbClr val="D7654F"/>
                </a:solidFill>
              </a:defRPr>
            </a:lvl1pPr>
            <a:lvl2pPr algn="l">
              <a:defRPr sz="1800" b="1" i="0">
                <a:solidFill>
                  <a:srgbClr val="D7654F"/>
                </a:solidFill>
              </a:defRPr>
            </a:lvl2pPr>
            <a:lvl3pPr algn="l">
              <a:defRPr sz="1800" b="1" i="0">
                <a:solidFill>
                  <a:srgbClr val="D7654F"/>
                </a:solidFill>
              </a:defRPr>
            </a:lvl3pPr>
            <a:lvl4pPr algn="l">
              <a:defRPr sz="1800" b="1" i="0">
                <a:solidFill>
                  <a:srgbClr val="D7654F"/>
                </a:solidFill>
              </a:defRPr>
            </a:lvl4pPr>
            <a:lvl5pPr algn="l">
              <a:defRPr sz="1800" b="1" i="0">
                <a:solidFill>
                  <a:srgbClr val="D7654F"/>
                </a:solidFill>
              </a:defRPr>
            </a:lvl5pPr>
            <a:lvl6pPr algn="l">
              <a:defRPr sz="1800" b="1" i="0">
                <a:solidFill>
                  <a:srgbClr val="D7654F"/>
                </a:solidFill>
              </a:defRPr>
            </a:lvl6pPr>
            <a:lvl7pPr algn="l">
              <a:defRPr sz="1800" b="1" i="0">
                <a:solidFill>
                  <a:srgbClr val="D7654F"/>
                </a:solidFill>
              </a:defRPr>
            </a:lvl7pPr>
            <a:lvl8pPr algn="l">
              <a:defRPr sz="1800" b="1" i="0">
                <a:solidFill>
                  <a:srgbClr val="D7654F"/>
                </a:solidFill>
              </a:defRPr>
            </a:lvl8pPr>
            <a:lvl9pPr algn="l">
              <a:defRPr sz="1800" b="1" i="0">
                <a:solidFill>
                  <a:srgbClr val="D7654F"/>
                </a:solidFill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D7654F"/>
                </a:solidFill>
              </a:defRPr>
            </a:pPr>
            <a:r>
              <a:rPr sz="1800" b="1" i="0">
                <a:solidFill>
                  <a:srgbClr val="D7654F"/>
                </a:solidFill>
              </a:rPr>
              <a:t>Préparation sans fuite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A8AEE-F44D-4EF8-8134-FCBE8E5C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132238"/>
                </a:solidFill>
              </a:defRPr>
            </a:defPPr>
            <a:lvl1pPr algn="l">
              <a:defRPr sz="1575" b="0" i="0">
                <a:solidFill>
                  <a:srgbClr val="132238"/>
                </a:solidFill>
              </a:defRPr>
            </a:lvl1pPr>
            <a:lvl2pPr algn="l">
              <a:defRPr sz="1575" b="0" i="0">
                <a:solidFill>
                  <a:srgbClr val="132238"/>
                </a:solidFill>
              </a:defRPr>
            </a:lvl2pPr>
            <a:lvl3pPr algn="l">
              <a:defRPr sz="1575" b="0" i="0">
                <a:solidFill>
                  <a:srgbClr val="132238"/>
                </a:solidFill>
              </a:defRPr>
            </a:lvl3pPr>
            <a:lvl4pPr algn="l">
              <a:defRPr sz="1575" b="0" i="0">
                <a:solidFill>
                  <a:srgbClr val="132238"/>
                </a:solidFill>
              </a:defRPr>
            </a:lvl4pPr>
            <a:lvl5pPr algn="l">
              <a:defRPr sz="1575" b="0" i="0">
                <a:solidFill>
                  <a:srgbClr val="132238"/>
                </a:solidFill>
              </a:defRPr>
            </a:lvl5pPr>
            <a:lvl6pPr algn="l">
              <a:defRPr sz="1575" b="0" i="0">
                <a:solidFill>
                  <a:srgbClr val="132238"/>
                </a:solidFill>
              </a:defRPr>
            </a:lvl6pPr>
            <a:lvl7pPr algn="l">
              <a:defRPr sz="1575" b="0" i="0">
                <a:solidFill>
                  <a:srgbClr val="132238"/>
                </a:solidFill>
              </a:defRPr>
            </a:lvl7pPr>
            <a:lvl8pPr algn="l">
              <a:defRPr sz="1575" b="0" i="0">
                <a:solidFill>
                  <a:srgbClr val="132238"/>
                </a:solidFill>
              </a:defRPr>
            </a:lvl8pPr>
            <a:lvl9pPr algn="l">
              <a:defRPr sz="1575" b="0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569 passagers pour apprendre</a:t>
            </a:r>
          </a:p>
          <a:p xmlns:a="http://schemas.openxmlformats.org/drawingml/2006/main">
            <a:pPr algn="l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143 pour valider</a:t>
            </a:r>
          </a:p>
          <a:p xmlns:a="http://schemas.openxmlformats.org/drawingml/2006/main">
            <a:pPr algn="l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179 gardés pour le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Imputation, standardisation et encodage ajustés sur le train uniquement.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43C2E-63B9-4210-9EBC-883278AC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81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D7654F"/>
                </a:solidFill>
              </a:defRPr>
            </a:defPPr>
            <a:lvl1pPr algn="l">
              <a:defRPr sz="1800" b="1" i="0">
                <a:solidFill>
                  <a:srgbClr val="D7654F"/>
                </a:solidFill>
              </a:defRPr>
            </a:lvl1pPr>
            <a:lvl2pPr algn="l">
              <a:defRPr sz="1800" b="1" i="0">
                <a:solidFill>
                  <a:srgbClr val="D7654F"/>
                </a:solidFill>
              </a:defRPr>
            </a:lvl2pPr>
            <a:lvl3pPr algn="l">
              <a:defRPr sz="1800" b="1" i="0">
                <a:solidFill>
                  <a:srgbClr val="D7654F"/>
                </a:solidFill>
              </a:defRPr>
            </a:lvl3pPr>
            <a:lvl4pPr algn="l">
              <a:defRPr sz="1800" b="1" i="0">
                <a:solidFill>
                  <a:srgbClr val="D7654F"/>
                </a:solidFill>
              </a:defRPr>
            </a:lvl4pPr>
            <a:lvl5pPr algn="l">
              <a:defRPr sz="1800" b="1" i="0">
                <a:solidFill>
                  <a:srgbClr val="D7654F"/>
                </a:solidFill>
              </a:defRPr>
            </a:lvl5pPr>
            <a:lvl6pPr algn="l">
              <a:defRPr sz="1800" b="1" i="0">
                <a:solidFill>
                  <a:srgbClr val="D7654F"/>
                </a:solidFill>
              </a:defRPr>
            </a:lvl6pPr>
            <a:lvl7pPr algn="l">
              <a:defRPr sz="1800" b="1" i="0">
                <a:solidFill>
                  <a:srgbClr val="D7654F"/>
                </a:solidFill>
              </a:defRPr>
            </a:lvl7pPr>
            <a:lvl8pPr algn="l">
              <a:defRPr sz="1800" b="1" i="0">
                <a:solidFill>
                  <a:srgbClr val="D7654F"/>
                </a:solidFill>
              </a:defRPr>
            </a:lvl8pPr>
            <a:lvl9pPr algn="l">
              <a:defRPr sz="1800" b="1" i="0">
                <a:solidFill>
                  <a:srgbClr val="D7654F"/>
                </a:solidFill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D7654F"/>
                </a:solidFill>
              </a:defRPr>
            </a:pPr>
            <a:r>
              <a:rPr sz="1800" b="1" i="0">
                <a:solidFill>
                  <a:srgbClr val="D7654F"/>
                </a:solidFill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13459-CE06-40B0-8A60-84FE928E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D765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12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49E07-A4DF-4D5F-94C6-47FEB4C4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1428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D765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Dense 16</a:t>
            </a:r>
          </a:p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ReLU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9D0C1-2D99-495E-8DD9-6CC4318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1238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EDE8"/>
          </a:solidFill>
          <a:ln xmlns:a="http://schemas.openxmlformats.org/drawingml/2006/main" w="19050">
            <a:solidFill>
              <a:srgbClr val="D765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32238"/>
                </a:solidFill>
              </a:defRPr>
            </a:defPPr>
            <a:lvl1pPr algn="ctr">
              <a:defRPr sz="1425" b="1">
                <a:solidFill>
                  <a:srgbClr val="132238"/>
                </a:solidFill>
              </a:defRPr>
            </a:lvl1pPr>
            <a:lvl2pPr algn="ctr">
              <a:defRPr sz="1425" b="1">
                <a:solidFill>
                  <a:srgbClr val="132238"/>
                </a:solidFill>
              </a:defRPr>
            </a:lvl2pPr>
            <a:lvl3pPr algn="ctr">
              <a:defRPr sz="1425" b="1">
                <a:solidFill>
                  <a:srgbClr val="132238"/>
                </a:solidFill>
              </a:defRPr>
            </a:lvl3pPr>
            <a:lvl4pPr algn="ctr">
              <a:defRPr sz="1425" b="1">
                <a:solidFill>
                  <a:srgbClr val="132238"/>
                </a:solidFill>
              </a:defRPr>
            </a:lvl4pPr>
            <a:lvl5pPr algn="ctr">
              <a:defRPr sz="1425" b="1">
                <a:solidFill>
                  <a:srgbClr val="132238"/>
                </a:solidFill>
              </a:defRPr>
            </a:lvl5pPr>
            <a:lvl6pPr algn="ctr">
              <a:defRPr sz="1425" b="1">
                <a:solidFill>
                  <a:srgbClr val="132238"/>
                </a:solidFill>
              </a:defRPr>
            </a:lvl6pPr>
            <a:lvl7pPr algn="ctr">
              <a:defRPr sz="1425" b="1">
                <a:solidFill>
                  <a:srgbClr val="132238"/>
                </a:solidFill>
              </a:defRPr>
            </a:lvl7pPr>
            <a:lvl8pPr algn="ctr">
              <a:defRPr sz="1425" b="1">
                <a:solidFill>
                  <a:srgbClr val="132238"/>
                </a:solidFill>
              </a:defRPr>
            </a:lvl8pPr>
            <a:lvl9pPr algn="ctr">
              <a:defRPr sz="1425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32238"/>
                </a:solidFill>
              </a:defRPr>
            </a:pPr>
            <a:r>
              <a:rPr sz="1425" b="1">
                <a:solidFill>
                  <a:srgbClr val="132238"/>
                </a:solidFill>
              </a:rPr>
              <a:t>Dropout</a:t>
            </a:r>
          </a:p>
          <a:p xmlns:a="http://schemas.openxmlformats.org/drawingml/2006/main">
            <a:pPr algn="ctr">
              <a:defRPr sz="1425" b="1">
                <a:solidFill>
                  <a:srgbClr val="132238"/>
                </a:solidFill>
              </a:defRPr>
            </a:pPr>
            <a:r>
              <a:rPr sz="1425" b="1">
                <a:solidFill>
                  <a:srgbClr val="132238"/>
                </a:solidFill>
              </a:rPr>
              <a:t>20 %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05A62-2A7D-43DA-B62C-AF7D872E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13811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D765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Dense 8</a:t>
            </a:r>
          </a:p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ReLU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F4E49-E1A5-4A9A-80BF-28CE4C66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DE8"/>
          </a:solidFill>
          <a:ln xmlns:a="http://schemas.openxmlformats.org/drawingml/2006/main" w="19050">
            <a:solidFill>
              <a:srgbClr val="D765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1 probabilité</a:t>
            </a:r>
          </a:p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Sigmoïde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38DDA-C8B6-441D-86FF-5F72CEB2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D7654F"/>
                </a:solidFill>
              </a:defRPr>
            </a:defPPr>
            <a:lvl1pPr algn="ctr">
              <a:defRPr sz="3450" b="1" i="0">
                <a:solidFill>
                  <a:srgbClr val="D7654F"/>
                </a:solidFill>
              </a:defRPr>
            </a:lvl1pPr>
            <a:lvl2pPr algn="ctr">
              <a:defRPr sz="3450" b="1" i="0">
                <a:solidFill>
                  <a:srgbClr val="D7654F"/>
                </a:solidFill>
              </a:defRPr>
            </a:lvl2pPr>
            <a:lvl3pPr algn="ctr">
              <a:defRPr sz="3450" b="1" i="0">
                <a:solidFill>
                  <a:srgbClr val="D7654F"/>
                </a:solidFill>
              </a:defRPr>
            </a:lvl3pPr>
            <a:lvl4pPr algn="ctr">
              <a:defRPr sz="3450" b="1" i="0">
                <a:solidFill>
                  <a:srgbClr val="D7654F"/>
                </a:solidFill>
              </a:defRPr>
            </a:lvl4pPr>
            <a:lvl5pPr algn="ctr">
              <a:defRPr sz="3450" b="1" i="0">
                <a:solidFill>
                  <a:srgbClr val="D7654F"/>
                </a:solidFill>
              </a:defRPr>
            </a:lvl5pPr>
            <a:lvl6pPr algn="ctr">
              <a:defRPr sz="3450" b="1" i="0">
                <a:solidFill>
                  <a:srgbClr val="D7654F"/>
                </a:solidFill>
              </a:defRPr>
            </a:lvl6pPr>
            <a:lvl7pPr algn="ctr">
              <a:defRPr sz="3450" b="1" i="0">
                <a:solidFill>
                  <a:srgbClr val="D7654F"/>
                </a:solidFill>
              </a:defRPr>
            </a:lvl7pPr>
            <a:lvl8pPr algn="ctr">
              <a:defRPr sz="3450" b="1" i="0">
                <a:solidFill>
                  <a:srgbClr val="D7654F"/>
                </a:solidFill>
              </a:defRPr>
            </a:lvl8pPr>
            <a:lvl9pPr algn="ctr">
              <a:defRPr sz="3450" b="1" i="0">
                <a:solidFill>
                  <a:srgbClr val="D7654F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D7654F"/>
                </a:solidFill>
              </a:defRPr>
            </a:pPr>
            <a:r>
              <a:rPr sz="3450" b="1" i="0">
                <a:solidFill>
                  <a:srgbClr val="D7654F"/>
                </a:solidFill>
              </a:rPr>
              <a:t>353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877D8-9B98-4136-B854-E7A293C6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530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paramètres entraînables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17EF4-E819-4656-86BD-FA2C279D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D7654F"/>
                </a:solidFill>
              </a:defRPr>
            </a:defPPr>
            <a:lvl1pPr algn="ctr">
              <a:defRPr sz="3450" b="1" i="0">
                <a:solidFill>
                  <a:srgbClr val="D7654F"/>
                </a:solidFill>
              </a:defRPr>
            </a:lvl1pPr>
            <a:lvl2pPr algn="ctr">
              <a:defRPr sz="3450" b="1" i="0">
                <a:solidFill>
                  <a:srgbClr val="D7654F"/>
                </a:solidFill>
              </a:defRPr>
            </a:lvl2pPr>
            <a:lvl3pPr algn="ctr">
              <a:defRPr sz="3450" b="1" i="0">
                <a:solidFill>
                  <a:srgbClr val="D7654F"/>
                </a:solidFill>
              </a:defRPr>
            </a:lvl3pPr>
            <a:lvl4pPr algn="ctr">
              <a:defRPr sz="3450" b="1" i="0">
                <a:solidFill>
                  <a:srgbClr val="D7654F"/>
                </a:solidFill>
              </a:defRPr>
            </a:lvl4pPr>
            <a:lvl5pPr algn="ctr">
              <a:defRPr sz="3450" b="1" i="0">
                <a:solidFill>
                  <a:srgbClr val="D7654F"/>
                </a:solidFill>
              </a:defRPr>
            </a:lvl5pPr>
            <a:lvl6pPr algn="ctr">
              <a:defRPr sz="3450" b="1" i="0">
                <a:solidFill>
                  <a:srgbClr val="D7654F"/>
                </a:solidFill>
              </a:defRPr>
            </a:lvl6pPr>
            <a:lvl7pPr algn="ctr">
              <a:defRPr sz="3450" b="1" i="0">
                <a:solidFill>
                  <a:srgbClr val="D7654F"/>
                </a:solidFill>
              </a:defRPr>
            </a:lvl7pPr>
            <a:lvl8pPr algn="ctr">
              <a:defRPr sz="3450" b="1" i="0">
                <a:solidFill>
                  <a:srgbClr val="D7654F"/>
                </a:solidFill>
              </a:defRPr>
            </a:lvl8pPr>
            <a:lvl9pPr algn="ctr">
              <a:defRPr sz="3450" b="1" i="0">
                <a:solidFill>
                  <a:srgbClr val="D7654F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D7654F"/>
                </a:solidFill>
              </a:defRPr>
            </a:pPr>
            <a:r>
              <a:rPr sz="3450" b="1" i="0">
                <a:solidFill>
                  <a:srgbClr val="D7654F"/>
                </a:solidFill>
              </a:rPr>
              <a:t>54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5B159-0ADF-48BC-A97F-AE49ECB6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530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meilleure époque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3DB32-C7CF-4120-AB30-462C5216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7625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D7654F"/>
                </a:solidFill>
              </a:defRPr>
            </a:defPPr>
            <a:lvl1pPr algn="ctr">
              <a:defRPr sz="3450" b="1" i="0">
                <a:solidFill>
                  <a:srgbClr val="D7654F"/>
                </a:solidFill>
              </a:defRPr>
            </a:lvl1pPr>
            <a:lvl2pPr algn="ctr">
              <a:defRPr sz="3450" b="1" i="0">
                <a:solidFill>
                  <a:srgbClr val="D7654F"/>
                </a:solidFill>
              </a:defRPr>
            </a:lvl2pPr>
            <a:lvl3pPr algn="ctr">
              <a:defRPr sz="3450" b="1" i="0">
                <a:solidFill>
                  <a:srgbClr val="D7654F"/>
                </a:solidFill>
              </a:defRPr>
            </a:lvl3pPr>
            <a:lvl4pPr algn="ctr">
              <a:defRPr sz="3450" b="1" i="0">
                <a:solidFill>
                  <a:srgbClr val="D7654F"/>
                </a:solidFill>
              </a:defRPr>
            </a:lvl4pPr>
            <a:lvl5pPr algn="ctr">
              <a:defRPr sz="3450" b="1" i="0">
                <a:solidFill>
                  <a:srgbClr val="D7654F"/>
                </a:solidFill>
              </a:defRPr>
            </a:lvl5pPr>
            <a:lvl6pPr algn="ctr">
              <a:defRPr sz="3450" b="1" i="0">
                <a:solidFill>
                  <a:srgbClr val="D7654F"/>
                </a:solidFill>
              </a:defRPr>
            </a:lvl6pPr>
            <a:lvl7pPr algn="ctr">
              <a:defRPr sz="3450" b="1" i="0">
                <a:solidFill>
                  <a:srgbClr val="D7654F"/>
                </a:solidFill>
              </a:defRPr>
            </a:lvl7pPr>
            <a:lvl8pPr algn="ctr">
              <a:defRPr sz="3450" b="1" i="0">
                <a:solidFill>
                  <a:srgbClr val="D7654F"/>
                </a:solidFill>
              </a:defRPr>
            </a:lvl8pPr>
            <a:lvl9pPr algn="ctr">
              <a:defRPr sz="3450" b="1" i="0">
                <a:solidFill>
                  <a:srgbClr val="D7654F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D7654F"/>
                </a:solidFill>
              </a:defRPr>
            </a:pPr>
            <a:r>
              <a:rPr sz="3450" b="1" i="0">
                <a:solidFill>
                  <a:srgbClr val="D7654F"/>
                </a:solidFill>
              </a:rPr>
              <a:t>0,4525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C29EA-333E-40C6-B225-86DABBC4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530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minimum de val_loss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C17A1-5409-4852-9EEF-615EDAA5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817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 i="0">
                <a:solidFill>
                  <a:srgbClr val="5E6B78"/>
                </a:solidFill>
              </a:defRPr>
            </a:defPPr>
            <a:lvl1pPr algn="ctr">
              <a:defRPr sz="1275" b="0" i="0">
                <a:solidFill>
                  <a:srgbClr val="5E6B78"/>
                </a:solidFill>
              </a:defRPr>
            </a:lvl1pPr>
            <a:lvl2pPr algn="ctr">
              <a:defRPr sz="1275" b="0" i="0">
                <a:solidFill>
                  <a:srgbClr val="5E6B78"/>
                </a:solidFill>
              </a:defRPr>
            </a:lvl2pPr>
            <a:lvl3pPr algn="ctr">
              <a:defRPr sz="1275" b="0" i="0">
                <a:solidFill>
                  <a:srgbClr val="5E6B78"/>
                </a:solidFill>
              </a:defRPr>
            </a:lvl3pPr>
            <a:lvl4pPr algn="ctr">
              <a:defRPr sz="1275" b="0" i="0">
                <a:solidFill>
                  <a:srgbClr val="5E6B78"/>
                </a:solidFill>
              </a:defRPr>
            </a:lvl4pPr>
            <a:lvl5pPr algn="ctr">
              <a:defRPr sz="1275" b="0" i="0">
                <a:solidFill>
                  <a:srgbClr val="5E6B78"/>
                </a:solidFill>
              </a:defRPr>
            </a:lvl5pPr>
            <a:lvl6pPr algn="ctr">
              <a:defRPr sz="1275" b="0" i="0">
                <a:solidFill>
                  <a:srgbClr val="5E6B78"/>
                </a:solidFill>
              </a:defRPr>
            </a:lvl6pPr>
            <a:lvl7pPr algn="ctr">
              <a:defRPr sz="1275" b="0" i="0">
                <a:solidFill>
                  <a:srgbClr val="5E6B78"/>
                </a:solidFill>
              </a:defRPr>
            </a:lvl7pPr>
            <a:lvl8pPr algn="ctr">
              <a:defRPr sz="1275" b="0" i="0">
                <a:solidFill>
                  <a:srgbClr val="5E6B78"/>
                </a:solidFill>
              </a:defRPr>
            </a:lvl8pPr>
            <a:lvl9pPr algn="ctr">
              <a:defRPr sz="1275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275" b="0" i="0">
                <a:solidFill>
                  <a:srgbClr val="5E6B78"/>
                </a:solidFill>
              </a:defRPr>
            </a:pPr>
            <a:r>
              <a:rPr sz="1275" b="0" i="0">
                <a:solidFill>
                  <a:srgbClr val="5E6B78"/>
                </a:solidFill>
              </a:rPr>
              <a:t>Adam, entropie croisée binaire, arrêt anticipé et meilleurs poids restaurés</a:t>
            </a:r>
          </a:p>
        </p:txBody>
      </p:sp>
    </p:spTree>
    <p:extLst>
      <p:ext uri="{BB962C8B-B14F-4D97-AF65-F5344CB8AC3E}">
        <p14:creationId xmlns:p14="http://schemas.microsoft.com/office/powerpoint/2010/main" val="1256849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34836-9083-45C2-9595-844C8908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132238"/>
                </a:solidFill>
              </a:defRPr>
            </a:defPPr>
            <a:lvl1pPr algn="l">
              <a:defRPr sz="2850" b="1" i="0">
                <a:solidFill>
                  <a:srgbClr val="132238"/>
                </a:solidFill>
              </a:defRPr>
            </a:lvl1pPr>
            <a:lvl2pPr algn="l">
              <a:defRPr sz="2850" b="1" i="0">
                <a:solidFill>
                  <a:srgbClr val="132238"/>
                </a:solidFill>
              </a:defRPr>
            </a:lvl2pPr>
            <a:lvl3pPr algn="l">
              <a:defRPr sz="2850" b="1" i="0">
                <a:solidFill>
                  <a:srgbClr val="132238"/>
                </a:solidFill>
              </a:defRPr>
            </a:lvl3pPr>
            <a:lvl4pPr algn="l">
              <a:defRPr sz="2850" b="1" i="0">
                <a:solidFill>
                  <a:srgbClr val="132238"/>
                </a:solidFill>
              </a:defRPr>
            </a:lvl4pPr>
            <a:lvl5pPr algn="l">
              <a:defRPr sz="2850" b="1" i="0">
                <a:solidFill>
                  <a:srgbClr val="132238"/>
                </a:solidFill>
              </a:defRPr>
            </a:lvl5pPr>
            <a:lvl6pPr algn="l">
              <a:defRPr sz="2850" b="1" i="0">
                <a:solidFill>
                  <a:srgbClr val="132238"/>
                </a:solidFill>
              </a:defRPr>
            </a:lvl6pPr>
            <a:lvl7pPr algn="l">
              <a:defRPr sz="2850" b="1" i="0">
                <a:solidFill>
                  <a:srgbClr val="132238"/>
                </a:solidFill>
              </a:defRPr>
            </a:lvl7pPr>
            <a:lvl8pPr algn="l">
              <a:defRPr sz="2850" b="1" i="0">
                <a:solidFill>
                  <a:srgbClr val="132238"/>
                </a:solidFill>
              </a:defRPr>
            </a:lvl8pPr>
            <a:lvl9pPr algn="l">
              <a:defRPr sz="28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32238"/>
                </a:solidFill>
              </a:defRPr>
            </a:pPr>
            <a:r>
              <a:rPr sz="2850" b="1" i="0">
                <a:solidFill>
                  <a:srgbClr val="132238"/>
                </a:solidFill>
              </a:rPr>
              <a:t>MLP : 80,4 % d’accuracy, avec un rappel survivant limité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70316-ED79-4EBA-9897-C2462305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54F"/>
          </a:solidFill>
          <a:ln xmlns:a="http://schemas.openxmlformats.org/drawingml/2006/main" w="0">
            <a:solidFill>
              <a:srgbClr val="D765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07A72-76B5-4E95-9508-4B4D0108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5E6B78"/>
                </a:solidFill>
              </a:defRPr>
            </a:defPPr>
            <a:lvl1pPr algn="r">
              <a:defRPr sz="1050" b="0" i="0">
                <a:solidFill>
                  <a:srgbClr val="5E6B78"/>
                </a:solidFill>
              </a:defRPr>
            </a:lvl1pPr>
            <a:lvl2pPr algn="r">
              <a:defRPr sz="1050" b="0" i="0">
                <a:solidFill>
                  <a:srgbClr val="5E6B78"/>
                </a:solidFill>
              </a:defRPr>
            </a:lvl2pPr>
            <a:lvl3pPr algn="r">
              <a:defRPr sz="1050" b="0" i="0">
                <a:solidFill>
                  <a:srgbClr val="5E6B78"/>
                </a:solidFill>
              </a:defRPr>
            </a:lvl3pPr>
            <a:lvl4pPr algn="r">
              <a:defRPr sz="1050" b="0" i="0">
                <a:solidFill>
                  <a:srgbClr val="5E6B78"/>
                </a:solidFill>
              </a:defRPr>
            </a:lvl4pPr>
            <a:lvl5pPr algn="r">
              <a:defRPr sz="1050" b="0" i="0">
                <a:solidFill>
                  <a:srgbClr val="5E6B78"/>
                </a:solidFill>
              </a:defRPr>
            </a:lvl5pPr>
            <a:lvl6pPr algn="r">
              <a:defRPr sz="1050" b="0" i="0">
                <a:solidFill>
                  <a:srgbClr val="5E6B78"/>
                </a:solidFill>
              </a:defRPr>
            </a:lvl6pPr>
            <a:lvl7pPr algn="r">
              <a:defRPr sz="1050" b="0" i="0">
                <a:solidFill>
                  <a:srgbClr val="5E6B78"/>
                </a:solidFill>
              </a:defRPr>
            </a:lvl7pPr>
            <a:lvl8pPr algn="r">
              <a:defRPr sz="1050" b="0" i="0">
                <a:solidFill>
                  <a:srgbClr val="5E6B78"/>
                </a:solidFill>
              </a:defRPr>
            </a:lvl8pPr>
            <a:lvl9pPr algn="r">
              <a:defRPr sz="10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5E6B78"/>
                </a:solidFill>
              </a:defRPr>
            </a:pPr>
            <a:r>
              <a:rPr sz="1050" b="0" i="0">
                <a:solidFill>
                  <a:srgbClr val="5E6B7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DB345-EBB6-4414-9281-19E3CB6B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32238"/>
                </a:solidFill>
              </a:defRPr>
            </a:defPPr>
            <a:lvl1pPr algn="l">
              <a:defRPr sz="1650" b="1" i="0">
                <a:solidFill>
                  <a:srgbClr val="132238"/>
                </a:solidFill>
              </a:defRPr>
            </a:lvl1pPr>
            <a:lvl2pPr algn="l">
              <a:defRPr sz="1650" b="1" i="0">
                <a:solidFill>
                  <a:srgbClr val="132238"/>
                </a:solidFill>
              </a:defRPr>
            </a:lvl2pPr>
            <a:lvl3pPr algn="l">
              <a:defRPr sz="1650" b="1" i="0">
                <a:solidFill>
                  <a:srgbClr val="132238"/>
                </a:solidFill>
              </a:defRPr>
            </a:lvl3pPr>
            <a:lvl4pPr algn="l">
              <a:defRPr sz="1650" b="1" i="0">
                <a:solidFill>
                  <a:srgbClr val="132238"/>
                </a:solidFill>
              </a:defRPr>
            </a:lvl4pPr>
            <a:lvl5pPr algn="l">
              <a:defRPr sz="1650" b="1" i="0">
                <a:solidFill>
                  <a:srgbClr val="132238"/>
                </a:solidFill>
              </a:defRPr>
            </a:lvl5pPr>
            <a:lvl6pPr algn="l">
              <a:defRPr sz="1650" b="1" i="0">
                <a:solidFill>
                  <a:srgbClr val="132238"/>
                </a:solidFill>
              </a:defRPr>
            </a:lvl6pPr>
            <a:lvl7pPr algn="l">
              <a:defRPr sz="1650" b="1" i="0">
                <a:solidFill>
                  <a:srgbClr val="132238"/>
                </a:solidFill>
              </a:defRPr>
            </a:lvl7pPr>
            <a:lvl8pPr algn="l">
              <a:defRPr sz="1650" b="1" i="0">
                <a:solidFill>
                  <a:srgbClr val="132238"/>
                </a:solidFill>
              </a:defRPr>
            </a:lvl8pPr>
            <a:lvl9pPr algn="l">
              <a:defRPr sz="16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Accuracy sur le test (%)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F3626E1-710B-4CA4-B96C-5E9080461998}"/>
              </a:ext>
            </a:extLst>
          </p:cNvPr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4762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9cfaeda94c4bb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BE93D-9018-4AFA-901A-65C04345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32238"/>
                </a:solidFill>
              </a:defRPr>
            </a:defPPr>
            <a:lvl1pPr algn="l">
              <a:defRPr sz="1650" b="1" i="0">
                <a:solidFill>
                  <a:srgbClr val="132238"/>
                </a:solidFill>
              </a:defRPr>
            </a:lvl1pPr>
            <a:lvl2pPr algn="l">
              <a:defRPr sz="1650" b="1" i="0">
                <a:solidFill>
                  <a:srgbClr val="132238"/>
                </a:solidFill>
              </a:defRPr>
            </a:lvl2pPr>
            <a:lvl3pPr algn="l">
              <a:defRPr sz="1650" b="1" i="0">
                <a:solidFill>
                  <a:srgbClr val="132238"/>
                </a:solidFill>
              </a:defRPr>
            </a:lvl3pPr>
            <a:lvl4pPr algn="l">
              <a:defRPr sz="1650" b="1" i="0">
                <a:solidFill>
                  <a:srgbClr val="132238"/>
                </a:solidFill>
              </a:defRPr>
            </a:lvl4pPr>
            <a:lvl5pPr algn="l">
              <a:defRPr sz="1650" b="1" i="0">
                <a:solidFill>
                  <a:srgbClr val="132238"/>
                </a:solidFill>
              </a:defRPr>
            </a:lvl5pPr>
            <a:lvl6pPr algn="l">
              <a:defRPr sz="1650" b="1" i="0">
                <a:solidFill>
                  <a:srgbClr val="132238"/>
                </a:solidFill>
              </a:defRPr>
            </a:lvl6pPr>
            <a:lvl7pPr algn="l">
              <a:defRPr sz="1650" b="1" i="0">
                <a:solidFill>
                  <a:srgbClr val="132238"/>
                </a:solidFill>
              </a:defRPr>
            </a:lvl7pPr>
            <a:lvl8pPr algn="l">
              <a:defRPr sz="1650" b="1" i="0">
                <a:solidFill>
                  <a:srgbClr val="132238"/>
                </a:solidFill>
              </a:defRPr>
            </a:lvl8pPr>
            <a:lvl9pPr algn="l">
              <a:defRPr sz="16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Matrice de confusion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07322-C364-42F3-8A3A-D60E98981285}"/>
              </a:ext>
            </a:extLst>
          </p:cNvPr>
          <p:cNvGraphicFramePr/>
          <p:nvPr/>
        </p:nvGraphicFramePr>
        <p:xfrm>
          <a:off xmlns:a="http://schemas.openxmlformats.org/drawingml/2006/main" x="6191250" y="1790700"/>
          <a:ext xmlns:a="http://schemas.openxmlformats.org/drawingml/2006/main" cx="4953000" cy="2095500"/>
        </p:xfrm>
        <a:graphic xmlns:a="http://schemas.openxmlformats.org/drawingml/2006/main">
          <a:graphicData uri="http://schemas.openxmlformats.org/drawingml/2006/table">
            <a:tbl>
              <a:tblPr firstRow="1" firstCol="0" bandRow="1">
                <a:tableStyleId>{5C22544A-7EE6-4342-B048-85BDC9FD1C3A}</a:tableStyleId>
              </a:tblPr>
              <a:tblGrid>
                <a:gridCol w="2095500"/>
                <a:gridCol w="1428750"/>
                <a:gridCol w="1428750"/>
              </a:tblGrid>
              <a:tr h="698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Réel / prédit</a:t>
                      </a:r>
                    </a:p>
                  </a:txBody>
                  <a:tcPr marL="91440" marR="91440" marT="45720" marB="45720">
                    <a:solidFill>
                      <a:srgbClr val="D765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Non-survivant</a:t>
                      </a:r>
                    </a:p>
                  </a:txBody>
                  <a:tcPr marL="91440" marR="91440" marT="45720" marB="45720">
                    <a:solidFill>
                      <a:srgbClr val="D765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Survivant</a:t>
                      </a:r>
                    </a:p>
                  </a:txBody>
                  <a:tcPr marL="91440" marR="91440" marT="45720" marB="45720">
                    <a:solidFill>
                      <a:srgbClr val="D7654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Non-survivant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104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Survivant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40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41FCD-D30F-43C2-9793-8F91546B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D7654F"/>
                </a:solidFill>
              </a:defRPr>
            </a:defPPr>
            <a:lvl1pPr algn="ctr">
              <a:defRPr sz="3450" b="1" i="0">
                <a:solidFill>
                  <a:srgbClr val="D7654F"/>
                </a:solidFill>
              </a:defRPr>
            </a:lvl1pPr>
            <a:lvl2pPr algn="ctr">
              <a:defRPr sz="3450" b="1" i="0">
                <a:solidFill>
                  <a:srgbClr val="D7654F"/>
                </a:solidFill>
              </a:defRPr>
            </a:lvl2pPr>
            <a:lvl3pPr algn="ctr">
              <a:defRPr sz="3450" b="1" i="0">
                <a:solidFill>
                  <a:srgbClr val="D7654F"/>
                </a:solidFill>
              </a:defRPr>
            </a:lvl3pPr>
            <a:lvl4pPr algn="ctr">
              <a:defRPr sz="3450" b="1" i="0">
                <a:solidFill>
                  <a:srgbClr val="D7654F"/>
                </a:solidFill>
              </a:defRPr>
            </a:lvl4pPr>
            <a:lvl5pPr algn="ctr">
              <a:defRPr sz="3450" b="1" i="0">
                <a:solidFill>
                  <a:srgbClr val="D7654F"/>
                </a:solidFill>
              </a:defRPr>
            </a:lvl5pPr>
            <a:lvl6pPr algn="ctr">
              <a:defRPr sz="3450" b="1" i="0">
                <a:solidFill>
                  <a:srgbClr val="D7654F"/>
                </a:solidFill>
              </a:defRPr>
            </a:lvl6pPr>
            <a:lvl7pPr algn="ctr">
              <a:defRPr sz="3450" b="1" i="0">
                <a:solidFill>
                  <a:srgbClr val="D7654F"/>
                </a:solidFill>
              </a:defRPr>
            </a:lvl7pPr>
            <a:lvl8pPr algn="ctr">
              <a:defRPr sz="3450" b="1" i="0">
                <a:solidFill>
                  <a:srgbClr val="D7654F"/>
                </a:solidFill>
              </a:defRPr>
            </a:lvl8pPr>
            <a:lvl9pPr algn="ctr">
              <a:defRPr sz="3450" b="1" i="0">
                <a:solidFill>
                  <a:srgbClr val="D7654F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D7654F"/>
                </a:solidFill>
              </a:defRPr>
            </a:pPr>
            <a:r>
              <a:rPr sz="3450" b="1" i="0">
                <a:solidFill>
                  <a:srgbClr val="D7654F"/>
                </a:solidFill>
              </a:rPr>
              <a:t>87,0 %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12F39-952C-4E78-BC20-9D62CCE7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précision pour « survivant 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BE16D-039B-4DAF-82AB-9E1A9657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38625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B94A48"/>
                </a:solidFill>
              </a:defRPr>
            </a:defPPr>
            <a:lvl1pPr algn="ctr">
              <a:defRPr sz="3450" b="1" i="0">
                <a:solidFill>
                  <a:srgbClr val="B94A48"/>
                </a:solidFill>
              </a:defRPr>
            </a:lvl1pPr>
            <a:lvl2pPr algn="ctr">
              <a:defRPr sz="3450" b="1" i="0">
                <a:solidFill>
                  <a:srgbClr val="B94A48"/>
                </a:solidFill>
              </a:defRPr>
            </a:lvl2pPr>
            <a:lvl3pPr algn="ctr">
              <a:defRPr sz="3450" b="1" i="0">
                <a:solidFill>
                  <a:srgbClr val="B94A48"/>
                </a:solidFill>
              </a:defRPr>
            </a:lvl3pPr>
            <a:lvl4pPr algn="ctr">
              <a:defRPr sz="3450" b="1" i="0">
                <a:solidFill>
                  <a:srgbClr val="B94A48"/>
                </a:solidFill>
              </a:defRPr>
            </a:lvl4pPr>
            <a:lvl5pPr algn="ctr">
              <a:defRPr sz="3450" b="1" i="0">
                <a:solidFill>
                  <a:srgbClr val="B94A48"/>
                </a:solidFill>
              </a:defRPr>
            </a:lvl5pPr>
            <a:lvl6pPr algn="ctr">
              <a:defRPr sz="3450" b="1" i="0">
                <a:solidFill>
                  <a:srgbClr val="B94A48"/>
                </a:solidFill>
              </a:defRPr>
            </a:lvl6pPr>
            <a:lvl7pPr algn="ctr">
              <a:defRPr sz="3450" b="1" i="0">
                <a:solidFill>
                  <a:srgbClr val="B94A48"/>
                </a:solidFill>
              </a:defRPr>
            </a:lvl7pPr>
            <a:lvl8pPr algn="ctr">
              <a:defRPr sz="3450" b="1" i="0">
                <a:solidFill>
                  <a:srgbClr val="B94A48"/>
                </a:solidFill>
              </a:defRPr>
            </a:lvl8pPr>
            <a:lvl9pPr algn="ctr">
              <a:defRPr sz="3450" b="1" i="0">
                <a:solidFill>
                  <a:srgbClr val="B94A48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B94A48"/>
                </a:solidFill>
              </a:defRPr>
            </a:pPr>
            <a:r>
              <a:rPr sz="3450" b="1" i="0">
                <a:solidFill>
                  <a:srgbClr val="B94A48"/>
                </a:solidFill>
              </a:rPr>
              <a:t>58,0 %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62D3E-C4F3-4407-96F1-806F174C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rappel pour « survivant 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AFBAB-5B38-4D87-89EB-E5191C7F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132238"/>
                </a:solidFill>
              </a:defRPr>
            </a:defPPr>
            <a:lvl1pPr algn="ctr">
              <a:defRPr sz="1500" b="1" i="0">
                <a:solidFill>
                  <a:srgbClr val="132238"/>
                </a:solidFill>
              </a:defRPr>
            </a:lvl1pPr>
            <a:lvl2pPr algn="ctr">
              <a:defRPr sz="1500" b="1" i="0">
                <a:solidFill>
                  <a:srgbClr val="132238"/>
                </a:solidFill>
              </a:defRPr>
            </a:lvl2pPr>
            <a:lvl3pPr algn="ctr">
              <a:defRPr sz="1500" b="1" i="0">
                <a:solidFill>
                  <a:srgbClr val="132238"/>
                </a:solidFill>
              </a:defRPr>
            </a:lvl3pPr>
            <a:lvl4pPr algn="ctr">
              <a:defRPr sz="1500" b="1" i="0">
                <a:solidFill>
                  <a:srgbClr val="132238"/>
                </a:solidFill>
              </a:defRPr>
            </a:lvl4pPr>
            <a:lvl5pPr algn="ctr">
              <a:defRPr sz="1500" b="1" i="0">
                <a:solidFill>
                  <a:srgbClr val="132238"/>
                </a:solidFill>
              </a:defRPr>
            </a:lvl5pPr>
            <a:lvl6pPr algn="ctr">
              <a:defRPr sz="1500" b="1" i="0">
                <a:solidFill>
                  <a:srgbClr val="132238"/>
                </a:solidFill>
              </a:defRPr>
            </a:lvl6pPr>
            <a:lvl7pPr algn="ctr">
              <a:defRPr sz="1500" b="1" i="0">
                <a:solidFill>
                  <a:srgbClr val="132238"/>
                </a:solidFill>
              </a:defRPr>
            </a:lvl7pPr>
            <a:lvl8pPr algn="ctr">
              <a:defRPr sz="1500" b="1" i="0">
                <a:solidFill>
                  <a:srgbClr val="132238"/>
                </a:solidFill>
              </a:defRPr>
            </a:lvl8pPr>
            <a:lvl9pPr algn="ctr">
              <a:defRPr sz="150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132238"/>
                </a:solidFill>
              </a:defRPr>
            </a:pPr>
            <a:r>
              <a:rPr sz="1500" b="1" i="0">
                <a:solidFill>
                  <a:srgbClr val="132238"/>
                </a:solidFill>
              </a:rPr>
              <a:t>Le modèle dépasse nettement la référence, mais 29 survivants sur 69 sont classés comme non-survivants.</a:t>
            </a:r>
          </a:p>
        </p:txBody>
      </p:sp>
    </p:spTree>
    <p:extLst>
      <p:ext uri="{BB962C8B-B14F-4D97-AF65-F5344CB8AC3E}">
        <p14:creationId xmlns:p14="http://schemas.microsoft.com/office/powerpoint/2010/main" val="1844511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CAD19-89F4-41A3-A29C-7D2CA3BD759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905750" y="42386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8A7A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14617-37AA-4620-AE93-A36588E6188A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6858000" y="2819400"/>
            <a:ext cx="4048125" cy="8477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38A7A"/>
            </a:solidFill>
            <a:prstDash val="soli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EEB4E-16FB-46A7-BF0C-0AFF0FCE469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048875" y="24574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8A7A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CC699-9562-4E13-9BBC-76455AA62DD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334375" y="24574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8A7A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9B3FB-14C6-4AC4-99BE-FA1729F6721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53250" y="24574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8A7A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5C207-DD97-4246-A5CE-44695F6F5A6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38750" y="24574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8A7A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32791-1462-459C-8B5A-4E7C377E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132238"/>
                </a:solidFill>
              </a:defRPr>
            </a:defPPr>
            <a:lvl1pPr algn="l">
              <a:defRPr sz="2850" b="1" i="0">
                <a:solidFill>
                  <a:srgbClr val="132238"/>
                </a:solidFill>
              </a:defRPr>
            </a:lvl1pPr>
            <a:lvl2pPr algn="l">
              <a:defRPr sz="2850" b="1" i="0">
                <a:solidFill>
                  <a:srgbClr val="132238"/>
                </a:solidFill>
              </a:defRPr>
            </a:lvl2pPr>
            <a:lvl3pPr algn="l">
              <a:defRPr sz="2850" b="1" i="0">
                <a:solidFill>
                  <a:srgbClr val="132238"/>
                </a:solidFill>
              </a:defRPr>
            </a:lvl3pPr>
            <a:lvl4pPr algn="l">
              <a:defRPr sz="2850" b="1" i="0">
                <a:solidFill>
                  <a:srgbClr val="132238"/>
                </a:solidFill>
              </a:defRPr>
            </a:lvl4pPr>
            <a:lvl5pPr algn="l">
              <a:defRPr sz="2850" b="1" i="0">
                <a:solidFill>
                  <a:srgbClr val="132238"/>
                </a:solidFill>
              </a:defRPr>
            </a:lvl5pPr>
            <a:lvl6pPr algn="l">
              <a:defRPr sz="2850" b="1" i="0">
                <a:solidFill>
                  <a:srgbClr val="132238"/>
                </a:solidFill>
              </a:defRPr>
            </a:lvl6pPr>
            <a:lvl7pPr algn="l">
              <a:defRPr sz="2850" b="1" i="0">
                <a:solidFill>
                  <a:srgbClr val="132238"/>
                </a:solidFill>
              </a:defRPr>
            </a:lvl7pPr>
            <a:lvl8pPr algn="l">
              <a:defRPr sz="2850" b="1" i="0">
                <a:solidFill>
                  <a:srgbClr val="132238"/>
                </a:solidFill>
              </a:defRPr>
            </a:lvl8pPr>
            <a:lvl9pPr algn="l">
              <a:defRPr sz="28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32238"/>
                </a:solidFill>
              </a:defRPr>
            </a:pPr>
            <a:r>
              <a:rPr sz="2850" b="1" i="0">
                <a:solidFill>
                  <a:srgbClr val="132238"/>
                </a:solidFill>
              </a:rPr>
              <a:t>Fashion-MNIST : le CNN exploite la structure 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B1235-9D53-4E79-9F3D-A4AE49F9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7A"/>
          </a:solidFill>
          <a:ln xmlns:a="http://schemas.openxmlformats.org/drawingml/2006/main" w="0">
            <a:solidFill>
              <a:srgbClr val="238A7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F46E3-94D4-48ED-882D-E466A4D7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5E6B78"/>
                </a:solidFill>
              </a:defRPr>
            </a:defPPr>
            <a:lvl1pPr algn="r">
              <a:defRPr sz="1050" b="0" i="0">
                <a:solidFill>
                  <a:srgbClr val="5E6B78"/>
                </a:solidFill>
              </a:defRPr>
            </a:lvl1pPr>
            <a:lvl2pPr algn="r">
              <a:defRPr sz="1050" b="0" i="0">
                <a:solidFill>
                  <a:srgbClr val="5E6B78"/>
                </a:solidFill>
              </a:defRPr>
            </a:lvl2pPr>
            <a:lvl3pPr algn="r">
              <a:defRPr sz="1050" b="0" i="0">
                <a:solidFill>
                  <a:srgbClr val="5E6B78"/>
                </a:solidFill>
              </a:defRPr>
            </a:lvl3pPr>
            <a:lvl4pPr algn="r">
              <a:defRPr sz="1050" b="0" i="0">
                <a:solidFill>
                  <a:srgbClr val="5E6B78"/>
                </a:solidFill>
              </a:defRPr>
            </a:lvl4pPr>
            <a:lvl5pPr algn="r">
              <a:defRPr sz="1050" b="0" i="0">
                <a:solidFill>
                  <a:srgbClr val="5E6B78"/>
                </a:solidFill>
              </a:defRPr>
            </a:lvl5pPr>
            <a:lvl6pPr algn="r">
              <a:defRPr sz="1050" b="0" i="0">
                <a:solidFill>
                  <a:srgbClr val="5E6B78"/>
                </a:solidFill>
              </a:defRPr>
            </a:lvl6pPr>
            <a:lvl7pPr algn="r">
              <a:defRPr sz="1050" b="0" i="0">
                <a:solidFill>
                  <a:srgbClr val="5E6B78"/>
                </a:solidFill>
              </a:defRPr>
            </a:lvl7pPr>
            <a:lvl8pPr algn="r">
              <a:defRPr sz="1050" b="0" i="0">
                <a:solidFill>
                  <a:srgbClr val="5E6B78"/>
                </a:solidFill>
              </a:defRPr>
            </a:lvl8pPr>
            <a:lvl9pPr algn="r">
              <a:defRPr sz="10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5E6B78"/>
                </a:solidFill>
              </a:defRPr>
            </a:pPr>
            <a:r>
              <a:rPr sz="1050" b="0" i="0">
                <a:solidFill>
                  <a:srgbClr val="5E6B7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4F63C-B5DC-463F-BA23-F83ADCB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238A7A"/>
                </a:solidFill>
              </a:defRPr>
            </a:defPPr>
            <a:lvl1pPr algn="l">
              <a:defRPr sz="1800" b="1" i="0">
                <a:solidFill>
                  <a:srgbClr val="238A7A"/>
                </a:solidFill>
              </a:defRPr>
            </a:lvl1pPr>
            <a:lvl2pPr algn="l">
              <a:defRPr sz="1800" b="1" i="0">
                <a:solidFill>
                  <a:srgbClr val="238A7A"/>
                </a:solidFill>
              </a:defRPr>
            </a:lvl2pPr>
            <a:lvl3pPr algn="l">
              <a:defRPr sz="1800" b="1" i="0">
                <a:solidFill>
                  <a:srgbClr val="238A7A"/>
                </a:solidFill>
              </a:defRPr>
            </a:lvl3pPr>
            <a:lvl4pPr algn="l">
              <a:defRPr sz="1800" b="1" i="0">
                <a:solidFill>
                  <a:srgbClr val="238A7A"/>
                </a:solidFill>
              </a:defRPr>
            </a:lvl4pPr>
            <a:lvl5pPr algn="l">
              <a:defRPr sz="1800" b="1" i="0">
                <a:solidFill>
                  <a:srgbClr val="238A7A"/>
                </a:solidFill>
              </a:defRPr>
            </a:lvl5pPr>
            <a:lvl6pPr algn="l">
              <a:defRPr sz="1800" b="1" i="0">
                <a:solidFill>
                  <a:srgbClr val="238A7A"/>
                </a:solidFill>
              </a:defRPr>
            </a:lvl6pPr>
            <a:lvl7pPr algn="l">
              <a:defRPr sz="1800" b="1" i="0">
                <a:solidFill>
                  <a:srgbClr val="238A7A"/>
                </a:solidFill>
              </a:defRPr>
            </a:lvl7pPr>
            <a:lvl8pPr algn="l">
              <a:defRPr sz="1800" b="1" i="0">
                <a:solidFill>
                  <a:srgbClr val="238A7A"/>
                </a:solidFill>
              </a:defRPr>
            </a:lvl8pPr>
            <a:lvl9pPr algn="l">
              <a:defRPr sz="1800" b="1" i="0">
                <a:solidFill>
                  <a:srgbClr val="238A7A"/>
                </a:solidFill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238A7A"/>
                </a:solidFill>
              </a:defRPr>
            </a:pPr>
            <a:r>
              <a:rPr sz="1800" b="1" i="0">
                <a:solidFill>
                  <a:srgbClr val="238A7A"/>
                </a:solidFill>
              </a:rPr>
              <a:t>Données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0B07B-9D9C-4838-80E3-37E2EED3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304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132238"/>
                </a:solidFill>
              </a:defRPr>
            </a:defPPr>
            <a:lvl1pPr algn="l">
              <a:defRPr sz="1575" b="0" i="0">
                <a:solidFill>
                  <a:srgbClr val="132238"/>
                </a:solidFill>
              </a:defRPr>
            </a:lvl1pPr>
            <a:lvl2pPr algn="l">
              <a:defRPr sz="1575" b="0" i="0">
                <a:solidFill>
                  <a:srgbClr val="132238"/>
                </a:solidFill>
              </a:defRPr>
            </a:lvl2pPr>
            <a:lvl3pPr algn="l">
              <a:defRPr sz="1575" b="0" i="0">
                <a:solidFill>
                  <a:srgbClr val="132238"/>
                </a:solidFill>
              </a:defRPr>
            </a:lvl3pPr>
            <a:lvl4pPr algn="l">
              <a:defRPr sz="1575" b="0" i="0">
                <a:solidFill>
                  <a:srgbClr val="132238"/>
                </a:solidFill>
              </a:defRPr>
            </a:lvl4pPr>
            <a:lvl5pPr algn="l">
              <a:defRPr sz="1575" b="0" i="0">
                <a:solidFill>
                  <a:srgbClr val="132238"/>
                </a:solidFill>
              </a:defRPr>
            </a:lvl5pPr>
            <a:lvl6pPr algn="l">
              <a:defRPr sz="1575" b="0" i="0">
                <a:solidFill>
                  <a:srgbClr val="132238"/>
                </a:solidFill>
              </a:defRPr>
            </a:lvl6pPr>
            <a:lvl7pPr algn="l">
              <a:defRPr sz="1575" b="0" i="0">
                <a:solidFill>
                  <a:srgbClr val="132238"/>
                </a:solidFill>
              </a:defRPr>
            </a:lvl7pPr>
            <a:lvl8pPr algn="l">
              <a:defRPr sz="1575" b="0" i="0">
                <a:solidFill>
                  <a:srgbClr val="132238"/>
                </a:solidFill>
              </a:defRPr>
            </a:lvl8pPr>
            <a:lvl9pPr algn="l">
              <a:defRPr sz="1575" b="0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48 000 images pour apprendre</a:t>
            </a:r>
          </a:p>
          <a:p xmlns:a="http://schemas.openxmlformats.org/drawingml/2006/main">
            <a:pPr algn="l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12 000 pour valider</a:t>
            </a:r>
          </a:p>
          <a:p xmlns:a="http://schemas.openxmlformats.org/drawingml/2006/main">
            <a:pPr algn="l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10 000 gardées pour le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Images 28 × 28 en niveaux de gris</a:t>
            </a:r>
          </a:p>
          <a:p xmlns:a="http://schemas.openxmlformats.org/drawingml/2006/main">
            <a:pPr algn="l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Pixels normalisés entre 0 et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035AD-0139-40DF-B8F0-1BF95559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238A7A"/>
                </a:solidFill>
              </a:defRPr>
            </a:defPPr>
            <a:lvl1pPr algn="l">
              <a:defRPr sz="1800" b="1" i="0">
                <a:solidFill>
                  <a:srgbClr val="238A7A"/>
                </a:solidFill>
              </a:defRPr>
            </a:lvl1pPr>
            <a:lvl2pPr algn="l">
              <a:defRPr sz="1800" b="1" i="0">
                <a:solidFill>
                  <a:srgbClr val="238A7A"/>
                </a:solidFill>
              </a:defRPr>
            </a:lvl2pPr>
            <a:lvl3pPr algn="l">
              <a:defRPr sz="1800" b="1" i="0">
                <a:solidFill>
                  <a:srgbClr val="238A7A"/>
                </a:solidFill>
              </a:defRPr>
            </a:lvl3pPr>
            <a:lvl4pPr algn="l">
              <a:defRPr sz="1800" b="1" i="0">
                <a:solidFill>
                  <a:srgbClr val="238A7A"/>
                </a:solidFill>
              </a:defRPr>
            </a:lvl4pPr>
            <a:lvl5pPr algn="l">
              <a:defRPr sz="1800" b="1" i="0">
                <a:solidFill>
                  <a:srgbClr val="238A7A"/>
                </a:solidFill>
              </a:defRPr>
            </a:lvl5pPr>
            <a:lvl6pPr algn="l">
              <a:defRPr sz="1800" b="1" i="0">
                <a:solidFill>
                  <a:srgbClr val="238A7A"/>
                </a:solidFill>
              </a:defRPr>
            </a:lvl6pPr>
            <a:lvl7pPr algn="l">
              <a:defRPr sz="1800" b="1" i="0">
                <a:solidFill>
                  <a:srgbClr val="238A7A"/>
                </a:solidFill>
              </a:defRPr>
            </a:lvl7pPr>
            <a:lvl8pPr algn="l">
              <a:defRPr sz="1800" b="1" i="0">
                <a:solidFill>
                  <a:srgbClr val="238A7A"/>
                </a:solidFill>
              </a:defRPr>
            </a:lvl8pPr>
            <a:lvl9pPr algn="l">
              <a:defRPr sz="1800" b="1" i="0">
                <a:solidFill>
                  <a:srgbClr val="238A7A"/>
                </a:solidFill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238A7A"/>
                </a:solidFill>
              </a:defRPr>
            </a:pPr>
            <a:r>
              <a:rPr sz="1800" b="1" i="0">
                <a:solidFill>
                  <a:srgbClr val="238A7A"/>
                </a:solidFill>
              </a:rPr>
              <a:t>Architecture convolutionnelle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97B4D-0686-4762-A035-E55C3A70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47875"/>
            <a:ext cx="1238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238A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32238"/>
                </a:solidFill>
              </a:defRPr>
            </a:defPPr>
            <a:lvl1pPr algn="ctr">
              <a:defRPr sz="1350" b="1">
                <a:solidFill>
                  <a:srgbClr val="132238"/>
                </a:solidFill>
              </a:defRPr>
            </a:lvl1pPr>
            <a:lvl2pPr algn="ctr">
              <a:defRPr sz="1350" b="1">
                <a:solidFill>
                  <a:srgbClr val="132238"/>
                </a:solidFill>
              </a:defRPr>
            </a:lvl2pPr>
            <a:lvl3pPr algn="ctr">
              <a:defRPr sz="1350" b="1">
                <a:solidFill>
                  <a:srgbClr val="132238"/>
                </a:solidFill>
              </a:defRPr>
            </a:lvl3pPr>
            <a:lvl4pPr algn="ctr">
              <a:defRPr sz="1350" b="1">
                <a:solidFill>
                  <a:srgbClr val="132238"/>
                </a:solidFill>
              </a:defRPr>
            </a:lvl4pPr>
            <a:lvl5pPr algn="ctr">
              <a:defRPr sz="1350" b="1">
                <a:solidFill>
                  <a:srgbClr val="132238"/>
                </a:solidFill>
              </a:defRPr>
            </a:lvl5pPr>
            <a:lvl6pPr algn="ctr">
              <a:defRPr sz="1350" b="1">
                <a:solidFill>
                  <a:srgbClr val="132238"/>
                </a:solidFill>
              </a:defRPr>
            </a:lvl6pPr>
            <a:lvl7pPr algn="ctr">
              <a:defRPr sz="1350" b="1">
                <a:solidFill>
                  <a:srgbClr val="132238"/>
                </a:solidFill>
              </a:defRPr>
            </a:lvl7pPr>
            <a:lvl8pPr algn="ctr">
              <a:defRPr sz="1350" b="1">
                <a:solidFill>
                  <a:srgbClr val="132238"/>
                </a:solidFill>
              </a:defRPr>
            </a:lvl8pPr>
            <a:lvl9pPr algn="ctr">
              <a:defRPr sz="135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28 × 28 ×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CE488-5FA6-475F-A1C9-DB3418A3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52625"/>
            <a:ext cx="13811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9050">
            <a:solidFill>
              <a:srgbClr val="238A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32238"/>
                </a:solidFill>
              </a:defRPr>
            </a:defPPr>
            <a:lvl1pPr algn="ctr">
              <a:defRPr sz="1350" b="1">
                <a:solidFill>
                  <a:srgbClr val="132238"/>
                </a:solidFill>
              </a:defRPr>
            </a:lvl1pPr>
            <a:lvl2pPr algn="ctr">
              <a:defRPr sz="1350" b="1">
                <a:solidFill>
                  <a:srgbClr val="132238"/>
                </a:solidFill>
              </a:defRPr>
            </a:lvl2pPr>
            <a:lvl3pPr algn="ctr">
              <a:defRPr sz="1350" b="1">
                <a:solidFill>
                  <a:srgbClr val="132238"/>
                </a:solidFill>
              </a:defRPr>
            </a:lvl3pPr>
            <a:lvl4pPr algn="ctr">
              <a:defRPr sz="1350" b="1">
                <a:solidFill>
                  <a:srgbClr val="132238"/>
                </a:solidFill>
              </a:defRPr>
            </a:lvl4pPr>
            <a:lvl5pPr algn="ctr">
              <a:defRPr sz="1350" b="1">
                <a:solidFill>
                  <a:srgbClr val="132238"/>
                </a:solidFill>
              </a:defRPr>
            </a:lvl5pPr>
            <a:lvl6pPr algn="ctr">
              <a:defRPr sz="1350" b="1">
                <a:solidFill>
                  <a:srgbClr val="132238"/>
                </a:solidFill>
              </a:defRPr>
            </a:lvl6pPr>
            <a:lvl7pPr algn="ctr">
              <a:defRPr sz="1350" b="1">
                <a:solidFill>
                  <a:srgbClr val="132238"/>
                </a:solidFill>
              </a:defRPr>
            </a:lvl7pPr>
            <a:lvl8pPr algn="ctr">
              <a:defRPr sz="1350" b="1">
                <a:solidFill>
                  <a:srgbClr val="132238"/>
                </a:solidFill>
              </a:defRPr>
            </a:lvl8pPr>
            <a:lvl9pPr algn="ctr">
              <a:defRPr sz="135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Conv 3 × 3</a:t>
            </a:r>
          </a:p>
          <a:p xmlns:a="http://schemas.openxmlformats.org/drawingml/2006/main"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32 filtres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4E37D-E4E3-45C3-981D-D1FB3C57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955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9050">
            <a:solidFill>
              <a:srgbClr val="238A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32238"/>
                </a:solidFill>
              </a:defRPr>
            </a:defPPr>
            <a:lvl1pPr algn="ctr">
              <a:defRPr sz="1350" b="1">
                <a:solidFill>
                  <a:srgbClr val="132238"/>
                </a:solidFill>
              </a:defRPr>
            </a:lvl1pPr>
            <a:lvl2pPr algn="ctr">
              <a:defRPr sz="1350" b="1">
                <a:solidFill>
                  <a:srgbClr val="132238"/>
                </a:solidFill>
              </a:defRPr>
            </a:lvl2pPr>
            <a:lvl3pPr algn="ctr">
              <a:defRPr sz="1350" b="1">
                <a:solidFill>
                  <a:srgbClr val="132238"/>
                </a:solidFill>
              </a:defRPr>
            </a:lvl3pPr>
            <a:lvl4pPr algn="ctr">
              <a:defRPr sz="1350" b="1">
                <a:solidFill>
                  <a:srgbClr val="132238"/>
                </a:solidFill>
              </a:defRPr>
            </a:lvl4pPr>
            <a:lvl5pPr algn="ctr">
              <a:defRPr sz="1350" b="1">
                <a:solidFill>
                  <a:srgbClr val="132238"/>
                </a:solidFill>
              </a:defRPr>
            </a:lvl5pPr>
            <a:lvl6pPr algn="ctr">
              <a:defRPr sz="1350" b="1">
                <a:solidFill>
                  <a:srgbClr val="132238"/>
                </a:solidFill>
              </a:defRPr>
            </a:lvl6pPr>
            <a:lvl7pPr algn="ctr">
              <a:defRPr sz="1350" b="1">
                <a:solidFill>
                  <a:srgbClr val="132238"/>
                </a:solidFill>
              </a:defRPr>
            </a:lvl7pPr>
            <a:lvl8pPr algn="ctr">
              <a:defRPr sz="1350" b="1">
                <a:solidFill>
                  <a:srgbClr val="132238"/>
                </a:solidFill>
              </a:defRPr>
            </a:lvl8pPr>
            <a:lvl9pPr algn="ctr">
              <a:defRPr sz="135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MaxPool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74673-D9D3-400D-AB9C-EE3541E1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138112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9050">
            <a:solidFill>
              <a:srgbClr val="238A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32238"/>
                </a:solidFill>
              </a:defRPr>
            </a:defPPr>
            <a:lvl1pPr algn="ctr">
              <a:defRPr sz="1350" b="1">
                <a:solidFill>
                  <a:srgbClr val="132238"/>
                </a:solidFill>
              </a:defRPr>
            </a:lvl1pPr>
            <a:lvl2pPr algn="ctr">
              <a:defRPr sz="1350" b="1">
                <a:solidFill>
                  <a:srgbClr val="132238"/>
                </a:solidFill>
              </a:defRPr>
            </a:lvl2pPr>
            <a:lvl3pPr algn="ctr">
              <a:defRPr sz="1350" b="1">
                <a:solidFill>
                  <a:srgbClr val="132238"/>
                </a:solidFill>
              </a:defRPr>
            </a:lvl3pPr>
            <a:lvl4pPr algn="ctr">
              <a:defRPr sz="1350" b="1">
                <a:solidFill>
                  <a:srgbClr val="132238"/>
                </a:solidFill>
              </a:defRPr>
            </a:lvl4pPr>
            <a:lvl5pPr algn="ctr">
              <a:defRPr sz="1350" b="1">
                <a:solidFill>
                  <a:srgbClr val="132238"/>
                </a:solidFill>
              </a:defRPr>
            </a:lvl5pPr>
            <a:lvl6pPr algn="ctr">
              <a:defRPr sz="1350" b="1">
                <a:solidFill>
                  <a:srgbClr val="132238"/>
                </a:solidFill>
              </a:defRPr>
            </a:lvl6pPr>
            <a:lvl7pPr algn="ctr">
              <a:defRPr sz="1350" b="1">
                <a:solidFill>
                  <a:srgbClr val="132238"/>
                </a:solidFill>
              </a:defRPr>
            </a:lvl7pPr>
            <a:lvl8pPr algn="ctr">
              <a:defRPr sz="1350" b="1">
                <a:solidFill>
                  <a:srgbClr val="132238"/>
                </a:solidFill>
              </a:defRPr>
            </a:lvl8pPr>
            <a:lvl9pPr algn="ctr">
              <a:defRPr sz="135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Conv 3 × 3</a:t>
            </a:r>
          </a:p>
          <a:p xmlns:a="http://schemas.openxmlformats.org/drawingml/2006/main"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64 filtres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E82C4-0158-4C53-B3A6-38FC1D8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9050">
            <a:solidFill>
              <a:srgbClr val="238A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32238"/>
                </a:solidFill>
              </a:defRPr>
            </a:defPPr>
            <a:lvl1pPr algn="ctr">
              <a:defRPr sz="1350" b="1">
                <a:solidFill>
                  <a:srgbClr val="132238"/>
                </a:solidFill>
              </a:defRPr>
            </a:lvl1pPr>
            <a:lvl2pPr algn="ctr">
              <a:defRPr sz="1350" b="1">
                <a:solidFill>
                  <a:srgbClr val="132238"/>
                </a:solidFill>
              </a:defRPr>
            </a:lvl2pPr>
            <a:lvl3pPr algn="ctr">
              <a:defRPr sz="1350" b="1">
                <a:solidFill>
                  <a:srgbClr val="132238"/>
                </a:solidFill>
              </a:defRPr>
            </a:lvl3pPr>
            <a:lvl4pPr algn="ctr">
              <a:defRPr sz="1350" b="1">
                <a:solidFill>
                  <a:srgbClr val="132238"/>
                </a:solidFill>
              </a:defRPr>
            </a:lvl4pPr>
            <a:lvl5pPr algn="ctr">
              <a:defRPr sz="1350" b="1">
                <a:solidFill>
                  <a:srgbClr val="132238"/>
                </a:solidFill>
              </a:defRPr>
            </a:lvl5pPr>
            <a:lvl6pPr algn="ctr">
              <a:defRPr sz="1350" b="1">
                <a:solidFill>
                  <a:srgbClr val="132238"/>
                </a:solidFill>
              </a:defRPr>
            </a:lvl6pPr>
            <a:lvl7pPr algn="ctr">
              <a:defRPr sz="1350" b="1">
                <a:solidFill>
                  <a:srgbClr val="132238"/>
                </a:solidFill>
              </a:defRPr>
            </a:lvl7pPr>
            <a:lvl8pPr algn="ctr">
              <a:defRPr sz="1350" b="1">
                <a:solidFill>
                  <a:srgbClr val="132238"/>
                </a:solidFill>
              </a:defRPr>
            </a:lvl8pPr>
            <a:lvl9pPr algn="ctr">
              <a:defRPr sz="135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MaxPool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97577-F245-47FC-A54D-79376C4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671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238A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Flatten 3 136</a:t>
            </a:r>
          </a:p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Dense 128</a:t>
            </a:r>
          </a:p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Dropout 30 %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42897-24E5-4A84-8304-01FB3052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9050">
            <a:solidFill>
              <a:srgbClr val="238A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10 probabilités</a:t>
            </a:r>
          </a:p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Softmax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6E6AE-DF4A-4A99-AC71-1C6AA0EF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238A7A"/>
                </a:solidFill>
              </a:defRPr>
            </a:defPPr>
            <a:lvl1pPr algn="ctr">
              <a:defRPr sz="3450" b="1" i="0">
                <a:solidFill>
                  <a:srgbClr val="238A7A"/>
                </a:solidFill>
              </a:defRPr>
            </a:lvl1pPr>
            <a:lvl2pPr algn="ctr">
              <a:defRPr sz="3450" b="1" i="0">
                <a:solidFill>
                  <a:srgbClr val="238A7A"/>
                </a:solidFill>
              </a:defRPr>
            </a:lvl2pPr>
            <a:lvl3pPr algn="ctr">
              <a:defRPr sz="3450" b="1" i="0">
                <a:solidFill>
                  <a:srgbClr val="238A7A"/>
                </a:solidFill>
              </a:defRPr>
            </a:lvl3pPr>
            <a:lvl4pPr algn="ctr">
              <a:defRPr sz="3450" b="1" i="0">
                <a:solidFill>
                  <a:srgbClr val="238A7A"/>
                </a:solidFill>
              </a:defRPr>
            </a:lvl4pPr>
            <a:lvl5pPr algn="ctr">
              <a:defRPr sz="3450" b="1" i="0">
                <a:solidFill>
                  <a:srgbClr val="238A7A"/>
                </a:solidFill>
              </a:defRPr>
            </a:lvl5pPr>
            <a:lvl6pPr algn="ctr">
              <a:defRPr sz="3450" b="1" i="0">
                <a:solidFill>
                  <a:srgbClr val="238A7A"/>
                </a:solidFill>
              </a:defRPr>
            </a:lvl6pPr>
            <a:lvl7pPr algn="ctr">
              <a:defRPr sz="3450" b="1" i="0">
                <a:solidFill>
                  <a:srgbClr val="238A7A"/>
                </a:solidFill>
              </a:defRPr>
            </a:lvl7pPr>
            <a:lvl8pPr algn="ctr">
              <a:defRPr sz="3450" b="1" i="0">
                <a:solidFill>
                  <a:srgbClr val="238A7A"/>
                </a:solidFill>
              </a:defRPr>
            </a:lvl8pPr>
            <a:lvl9pPr algn="ctr">
              <a:defRPr sz="3450" b="1" i="0">
                <a:solidFill>
                  <a:srgbClr val="238A7A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238A7A"/>
                </a:solidFill>
              </a:defRPr>
            </a:pPr>
            <a:r>
              <a:rPr sz="3450" b="1" i="0">
                <a:solidFill>
                  <a:srgbClr val="238A7A"/>
                </a:solidFill>
              </a:rPr>
              <a:t>421 642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62387B-E962-4CA2-AEFF-AF63EFF6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293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paramètres entraînables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15A8C-127F-4A14-8B80-64E8E526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387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238A7A"/>
                </a:solidFill>
              </a:defRPr>
            </a:defPPr>
            <a:lvl1pPr algn="ctr">
              <a:defRPr sz="3450" b="1" i="0">
                <a:solidFill>
                  <a:srgbClr val="238A7A"/>
                </a:solidFill>
              </a:defRPr>
            </a:lvl1pPr>
            <a:lvl2pPr algn="ctr">
              <a:defRPr sz="3450" b="1" i="0">
                <a:solidFill>
                  <a:srgbClr val="238A7A"/>
                </a:solidFill>
              </a:defRPr>
            </a:lvl2pPr>
            <a:lvl3pPr algn="ctr">
              <a:defRPr sz="3450" b="1" i="0">
                <a:solidFill>
                  <a:srgbClr val="238A7A"/>
                </a:solidFill>
              </a:defRPr>
            </a:lvl3pPr>
            <a:lvl4pPr algn="ctr">
              <a:defRPr sz="3450" b="1" i="0">
                <a:solidFill>
                  <a:srgbClr val="238A7A"/>
                </a:solidFill>
              </a:defRPr>
            </a:lvl4pPr>
            <a:lvl5pPr algn="ctr">
              <a:defRPr sz="3450" b="1" i="0">
                <a:solidFill>
                  <a:srgbClr val="238A7A"/>
                </a:solidFill>
              </a:defRPr>
            </a:lvl5pPr>
            <a:lvl6pPr algn="ctr">
              <a:defRPr sz="3450" b="1" i="0">
                <a:solidFill>
                  <a:srgbClr val="238A7A"/>
                </a:solidFill>
              </a:defRPr>
            </a:lvl6pPr>
            <a:lvl7pPr algn="ctr">
              <a:defRPr sz="3450" b="1" i="0">
                <a:solidFill>
                  <a:srgbClr val="238A7A"/>
                </a:solidFill>
              </a:defRPr>
            </a:lvl7pPr>
            <a:lvl8pPr algn="ctr">
              <a:defRPr sz="3450" b="1" i="0">
                <a:solidFill>
                  <a:srgbClr val="238A7A"/>
                </a:solidFill>
              </a:defRPr>
            </a:lvl8pPr>
            <a:lvl9pPr algn="ctr">
              <a:defRPr sz="3450" b="1" i="0">
                <a:solidFill>
                  <a:srgbClr val="238A7A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238A7A"/>
                </a:solidFill>
              </a:defRPr>
            </a:pPr>
            <a:r>
              <a:rPr sz="3450" b="1" i="0">
                <a:solidFill>
                  <a:srgbClr val="238A7A"/>
                </a:solidFill>
              </a:rPr>
              <a:t>128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5F059-AECD-40BA-BB2C-B120EB8A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293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images par mini-lot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D0FF5-FFA7-42D9-9885-B3DC948D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387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238A7A"/>
                </a:solidFill>
              </a:defRPr>
            </a:defPPr>
            <a:lvl1pPr algn="ctr">
              <a:defRPr sz="3450" b="1" i="0">
                <a:solidFill>
                  <a:srgbClr val="238A7A"/>
                </a:solidFill>
              </a:defRPr>
            </a:lvl1pPr>
            <a:lvl2pPr algn="ctr">
              <a:defRPr sz="3450" b="1" i="0">
                <a:solidFill>
                  <a:srgbClr val="238A7A"/>
                </a:solidFill>
              </a:defRPr>
            </a:lvl2pPr>
            <a:lvl3pPr algn="ctr">
              <a:defRPr sz="3450" b="1" i="0">
                <a:solidFill>
                  <a:srgbClr val="238A7A"/>
                </a:solidFill>
              </a:defRPr>
            </a:lvl3pPr>
            <a:lvl4pPr algn="ctr">
              <a:defRPr sz="3450" b="1" i="0">
                <a:solidFill>
                  <a:srgbClr val="238A7A"/>
                </a:solidFill>
              </a:defRPr>
            </a:lvl4pPr>
            <a:lvl5pPr algn="ctr">
              <a:defRPr sz="3450" b="1" i="0">
                <a:solidFill>
                  <a:srgbClr val="238A7A"/>
                </a:solidFill>
              </a:defRPr>
            </a:lvl5pPr>
            <a:lvl6pPr algn="ctr">
              <a:defRPr sz="3450" b="1" i="0">
                <a:solidFill>
                  <a:srgbClr val="238A7A"/>
                </a:solidFill>
              </a:defRPr>
            </a:lvl6pPr>
            <a:lvl7pPr algn="ctr">
              <a:defRPr sz="3450" b="1" i="0">
                <a:solidFill>
                  <a:srgbClr val="238A7A"/>
                </a:solidFill>
              </a:defRPr>
            </a:lvl7pPr>
            <a:lvl8pPr algn="ctr">
              <a:defRPr sz="3450" b="1" i="0">
                <a:solidFill>
                  <a:srgbClr val="238A7A"/>
                </a:solidFill>
              </a:defRPr>
            </a:lvl8pPr>
            <a:lvl9pPr algn="ctr">
              <a:defRPr sz="3450" b="1" i="0">
                <a:solidFill>
                  <a:srgbClr val="238A7A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238A7A"/>
                </a:solidFill>
              </a:defRPr>
            </a:pPr>
            <a:r>
              <a:rPr sz="3450" b="1" i="0">
                <a:solidFill>
                  <a:srgbClr val="238A7A"/>
                </a:solidFill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B4F48-B539-4469-A068-FA1DCD98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829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classes de vêtements</a:t>
            </a:r>
          </a:p>
        </p:txBody>
      </p:sp>
    </p:spTree>
    <p:extLst>
      <p:ext uri="{BB962C8B-B14F-4D97-AF65-F5344CB8AC3E}">
        <p14:creationId xmlns:p14="http://schemas.microsoft.com/office/powerpoint/2010/main" val="2126325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A1246-951F-4754-818A-96732DC1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132238"/>
                </a:solidFill>
              </a:defRPr>
            </a:defPPr>
            <a:lvl1pPr algn="l">
              <a:defRPr sz="2850" b="1" i="0">
                <a:solidFill>
                  <a:srgbClr val="132238"/>
                </a:solidFill>
              </a:defRPr>
            </a:lvl1pPr>
            <a:lvl2pPr algn="l">
              <a:defRPr sz="2850" b="1" i="0">
                <a:solidFill>
                  <a:srgbClr val="132238"/>
                </a:solidFill>
              </a:defRPr>
            </a:lvl2pPr>
            <a:lvl3pPr algn="l">
              <a:defRPr sz="2850" b="1" i="0">
                <a:solidFill>
                  <a:srgbClr val="132238"/>
                </a:solidFill>
              </a:defRPr>
            </a:lvl3pPr>
            <a:lvl4pPr algn="l">
              <a:defRPr sz="2850" b="1" i="0">
                <a:solidFill>
                  <a:srgbClr val="132238"/>
                </a:solidFill>
              </a:defRPr>
            </a:lvl4pPr>
            <a:lvl5pPr algn="l">
              <a:defRPr sz="2850" b="1" i="0">
                <a:solidFill>
                  <a:srgbClr val="132238"/>
                </a:solidFill>
              </a:defRPr>
            </a:lvl5pPr>
            <a:lvl6pPr algn="l">
              <a:defRPr sz="2850" b="1" i="0">
                <a:solidFill>
                  <a:srgbClr val="132238"/>
                </a:solidFill>
              </a:defRPr>
            </a:lvl6pPr>
            <a:lvl7pPr algn="l">
              <a:defRPr sz="2850" b="1" i="0">
                <a:solidFill>
                  <a:srgbClr val="132238"/>
                </a:solidFill>
              </a:defRPr>
            </a:lvl7pPr>
            <a:lvl8pPr algn="l">
              <a:defRPr sz="2850" b="1" i="0">
                <a:solidFill>
                  <a:srgbClr val="132238"/>
                </a:solidFill>
              </a:defRPr>
            </a:lvl8pPr>
            <a:lvl9pPr algn="l">
              <a:defRPr sz="28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32238"/>
                </a:solidFill>
              </a:defRPr>
            </a:pPr>
            <a:r>
              <a:rPr sz="2850" b="1" i="0">
                <a:solidFill>
                  <a:srgbClr val="132238"/>
                </a:solidFill>
              </a:rPr>
              <a:t>CNN : le meilleur compromis apparaît à l’époque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D39F9-42FC-4B44-AB4F-066988F2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7A"/>
          </a:solidFill>
          <a:ln xmlns:a="http://schemas.openxmlformats.org/drawingml/2006/main" w="0">
            <a:solidFill>
              <a:srgbClr val="238A7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1F625-7B7C-4D56-ABFC-2BC2499B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5E6B78"/>
                </a:solidFill>
              </a:defRPr>
            </a:defPPr>
            <a:lvl1pPr algn="r">
              <a:defRPr sz="1050" b="0" i="0">
                <a:solidFill>
                  <a:srgbClr val="5E6B78"/>
                </a:solidFill>
              </a:defRPr>
            </a:lvl1pPr>
            <a:lvl2pPr algn="r">
              <a:defRPr sz="1050" b="0" i="0">
                <a:solidFill>
                  <a:srgbClr val="5E6B78"/>
                </a:solidFill>
              </a:defRPr>
            </a:lvl2pPr>
            <a:lvl3pPr algn="r">
              <a:defRPr sz="1050" b="0" i="0">
                <a:solidFill>
                  <a:srgbClr val="5E6B78"/>
                </a:solidFill>
              </a:defRPr>
            </a:lvl3pPr>
            <a:lvl4pPr algn="r">
              <a:defRPr sz="1050" b="0" i="0">
                <a:solidFill>
                  <a:srgbClr val="5E6B78"/>
                </a:solidFill>
              </a:defRPr>
            </a:lvl4pPr>
            <a:lvl5pPr algn="r">
              <a:defRPr sz="1050" b="0" i="0">
                <a:solidFill>
                  <a:srgbClr val="5E6B78"/>
                </a:solidFill>
              </a:defRPr>
            </a:lvl5pPr>
            <a:lvl6pPr algn="r">
              <a:defRPr sz="1050" b="0" i="0">
                <a:solidFill>
                  <a:srgbClr val="5E6B78"/>
                </a:solidFill>
              </a:defRPr>
            </a:lvl6pPr>
            <a:lvl7pPr algn="r">
              <a:defRPr sz="1050" b="0" i="0">
                <a:solidFill>
                  <a:srgbClr val="5E6B78"/>
                </a:solidFill>
              </a:defRPr>
            </a:lvl7pPr>
            <a:lvl8pPr algn="r">
              <a:defRPr sz="1050" b="0" i="0">
                <a:solidFill>
                  <a:srgbClr val="5E6B78"/>
                </a:solidFill>
              </a:defRPr>
            </a:lvl8pPr>
            <a:lvl9pPr algn="r">
              <a:defRPr sz="10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5E6B78"/>
                </a:solidFill>
              </a:defRPr>
            </a:pPr>
            <a:r>
              <a:rPr sz="1050" b="0" i="0">
                <a:solidFill>
                  <a:srgbClr val="5E6B7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5DAB0-A0FF-4E7F-BC20-67AA2210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32238"/>
                </a:solidFill>
              </a:defRPr>
            </a:defPPr>
            <a:lvl1pPr algn="l">
              <a:defRPr sz="1650" b="1" i="0">
                <a:solidFill>
                  <a:srgbClr val="132238"/>
                </a:solidFill>
              </a:defRPr>
            </a:lvl1pPr>
            <a:lvl2pPr algn="l">
              <a:defRPr sz="1650" b="1" i="0">
                <a:solidFill>
                  <a:srgbClr val="132238"/>
                </a:solidFill>
              </a:defRPr>
            </a:lvl2pPr>
            <a:lvl3pPr algn="l">
              <a:defRPr sz="1650" b="1" i="0">
                <a:solidFill>
                  <a:srgbClr val="132238"/>
                </a:solidFill>
              </a:defRPr>
            </a:lvl3pPr>
            <a:lvl4pPr algn="l">
              <a:defRPr sz="1650" b="1" i="0">
                <a:solidFill>
                  <a:srgbClr val="132238"/>
                </a:solidFill>
              </a:defRPr>
            </a:lvl4pPr>
            <a:lvl5pPr algn="l">
              <a:defRPr sz="1650" b="1" i="0">
                <a:solidFill>
                  <a:srgbClr val="132238"/>
                </a:solidFill>
              </a:defRPr>
            </a:lvl5pPr>
            <a:lvl6pPr algn="l">
              <a:defRPr sz="1650" b="1" i="0">
                <a:solidFill>
                  <a:srgbClr val="132238"/>
                </a:solidFill>
              </a:defRPr>
            </a:lvl6pPr>
            <a:lvl7pPr algn="l">
              <a:defRPr sz="1650" b="1" i="0">
                <a:solidFill>
                  <a:srgbClr val="132238"/>
                </a:solidFill>
              </a:defRPr>
            </a:lvl7pPr>
            <a:lvl8pPr algn="l">
              <a:defRPr sz="1650" b="1" i="0">
                <a:solidFill>
                  <a:srgbClr val="132238"/>
                </a:solidFill>
              </a:defRPr>
            </a:lvl8pPr>
            <a:lvl9pPr algn="l">
              <a:defRPr sz="16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Entropie croisée × 100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BBDA3CA-E94C-47E9-B5B2-38D18400B2BA}"/>
              </a:ext>
            </a:extLst>
          </p:cNvPr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cb437f5ab5461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6ECE8-7C5B-49BC-81FC-4C8AE744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238A7A"/>
                </a:solidFill>
              </a:defRPr>
            </a:defPPr>
            <a:lvl1pPr algn="ctr">
              <a:defRPr sz="3450" b="1" i="0">
                <a:solidFill>
                  <a:srgbClr val="238A7A"/>
                </a:solidFill>
              </a:defRPr>
            </a:lvl1pPr>
            <a:lvl2pPr algn="ctr">
              <a:defRPr sz="3450" b="1" i="0">
                <a:solidFill>
                  <a:srgbClr val="238A7A"/>
                </a:solidFill>
              </a:defRPr>
            </a:lvl2pPr>
            <a:lvl3pPr algn="ctr">
              <a:defRPr sz="3450" b="1" i="0">
                <a:solidFill>
                  <a:srgbClr val="238A7A"/>
                </a:solidFill>
              </a:defRPr>
            </a:lvl3pPr>
            <a:lvl4pPr algn="ctr">
              <a:defRPr sz="3450" b="1" i="0">
                <a:solidFill>
                  <a:srgbClr val="238A7A"/>
                </a:solidFill>
              </a:defRPr>
            </a:lvl4pPr>
            <a:lvl5pPr algn="ctr">
              <a:defRPr sz="3450" b="1" i="0">
                <a:solidFill>
                  <a:srgbClr val="238A7A"/>
                </a:solidFill>
              </a:defRPr>
            </a:lvl5pPr>
            <a:lvl6pPr algn="ctr">
              <a:defRPr sz="3450" b="1" i="0">
                <a:solidFill>
                  <a:srgbClr val="238A7A"/>
                </a:solidFill>
              </a:defRPr>
            </a:lvl6pPr>
            <a:lvl7pPr algn="ctr">
              <a:defRPr sz="3450" b="1" i="0">
                <a:solidFill>
                  <a:srgbClr val="238A7A"/>
                </a:solidFill>
              </a:defRPr>
            </a:lvl7pPr>
            <a:lvl8pPr algn="ctr">
              <a:defRPr sz="3450" b="1" i="0">
                <a:solidFill>
                  <a:srgbClr val="238A7A"/>
                </a:solidFill>
              </a:defRPr>
            </a:lvl8pPr>
            <a:lvl9pPr algn="ctr">
              <a:defRPr sz="3450" b="1" i="0">
                <a:solidFill>
                  <a:srgbClr val="238A7A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238A7A"/>
                </a:solidFill>
              </a:defRPr>
            </a:pPr>
            <a:r>
              <a:rPr sz="3450" b="1" i="0">
                <a:solidFill>
                  <a:srgbClr val="238A7A"/>
                </a:solidFill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4788F-59A3-40A3-8662-F2BEF839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5742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époque restaurée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6473D-0142-4938-8017-2D71203E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238A7A"/>
                </a:solidFill>
              </a:defRPr>
            </a:defPPr>
            <a:lvl1pPr algn="ctr">
              <a:defRPr sz="3450" b="1" i="0">
                <a:solidFill>
                  <a:srgbClr val="238A7A"/>
                </a:solidFill>
              </a:defRPr>
            </a:lvl1pPr>
            <a:lvl2pPr algn="ctr">
              <a:defRPr sz="3450" b="1" i="0">
                <a:solidFill>
                  <a:srgbClr val="238A7A"/>
                </a:solidFill>
              </a:defRPr>
            </a:lvl2pPr>
            <a:lvl3pPr algn="ctr">
              <a:defRPr sz="3450" b="1" i="0">
                <a:solidFill>
                  <a:srgbClr val="238A7A"/>
                </a:solidFill>
              </a:defRPr>
            </a:lvl3pPr>
            <a:lvl4pPr algn="ctr">
              <a:defRPr sz="3450" b="1" i="0">
                <a:solidFill>
                  <a:srgbClr val="238A7A"/>
                </a:solidFill>
              </a:defRPr>
            </a:lvl4pPr>
            <a:lvl5pPr algn="ctr">
              <a:defRPr sz="3450" b="1" i="0">
                <a:solidFill>
                  <a:srgbClr val="238A7A"/>
                </a:solidFill>
              </a:defRPr>
            </a:lvl5pPr>
            <a:lvl6pPr algn="ctr">
              <a:defRPr sz="3450" b="1" i="0">
                <a:solidFill>
                  <a:srgbClr val="238A7A"/>
                </a:solidFill>
              </a:defRPr>
            </a:lvl6pPr>
            <a:lvl7pPr algn="ctr">
              <a:defRPr sz="3450" b="1" i="0">
                <a:solidFill>
                  <a:srgbClr val="238A7A"/>
                </a:solidFill>
              </a:defRPr>
            </a:lvl7pPr>
            <a:lvl8pPr algn="ctr">
              <a:defRPr sz="3450" b="1" i="0">
                <a:solidFill>
                  <a:srgbClr val="238A7A"/>
                </a:solidFill>
              </a:defRPr>
            </a:lvl8pPr>
            <a:lvl9pPr algn="ctr">
              <a:defRPr sz="3450" b="1" i="0">
                <a:solidFill>
                  <a:srgbClr val="238A7A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238A7A"/>
                </a:solidFill>
              </a:defRPr>
            </a:pPr>
            <a:r>
              <a:rPr sz="3450" b="1" i="0">
                <a:solidFill>
                  <a:srgbClr val="238A7A"/>
                </a:solidFill>
              </a:rPr>
              <a:t>92,57 %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F9C51-EC7E-46DB-8830-D884727C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accuracy de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72DB3-69B7-4BDA-A98A-A6BFA307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3387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0D2035"/>
                </a:solidFill>
              </a:defRPr>
            </a:defPPr>
            <a:lvl1pPr algn="ctr">
              <a:defRPr sz="3450" b="1" i="0">
                <a:solidFill>
                  <a:srgbClr val="0D2035"/>
                </a:solidFill>
              </a:defRPr>
            </a:lvl1pPr>
            <a:lvl2pPr algn="ctr">
              <a:defRPr sz="3450" b="1" i="0">
                <a:solidFill>
                  <a:srgbClr val="0D2035"/>
                </a:solidFill>
              </a:defRPr>
            </a:lvl2pPr>
            <a:lvl3pPr algn="ctr">
              <a:defRPr sz="3450" b="1" i="0">
                <a:solidFill>
                  <a:srgbClr val="0D2035"/>
                </a:solidFill>
              </a:defRPr>
            </a:lvl3pPr>
            <a:lvl4pPr algn="ctr">
              <a:defRPr sz="3450" b="1" i="0">
                <a:solidFill>
                  <a:srgbClr val="0D2035"/>
                </a:solidFill>
              </a:defRPr>
            </a:lvl4pPr>
            <a:lvl5pPr algn="ctr">
              <a:defRPr sz="3450" b="1" i="0">
                <a:solidFill>
                  <a:srgbClr val="0D2035"/>
                </a:solidFill>
              </a:defRPr>
            </a:lvl5pPr>
            <a:lvl6pPr algn="ctr">
              <a:defRPr sz="3450" b="1" i="0">
                <a:solidFill>
                  <a:srgbClr val="0D2035"/>
                </a:solidFill>
              </a:defRPr>
            </a:lvl6pPr>
            <a:lvl7pPr algn="ctr">
              <a:defRPr sz="3450" b="1" i="0">
                <a:solidFill>
                  <a:srgbClr val="0D2035"/>
                </a:solidFill>
              </a:defRPr>
            </a:lvl7pPr>
            <a:lvl8pPr algn="ctr">
              <a:defRPr sz="3450" b="1" i="0">
                <a:solidFill>
                  <a:srgbClr val="0D2035"/>
                </a:solidFill>
              </a:defRPr>
            </a:lvl8pPr>
            <a:lvl9pPr algn="ctr">
              <a:defRPr sz="3450" b="1" i="0">
                <a:solidFill>
                  <a:srgbClr val="0D2035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0D2035"/>
                </a:solidFill>
              </a:defRPr>
            </a:pPr>
            <a:r>
              <a:rPr sz="3450" b="1" i="0">
                <a:solidFill>
                  <a:srgbClr val="0D2035"/>
                </a:solidFill>
              </a:rPr>
              <a:t>91,30 %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8AD5B-BEE6-4FCD-B8CD-16A6B944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2442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accuracy finale sur le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3FBC8-2EAE-4706-88A8-A3DB761A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 i="0">
                <a:solidFill>
                  <a:srgbClr val="132238"/>
                </a:solidFill>
              </a:defRPr>
            </a:defPPr>
            <a:lvl1pPr algn="ctr">
              <a:defRPr sz="1575" b="1" i="0">
                <a:solidFill>
                  <a:srgbClr val="132238"/>
                </a:solidFill>
              </a:defRPr>
            </a:lvl1pPr>
            <a:lvl2pPr algn="ctr">
              <a:defRPr sz="1575" b="1" i="0">
                <a:solidFill>
                  <a:srgbClr val="132238"/>
                </a:solidFill>
              </a:defRPr>
            </a:lvl2pPr>
            <a:lvl3pPr algn="ctr">
              <a:defRPr sz="1575" b="1" i="0">
                <a:solidFill>
                  <a:srgbClr val="132238"/>
                </a:solidFill>
              </a:defRPr>
            </a:lvl3pPr>
            <a:lvl4pPr algn="ctr">
              <a:defRPr sz="1575" b="1" i="0">
                <a:solidFill>
                  <a:srgbClr val="132238"/>
                </a:solidFill>
              </a:defRPr>
            </a:lvl4pPr>
            <a:lvl5pPr algn="ctr">
              <a:defRPr sz="1575" b="1" i="0">
                <a:solidFill>
                  <a:srgbClr val="132238"/>
                </a:solidFill>
              </a:defRPr>
            </a:lvl5pPr>
            <a:lvl6pPr algn="ctr">
              <a:defRPr sz="1575" b="1" i="0">
                <a:solidFill>
                  <a:srgbClr val="132238"/>
                </a:solidFill>
              </a:defRPr>
            </a:lvl6pPr>
            <a:lvl7pPr algn="ctr">
              <a:defRPr sz="1575" b="1" i="0">
                <a:solidFill>
                  <a:srgbClr val="132238"/>
                </a:solidFill>
              </a:defRPr>
            </a:lvl7pPr>
            <a:lvl8pPr algn="ctr">
              <a:defRPr sz="1575" b="1" i="0">
                <a:solidFill>
                  <a:srgbClr val="132238"/>
                </a:solidFill>
              </a:defRPr>
            </a:lvl8pPr>
            <a:lvl9pPr algn="ctr">
              <a:defRPr sz="1575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132238"/>
                </a:solidFill>
              </a:defRPr>
            </a:pPr>
            <a:r>
              <a:rPr sz="1575" b="1" i="0">
                <a:solidFill>
                  <a:srgbClr val="132238"/>
                </a:solidFill>
              </a:rPr>
              <a:t>Après l’époque 9, la perte d’entraînement baisse encore tandis que la perte de validation remonte. Le surapprentissage commence.</a:t>
            </a:r>
          </a:p>
        </p:txBody>
      </p:sp>
    </p:spTree>
    <p:extLst>
      <p:ext uri="{BB962C8B-B14F-4D97-AF65-F5344CB8AC3E}">
        <p14:creationId xmlns:p14="http://schemas.microsoft.com/office/powerpoint/2010/main" val="1125328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6D061-3B2A-4786-AF28-F7007FC2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 i="0">
                <a:solidFill>
                  <a:srgbClr val="132238"/>
                </a:solidFill>
              </a:defRPr>
            </a:defPPr>
            <a:lvl1pPr algn="l">
              <a:defRPr sz="2400" b="1" i="0">
                <a:solidFill>
                  <a:srgbClr val="132238"/>
                </a:solidFill>
              </a:defRPr>
            </a:lvl1pPr>
            <a:lvl2pPr algn="l">
              <a:defRPr sz="2400" b="1" i="0">
                <a:solidFill>
                  <a:srgbClr val="132238"/>
                </a:solidFill>
              </a:defRPr>
            </a:lvl2pPr>
            <a:lvl3pPr algn="l">
              <a:defRPr sz="2400" b="1" i="0">
                <a:solidFill>
                  <a:srgbClr val="132238"/>
                </a:solidFill>
              </a:defRPr>
            </a:lvl3pPr>
            <a:lvl4pPr algn="l">
              <a:defRPr sz="2400" b="1" i="0">
                <a:solidFill>
                  <a:srgbClr val="132238"/>
                </a:solidFill>
              </a:defRPr>
            </a:lvl4pPr>
            <a:lvl5pPr algn="l">
              <a:defRPr sz="2400" b="1" i="0">
                <a:solidFill>
                  <a:srgbClr val="132238"/>
                </a:solidFill>
              </a:defRPr>
            </a:lvl5pPr>
            <a:lvl6pPr algn="l">
              <a:defRPr sz="2400" b="1" i="0">
                <a:solidFill>
                  <a:srgbClr val="132238"/>
                </a:solidFill>
              </a:defRPr>
            </a:lvl6pPr>
            <a:lvl7pPr algn="l">
              <a:defRPr sz="2400" b="1" i="0">
                <a:solidFill>
                  <a:srgbClr val="132238"/>
                </a:solidFill>
              </a:defRPr>
            </a:lvl7pPr>
            <a:lvl8pPr algn="l">
              <a:defRPr sz="2400" b="1" i="0">
                <a:solidFill>
                  <a:srgbClr val="132238"/>
                </a:solidFill>
              </a:defRPr>
            </a:lvl8pPr>
            <a:lvl9pPr algn="l">
              <a:defRPr sz="240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32238"/>
                </a:solidFill>
              </a:defRPr>
            </a:pPr>
            <a:r>
              <a:rPr sz="2400" b="1" i="0">
                <a:solidFill>
                  <a:srgbClr val="132238"/>
                </a:solidFill>
              </a:rPr>
              <a:t>CNN : la classe Chemise reste la plus difficile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061E9-9739-49A0-BC08-B3BD8A20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7A"/>
          </a:solidFill>
          <a:ln xmlns:a="http://schemas.openxmlformats.org/drawingml/2006/main" w="0">
            <a:solidFill>
              <a:srgbClr val="238A7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217BB-3A33-437B-BCD7-15CD5602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5E6B78"/>
                </a:solidFill>
              </a:defRPr>
            </a:defPPr>
            <a:lvl1pPr algn="r">
              <a:defRPr sz="1050" b="0" i="0">
                <a:solidFill>
                  <a:srgbClr val="5E6B78"/>
                </a:solidFill>
              </a:defRPr>
            </a:lvl1pPr>
            <a:lvl2pPr algn="r">
              <a:defRPr sz="1050" b="0" i="0">
                <a:solidFill>
                  <a:srgbClr val="5E6B78"/>
                </a:solidFill>
              </a:defRPr>
            </a:lvl2pPr>
            <a:lvl3pPr algn="r">
              <a:defRPr sz="1050" b="0" i="0">
                <a:solidFill>
                  <a:srgbClr val="5E6B78"/>
                </a:solidFill>
              </a:defRPr>
            </a:lvl3pPr>
            <a:lvl4pPr algn="r">
              <a:defRPr sz="1050" b="0" i="0">
                <a:solidFill>
                  <a:srgbClr val="5E6B78"/>
                </a:solidFill>
              </a:defRPr>
            </a:lvl4pPr>
            <a:lvl5pPr algn="r">
              <a:defRPr sz="1050" b="0" i="0">
                <a:solidFill>
                  <a:srgbClr val="5E6B78"/>
                </a:solidFill>
              </a:defRPr>
            </a:lvl5pPr>
            <a:lvl6pPr algn="r">
              <a:defRPr sz="1050" b="0" i="0">
                <a:solidFill>
                  <a:srgbClr val="5E6B78"/>
                </a:solidFill>
              </a:defRPr>
            </a:lvl6pPr>
            <a:lvl7pPr algn="r">
              <a:defRPr sz="1050" b="0" i="0">
                <a:solidFill>
                  <a:srgbClr val="5E6B78"/>
                </a:solidFill>
              </a:defRPr>
            </a:lvl7pPr>
            <a:lvl8pPr algn="r">
              <a:defRPr sz="1050" b="0" i="0">
                <a:solidFill>
                  <a:srgbClr val="5E6B78"/>
                </a:solidFill>
              </a:defRPr>
            </a:lvl8pPr>
            <a:lvl9pPr algn="r">
              <a:defRPr sz="10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5E6B78"/>
                </a:solidFill>
              </a:defRPr>
            </a:pPr>
            <a:r>
              <a:rPr sz="1050" b="0" i="0">
                <a:solidFill>
                  <a:srgbClr val="5E6B7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F47B6-3D9E-4961-8FEB-CCCE873D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32238"/>
                </a:solidFill>
              </a:defRPr>
            </a:defPPr>
            <a:lvl1pPr algn="l">
              <a:defRPr sz="1650" b="1" i="0">
                <a:solidFill>
                  <a:srgbClr val="132238"/>
                </a:solidFill>
              </a:defRPr>
            </a:lvl1pPr>
            <a:lvl2pPr algn="l">
              <a:defRPr sz="1650" b="1" i="0">
                <a:solidFill>
                  <a:srgbClr val="132238"/>
                </a:solidFill>
              </a:defRPr>
            </a:lvl2pPr>
            <a:lvl3pPr algn="l">
              <a:defRPr sz="1650" b="1" i="0">
                <a:solidFill>
                  <a:srgbClr val="132238"/>
                </a:solidFill>
              </a:defRPr>
            </a:lvl3pPr>
            <a:lvl4pPr algn="l">
              <a:defRPr sz="1650" b="1" i="0">
                <a:solidFill>
                  <a:srgbClr val="132238"/>
                </a:solidFill>
              </a:defRPr>
            </a:lvl4pPr>
            <a:lvl5pPr algn="l">
              <a:defRPr sz="1650" b="1" i="0">
                <a:solidFill>
                  <a:srgbClr val="132238"/>
                </a:solidFill>
              </a:defRPr>
            </a:lvl5pPr>
            <a:lvl6pPr algn="l">
              <a:defRPr sz="1650" b="1" i="0">
                <a:solidFill>
                  <a:srgbClr val="132238"/>
                </a:solidFill>
              </a:defRPr>
            </a:lvl6pPr>
            <a:lvl7pPr algn="l">
              <a:defRPr sz="1650" b="1" i="0">
                <a:solidFill>
                  <a:srgbClr val="132238"/>
                </a:solidFill>
              </a:defRPr>
            </a:lvl7pPr>
            <a:lvl8pPr algn="l">
              <a:defRPr sz="1650" b="1" i="0">
                <a:solidFill>
                  <a:srgbClr val="132238"/>
                </a:solidFill>
              </a:defRPr>
            </a:lvl8pPr>
            <a:lvl9pPr algn="l">
              <a:defRPr sz="16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F1-score par classe (%)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EC88AC6-7452-4409-B1FF-E2C16843A560}"/>
              </a:ext>
            </a:extLst>
          </p:cNvPr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5ff9c627da4fe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E662C-9751-48DB-A98B-DC46B04C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B94A48"/>
                </a:solidFill>
              </a:defRPr>
            </a:defPPr>
            <a:lvl1pPr algn="ctr">
              <a:defRPr sz="3450" b="1" i="0">
                <a:solidFill>
                  <a:srgbClr val="B94A48"/>
                </a:solidFill>
              </a:defRPr>
            </a:lvl1pPr>
            <a:lvl2pPr algn="ctr">
              <a:defRPr sz="3450" b="1" i="0">
                <a:solidFill>
                  <a:srgbClr val="B94A48"/>
                </a:solidFill>
              </a:defRPr>
            </a:lvl2pPr>
            <a:lvl3pPr algn="ctr">
              <a:defRPr sz="3450" b="1" i="0">
                <a:solidFill>
                  <a:srgbClr val="B94A48"/>
                </a:solidFill>
              </a:defRPr>
            </a:lvl3pPr>
            <a:lvl4pPr algn="ctr">
              <a:defRPr sz="3450" b="1" i="0">
                <a:solidFill>
                  <a:srgbClr val="B94A48"/>
                </a:solidFill>
              </a:defRPr>
            </a:lvl4pPr>
            <a:lvl5pPr algn="ctr">
              <a:defRPr sz="3450" b="1" i="0">
                <a:solidFill>
                  <a:srgbClr val="B94A48"/>
                </a:solidFill>
              </a:defRPr>
            </a:lvl5pPr>
            <a:lvl6pPr algn="ctr">
              <a:defRPr sz="3450" b="1" i="0">
                <a:solidFill>
                  <a:srgbClr val="B94A48"/>
                </a:solidFill>
              </a:defRPr>
            </a:lvl6pPr>
            <a:lvl7pPr algn="ctr">
              <a:defRPr sz="3450" b="1" i="0">
                <a:solidFill>
                  <a:srgbClr val="B94A48"/>
                </a:solidFill>
              </a:defRPr>
            </a:lvl7pPr>
            <a:lvl8pPr algn="ctr">
              <a:defRPr sz="3450" b="1" i="0">
                <a:solidFill>
                  <a:srgbClr val="B94A48"/>
                </a:solidFill>
              </a:defRPr>
            </a:lvl8pPr>
            <a:lvl9pPr algn="ctr">
              <a:defRPr sz="3450" b="1" i="0">
                <a:solidFill>
                  <a:srgbClr val="B94A48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B94A48"/>
                </a:solidFill>
              </a:defRPr>
            </a:pPr>
            <a:r>
              <a:rPr sz="3450" b="1" i="0">
                <a:solidFill>
                  <a:srgbClr val="B94A48"/>
                </a:solidFill>
              </a:rPr>
              <a:t>870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FB97C-57B6-44C3-8107-2FE57EDC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erreurs sur 10 000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F3D49-443B-40D8-866E-9B23E34E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B94A48"/>
                </a:solidFill>
              </a:defRPr>
            </a:defPPr>
            <a:lvl1pPr algn="ctr">
              <a:defRPr sz="3450" b="1" i="0">
                <a:solidFill>
                  <a:srgbClr val="B94A48"/>
                </a:solidFill>
              </a:defRPr>
            </a:lvl1pPr>
            <a:lvl2pPr algn="ctr">
              <a:defRPr sz="3450" b="1" i="0">
                <a:solidFill>
                  <a:srgbClr val="B94A48"/>
                </a:solidFill>
              </a:defRPr>
            </a:lvl2pPr>
            <a:lvl3pPr algn="ctr">
              <a:defRPr sz="3450" b="1" i="0">
                <a:solidFill>
                  <a:srgbClr val="B94A48"/>
                </a:solidFill>
              </a:defRPr>
            </a:lvl3pPr>
            <a:lvl4pPr algn="ctr">
              <a:defRPr sz="3450" b="1" i="0">
                <a:solidFill>
                  <a:srgbClr val="B94A48"/>
                </a:solidFill>
              </a:defRPr>
            </a:lvl4pPr>
            <a:lvl5pPr algn="ctr">
              <a:defRPr sz="3450" b="1" i="0">
                <a:solidFill>
                  <a:srgbClr val="B94A48"/>
                </a:solidFill>
              </a:defRPr>
            </a:lvl5pPr>
            <a:lvl6pPr algn="ctr">
              <a:defRPr sz="3450" b="1" i="0">
                <a:solidFill>
                  <a:srgbClr val="B94A48"/>
                </a:solidFill>
              </a:defRPr>
            </a:lvl6pPr>
            <a:lvl7pPr algn="ctr">
              <a:defRPr sz="3450" b="1" i="0">
                <a:solidFill>
                  <a:srgbClr val="B94A48"/>
                </a:solidFill>
              </a:defRPr>
            </a:lvl7pPr>
            <a:lvl8pPr algn="ctr">
              <a:defRPr sz="3450" b="1" i="0">
                <a:solidFill>
                  <a:srgbClr val="B94A48"/>
                </a:solidFill>
              </a:defRPr>
            </a:lvl8pPr>
            <a:lvl9pPr algn="ctr">
              <a:defRPr sz="3450" b="1" i="0">
                <a:solidFill>
                  <a:srgbClr val="B94A48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B94A48"/>
                </a:solidFill>
              </a:defRPr>
            </a:pPr>
            <a:r>
              <a:rPr sz="3450" b="1" i="0">
                <a:solidFill>
                  <a:srgbClr val="B94A48"/>
                </a:solidFill>
              </a:rPr>
              <a:t>0,729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E25BE-7038-463E-9C83-6B429A44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F1 de la classe Chemise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C4776-E30C-4D5E-9AAB-C61678BA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238A7A"/>
                </a:solidFill>
              </a:defRPr>
            </a:defPPr>
            <a:lvl1pPr algn="ctr">
              <a:defRPr sz="1500" b="1" i="0">
                <a:solidFill>
                  <a:srgbClr val="238A7A"/>
                </a:solidFill>
              </a:defRPr>
            </a:lvl1pPr>
            <a:lvl2pPr algn="ctr">
              <a:defRPr sz="1500" b="1" i="0">
                <a:solidFill>
                  <a:srgbClr val="238A7A"/>
                </a:solidFill>
              </a:defRPr>
            </a:lvl2pPr>
            <a:lvl3pPr algn="ctr">
              <a:defRPr sz="1500" b="1" i="0">
                <a:solidFill>
                  <a:srgbClr val="238A7A"/>
                </a:solidFill>
              </a:defRPr>
            </a:lvl3pPr>
            <a:lvl4pPr algn="ctr">
              <a:defRPr sz="1500" b="1" i="0">
                <a:solidFill>
                  <a:srgbClr val="238A7A"/>
                </a:solidFill>
              </a:defRPr>
            </a:lvl4pPr>
            <a:lvl5pPr algn="ctr">
              <a:defRPr sz="1500" b="1" i="0">
                <a:solidFill>
                  <a:srgbClr val="238A7A"/>
                </a:solidFill>
              </a:defRPr>
            </a:lvl5pPr>
            <a:lvl6pPr algn="ctr">
              <a:defRPr sz="1500" b="1" i="0">
                <a:solidFill>
                  <a:srgbClr val="238A7A"/>
                </a:solidFill>
              </a:defRPr>
            </a:lvl6pPr>
            <a:lvl7pPr algn="ctr">
              <a:defRPr sz="1500" b="1" i="0">
                <a:solidFill>
                  <a:srgbClr val="238A7A"/>
                </a:solidFill>
              </a:defRPr>
            </a:lvl7pPr>
            <a:lvl8pPr algn="ctr">
              <a:defRPr sz="1500" b="1" i="0">
                <a:solidFill>
                  <a:srgbClr val="238A7A"/>
                </a:solidFill>
              </a:defRPr>
            </a:lvl8pPr>
            <a:lvl9pPr algn="ctr">
              <a:defRPr sz="1500" b="1" i="0">
                <a:solidFill>
                  <a:srgbClr val="238A7A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238A7A"/>
                </a:solidFill>
              </a:defRPr>
            </a:pPr>
            <a:r>
              <a:rPr sz="1500" b="1" i="0">
                <a:solidFill>
                  <a:srgbClr val="238A7A"/>
                </a:solidFill>
              </a:rPr>
              <a:t>Confusion principale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A7B1B-90FF-4BC1-8228-C05C28D2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05375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 i="0">
                <a:solidFill>
                  <a:srgbClr val="132238"/>
                </a:solidFill>
              </a:defRPr>
            </a:defPPr>
            <a:lvl1pPr algn="ctr">
              <a:defRPr sz="1800" b="1" i="0">
                <a:solidFill>
                  <a:srgbClr val="132238"/>
                </a:solidFill>
              </a:defRPr>
            </a:lvl1pPr>
            <a:lvl2pPr algn="ctr">
              <a:defRPr sz="1800" b="1" i="0">
                <a:solidFill>
                  <a:srgbClr val="132238"/>
                </a:solidFill>
              </a:defRPr>
            </a:lvl2pPr>
            <a:lvl3pPr algn="ctr">
              <a:defRPr sz="1800" b="1" i="0">
                <a:solidFill>
                  <a:srgbClr val="132238"/>
                </a:solidFill>
              </a:defRPr>
            </a:lvl3pPr>
            <a:lvl4pPr algn="ctr">
              <a:defRPr sz="1800" b="1" i="0">
                <a:solidFill>
                  <a:srgbClr val="132238"/>
                </a:solidFill>
              </a:defRPr>
            </a:lvl4pPr>
            <a:lvl5pPr algn="ctr">
              <a:defRPr sz="1800" b="1" i="0">
                <a:solidFill>
                  <a:srgbClr val="132238"/>
                </a:solidFill>
              </a:defRPr>
            </a:lvl5pPr>
            <a:lvl6pPr algn="ctr">
              <a:defRPr sz="1800" b="1" i="0">
                <a:solidFill>
                  <a:srgbClr val="132238"/>
                </a:solidFill>
              </a:defRPr>
            </a:lvl6pPr>
            <a:lvl7pPr algn="ctr">
              <a:defRPr sz="1800" b="1" i="0">
                <a:solidFill>
                  <a:srgbClr val="132238"/>
                </a:solidFill>
              </a:defRPr>
            </a:lvl7pPr>
            <a:lvl8pPr algn="ctr">
              <a:defRPr sz="1800" b="1" i="0">
                <a:solidFill>
                  <a:srgbClr val="132238"/>
                </a:solidFill>
              </a:defRPr>
            </a:lvl8pPr>
            <a:lvl9pPr algn="ctr">
              <a:defRPr sz="180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Chemise classée</a:t>
            </a:r>
          </a:p>
          <a:p xmlns:a="http://schemas.openxmlformats.org/drawingml/2006/main">
            <a:pPr algn="ctr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T-shirt / haut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115 images</a:t>
            </a:r>
          </a:p>
        </p:txBody>
      </p:sp>
    </p:spTree>
    <p:extLst>
      <p:ext uri="{BB962C8B-B14F-4D97-AF65-F5344CB8AC3E}">
        <p14:creationId xmlns:p14="http://schemas.microsoft.com/office/powerpoint/2010/main" val="1663578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B2814-793C-492E-95A5-6AE79C35DB6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524500" y="41052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57B8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6F962-2AD1-4DB4-86C4-2EDA5D66A106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10000" y="41052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57B8"/>
            </a:solidFill>
            <a:prstDash val="soli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F2A3A-3D6A-4950-AF51-C2F080CAB04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095500" y="41052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57B8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2ADEA-5D76-4FBD-976C-D244EA12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132238"/>
                </a:solidFill>
              </a:defRPr>
            </a:defPPr>
            <a:lvl1pPr algn="l">
              <a:defRPr sz="2850" b="1" i="0">
                <a:solidFill>
                  <a:srgbClr val="132238"/>
                </a:solidFill>
              </a:defRPr>
            </a:lvl1pPr>
            <a:lvl2pPr algn="l">
              <a:defRPr sz="2850" b="1" i="0">
                <a:solidFill>
                  <a:srgbClr val="132238"/>
                </a:solidFill>
              </a:defRPr>
            </a:lvl2pPr>
            <a:lvl3pPr algn="l">
              <a:defRPr sz="2850" b="1" i="0">
                <a:solidFill>
                  <a:srgbClr val="132238"/>
                </a:solidFill>
              </a:defRPr>
            </a:lvl3pPr>
            <a:lvl4pPr algn="l">
              <a:defRPr sz="2850" b="1" i="0">
                <a:solidFill>
                  <a:srgbClr val="132238"/>
                </a:solidFill>
              </a:defRPr>
            </a:lvl4pPr>
            <a:lvl5pPr algn="l">
              <a:defRPr sz="2850" b="1" i="0">
                <a:solidFill>
                  <a:srgbClr val="132238"/>
                </a:solidFill>
              </a:defRPr>
            </a:lvl5pPr>
            <a:lvl6pPr algn="l">
              <a:defRPr sz="2850" b="1" i="0">
                <a:solidFill>
                  <a:srgbClr val="132238"/>
                </a:solidFill>
              </a:defRPr>
            </a:lvl6pPr>
            <a:lvl7pPr algn="l">
              <a:defRPr sz="2850" b="1" i="0">
                <a:solidFill>
                  <a:srgbClr val="132238"/>
                </a:solidFill>
              </a:defRPr>
            </a:lvl7pPr>
            <a:lvl8pPr algn="l">
              <a:defRPr sz="2850" b="1" i="0">
                <a:solidFill>
                  <a:srgbClr val="132238"/>
                </a:solidFill>
              </a:defRPr>
            </a:lvl8pPr>
            <a:lvl9pPr algn="l">
              <a:defRPr sz="28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32238"/>
                </a:solidFill>
              </a:defRPr>
            </a:pPr>
            <a:r>
              <a:rPr sz="2850" b="1" i="0">
                <a:solidFill>
                  <a:srgbClr val="132238"/>
                </a:solidFill>
              </a:rPr>
              <a:t>Victor Hugo : le découpage par poème évite la fuite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D0DBE-A2B9-43E0-B589-A1DE26C9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7B8"/>
          </a:solidFill>
          <a:ln xmlns:a="http://schemas.openxmlformats.org/drawingml/2006/main" w="0">
            <a:solidFill>
              <a:srgbClr val="675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22206-5F09-4A94-B09B-5C8E8D6F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5E6B78"/>
                </a:solidFill>
              </a:defRPr>
            </a:defPPr>
            <a:lvl1pPr algn="r">
              <a:defRPr sz="1050" b="0" i="0">
                <a:solidFill>
                  <a:srgbClr val="5E6B78"/>
                </a:solidFill>
              </a:defRPr>
            </a:lvl1pPr>
            <a:lvl2pPr algn="r">
              <a:defRPr sz="1050" b="0" i="0">
                <a:solidFill>
                  <a:srgbClr val="5E6B78"/>
                </a:solidFill>
              </a:defRPr>
            </a:lvl2pPr>
            <a:lvl3pPr algn="r">
              <a:defRPr sz="1050" b="0" i="0">
                <a:solidFill>
                  <a:srgbClr val="5E6B78"/>
                </a:solidFill>
              </a:defRPr>
            </a:lvl3pPr>
            <a:lvl4pPr algn="r">
              <a:defRPr sz="1050" b="0" i="0">
                <a:solidFill>
                  <a:srgbClr val="5E6B78"/>
                </a:solidFill>
              </a:defRPr>
            </a:lvl4pPr>
            <a:lvl5pPr algn="r">
              <a:defRPr sz="1050" b="0" i="0">
                <a:solidFill>
                  <a:srgbClr val="5E6B78"/>
                </a:solidFill>
              </a:defRPr>
            </a:lvl5pPr>
            <a:lvl6pPr algn="r">
              <a:defRPr sz="1050" b="0" i="0">
                <a:solidFill>
                  <a:srgbClr val="5E6B78"/>
                </a:solidFill>
              </a:defRPr>
            </a:lvl6pPr>
            <a:lvl7pPr algn="r">
              <a:defRPr sz="1050" b="0" i="0">
                <a:solidFill>
                  <a:srgbClr val="5E6B78"/>
                </a:solidFill>
              </a:defRPr>
            </a:lvl7pPr>
            <a:lvl8pPr algn="r">
              <a:defRPr sz="1050" b="0" i="0">
                <a:solidFill>
                  <a:srgbClr val="5E6B78"/>
                </a:solidFill>
              </a:defRPr>
            </a:lvl8pPr>
            <a:lvl9pPr algn="r">
              <a:defRPr sz="10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5E6B78"/>
                </a:solidFill>
              </a:defRPr>
            </a:pPr>
            <a:r>
              <a:rPr sz="1050" b="0" i="0">
                <a:solidFill>
                  <a:srgbClr val="5E6B7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07984-938F-4655-90F9-29E3523B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6757B8"/>
                </a:solidFill>
              </a:defRPr>
            </a:defPPr>
            <a:lvl1pPr algn="ctr">
              <a:defRPr sz="3450" b="1" i="0">
                <a:solidFill>
                  <a:srgbClr val="6757B8"/>
                </a:solidFill>
              </a:defRPr>
            </a:lvl1pPr>
            <a:lvl2pPr algn="ctr">
              <a:defRPr sz="3450" b="1" i="0">
                <a:solidFill>
                  <a:srgbClr val="6757B8"/>
                </a:solidFill>
              </a:defRPr>
            </a:lvl2pPr>
            <a:lvl3pPr algn="ctr">
              <a:defRPr sz="3450" b="1" i="0">
                <a:solidFill>
                  <a:srgbClr val="6757B8"/>
                </a:solidFill>
              </a:defRPr>
            </a:lvl3pPr>
            <a:lvl4pPr algn="ctr">
              <a:defRPr sz="3450" b="1" i="0">
                <a:solidFill>
                  <a:srgbClr val="6757B8"/>
                </a:solidFill>
              </a:defRPr>
            </a:lvl4pPr>
            <a:lvl5pPr algn="ctr">
              <a:defRPr sz="3450" b="1" i="0">
                <a:solidFill>
                  <a:srgbClr val="6757B8"/>
                </a:solidFill>
              </a:defRPr>
            </a:lvl5pPr>
            <a:lvl6pPr algn="ctr">
              <a:defRPr sz="3450" b="1" i="0">
                <a:solidFill>
                  <a:srgbClr val="6757B8"/>
                </a:solidFill>
              </a:defRPr>
            </a:lvl6pPr>
            <a:lvl7pPr algn="ctr">
              <a:defRPr sz="3450" b="1" i="0">
                <a:solidFill>
                  <a:srgbClr val="6757B8"/>
                </a:solidFill>
              </a:defRPr>
            </a:lvl7pPr>
            <a:lvl8pPr algn="ctr">
              <a:defRPr sz="3450" b="1" i="0">
                <a:solidFill>
                  <a:srgbClr val="6757B8"/>
                </a:solidFill>
              </a:defRPr>
            </a:lvl8pPr>
            <a:lvl9pPr algn="ctr">
              <a:defRPr sz="3450" b="1" i="0">
                <a:solidFill>
                  <a:srgbClr val="6757B8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6757B8"/>
                </a:solidFill>
              </a:defRPr>
            </a:pPr>
            <a:r>
              <a:rPr sz="3450" b="1" i="0">
                <a:solidFill>
                  <a:srgbClr val="6757B8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B50A4-6CEB-4971-A176-B30B08F7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poèmes reconstruits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5D3CA-BB86-43EA-BA53-DE44A1D0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811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6757B8"/>
                </a:solidFill>
              </a:defRPr>
            </a:defPPr>
            <a:lvl1pPr algn="ctr">
              <a:defRPr sz="3450" b="1" i="0">
                <a:solidFill>
                  <a:srgbClr val="6757B8"/>
                </a:solidFill>
              </a:defRPr>
            </a:lvl1pPr>
            <a:lvl2pPr algn="ctr">
              <a:defRPr sz="3450" b="1" i="0">
                <a:solidFill>
                  <a:srgbClr val="6757B8"/>
                </a:solidFill>
              </a:defRPr>
            </a:lvl2pPr>
            <a:lvl3pPr algn="ctr">
              <a:defRPr sz="3450" b="1" i="0">
                <a:solidFill>
                  <a:srgbClr val="6757B8"/>
                </a:solidFill>
              </a:defRPr>
            </a:lvl3pPr>
            <a:lvl4pPr algn="ctr">
              <a:defRPr sz="3450" b="1" i="0">
                <a:solidFill>
                  <a:srgbClr val="6757B8"/>
                </a:solidFill>
              </a:defRPr>
            </a:lvl4pPr>
            <a:lvl5pPr algn="ctr">
              <a:defRPr sz="3450" b="1" i="0">
                <a:solidFill>
                  <a:srgbClr val="6757B8"/>
                </a:solidFill>
              </a:defRPr>
            </a:lvl5pPr>
            <a:lvl6pPr algn="ctr">
              <a:defRPr sz="3450" b="1" i="0">
                <a:solidFill>
                  <a:srgbClr val="6757B8"/>
                </a:solidFill>
              </a:defRPr>
            </a:lvl6pPr>
            <a:lvl7pPr algn="ctr">
              <a:defRPr sz="3450" b="1" i="0">
                <a:solidFill>
                  <a:srgbClr val="6757B8"/>
                </a:solidFill>
              </a:defRPr>
            </a:lvl7pPr>
            <a:lvl8pPr algn="ctr">
              <a:defRPr sz="3450" b="1" i="0">
                <a:solidFill>
                  <a:srgbClr val="6757B8"/>
                </a:solidFill>
              </a:defRPr>
            </a:lvl8pPr>
            <a:lvl9pPr algn="ctr">
              <a:defRPr sz="3450" b="1" i="0">
                <a:solidFill>
                  <a:srgbClr val="6757B8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6757B8"/>
                </a:solidFill>
              </a:defRPr>
            </a:pPr>
            <a:r>
              <a:rPr sz="3450" b="1" i="0">
                <a:solidFill>
                  <a:srgbClr val="6757B8"/>
                </a:solidFill>
              </a:rPr>
              <a:t>34 / 7 /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599CE-1474-4B20-B555-AE20BC38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71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poèmes train, validation et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56D7C-206E-4555-BE56-0B72190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6757B8"/>
                </a:solidFill>
              </a:defRPr>
            </a:defPPr>
            <a:lvl1pPr algn="ctr">
              <a:defRPr sz="3450" b="1" i="0">
                <a:solidFill>
                  <a:srgbClr val="6757B8"/>
                </a:solidFill>
              </a:defRPr>
            </a:lvl1pPr>
            <a:lvl2pPr algn="ctr">
              <a:defRPr sz="3450" b="1" i="0">
                <a:solidFill>
                  <a:srgbClr val="6757B8"/>
                </a:solidFill>
              </a:defRPr>
            </a:lvl2pPr>
            <a:lvl3pPr algn="ctr">
              <a:defRPr sz="3450" b="1" i="0">
                <a:solidFill>
                  <a:srgbClr val="6757B8"/>
                </a:solidFill>
              </a:defRPr>
            </a:lvl3pPr>
            <a:lvl4pPr algn="ctr">
              <a:defRPr sz="3450" b="1" i="0">
                <a:solidFill>
                  <a:srgbClr val="6757B8"/>
                </a:solidFill>
              </a:defRPr>
            </a:lvl4pPr>
            <a:lvl5pPr algn="ctr">
              <a:defRPr sz="3450" b="1" i="0">
                <a:solidFill>
                  <a:srgbClr val="6757B8"/>
                </a:solidFill>
              </a:defRPr>
            </a:lvl5pPr>
            <a:lvl6pPr algn="ctr">
              <a:defRPr sz="3450" b="1" i="0">
                <a:solidFill>
                  <a:srgbClr val="6757B8"/>
                </a:solidFill>
              </a:defRPr>
            </a:lvl6pPr>
            <a:lvl7pPr algn="ctr">
              <a:defRPr sz="3450" b="1" i="0">
                <a:solidFill>
                  <a:srgbClr val="6757B8"/>
                </a:solidFill>
              </a:defRPr>
            </a:lvl7pPr>
            <a:lvl8pPr algn="ctr">
              <a:defRPr sz="3450" b="1" i="0">
                <a:solidFill>
                  <a:srgbClr val="6757B8"/>
                </a:solidFill>
              </a:defRPr>
            </a:lvl8pPr>
            <a:lvl9pPr algn="ctr">
              <a:defRPr sz="3450" b="1" i="0">
                <a:solidFill>
                  <a:srgbClr val="6757B8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6757B8"/>
                </a:solidFill>
              </a:defRPr>
            </a:pPr>
            <a:r>
              <a:rPr sz="3450" b="1" i="0">
                <a:solidFill>
                  <a:srgbClr val="6757B8"/>
                </a:solidFill>
              </a:rPr>
              <a:t>3 203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19CA1-B6E9-48D7-8139-113A3AF9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716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éléments dans le vocabulaire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F4A92-3E39-48F5-B437-23E8F7E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B94A48"/>
                </a:solidFill>
              </a:defRPr>
            </a:defPPr>
            <a:lvl1pPr algn="ctr">
              <a:defRPr sz="3450" b="1" i="0">
                <a:solidFill>
                  <a:srgbClr val="B94A48"/>
                </a:solidFill>
              </a:defRPr>
            </a:lvl1pPr>
            <a:lvl2pPr algn="ctr">
              <a:defRPr sz="3450" b="1" i="0">
                <a:solidFill>
                  <a:srgbClr val="B94A48"/>
                </a:solidFill>
              </a:defRPr>
            </a:lvl2pPr>
            <a:lvl3pPr algn="ctr">
              <a:defRPr sz="3450" b="1" i="0">
                <a:solidFill>
                  <a:srgbClr val="B94A48"/>
                </a:solidFill>
              </a:defRPr>
            </a:lvl3pPr>
            <a:lvl4pPr algn="ctr">
              <a:defRPr sz="3450" b="1" i="0">
                <a:solidFill>
                  <a:srgbClr val="B94A48"/>
                </a:solidFill>
              </a:defRPr>
            </a:lvl4pPr>
            <a:lvl5pPr algn="ctr">
              <a:defRPr sz="3450" b="1" i="0">
                <a:solidFill>
                  <a:srgbClr val="B94A48"/>
                </a:solidFill>
              </a:defRPr>
            </a:lvl5pPr>
            <a:lvl6pPr algn="ctr">
              <a:defRPr sz="3450" b="1" i="0">
                <a:solidFill>
                  <a:srgbClr val="B94A48"/>
                </a:solidFill>
              </a:defRPr>
            </a:lvl6pPr>
            <a:lvl7pPr algn="ctr">
              <a:defRPr sz="3450" b="1" i="0">
                <a:solidFill>
                  <a:srgbClr val="B94A48"/>
                </a:solidFill>
              </a:defRPr>
            </a:lvl7pPr>
            <a:lvl8pPr algn="ctr">
              <a:defRPr sz="3450" b="1" i="0">
                <a:solidFill>
                  <a:srgbClr val="B94A48"/>
                </a:solidFill>
              </a:defRPr>
            </a:lvl8pPr>
            <a:lvl9pPr algn="ctr">
              <a:defRPr sz="3450" b="1" i="0">
                <a:solidFill>
                  <a:srgbClr val="B94A48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B94A48"/>
                </a:solidFill>
              </a:defRPr>
            </a:pPr>
            <a:r>
              <a:rPr sz="3450" b="1" i="0">
                <a:solidFill>
                  <a:srgbClr val="B94A48"/>
                </a:solidFill>
              </a:rPr>
              <a:t>19,3 %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AB089-A460-4DED-9FA5-547C44F0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716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mots hors vocabulaire en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F3C8F-71C4-4862-AAFE-521CDC13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6757B8"/>
                </a:solidFill>
              </a:defRPr>
            </a:defPPr>
            <a:lvl1pPr algn="l">
              <a:defRPr sz="1800" b="1" i="0">
                <a:solidFill>
                  <a:srgbClr val="6757B8"/>
                </a:solidFill>
              </a:defRPr>
            </a:lvl1pPr>
            <a:lvl2pPr algn="l">
              <a:defRPr sz="1800" b="1" i="0">
                <a:solidFill>
                  <a:srgbClr val="6757B8"/>
                </a:solidFill>
              </a:defRPr>
            </a:lvl2pPr>
            <a:lvl3pPr algn="l">
              <a:defRPr sz="1800" b="1" i="0">
                <a:solidFill>
                  <a:srgbClr val="6757B8"/>
                </a:solidFill>
              </a:defRPr>
            </a:lvl3pPr>
            <a:lvl4pPr algn="l">
              <a:defRPr sz="1800" b="1" i="0">
                <a:solidFill>
                  <a:srgbClr val="6757B8"/>
                </a:solidFill>
              </a:defRPr>
            </a:lvl4pPr>
            <a:lvl5pPr algn="l">
              <a:defRPr sz="1800" b="1" i="0">
                <a:solidFill>
                  <a:srgbClr val="6757B8"/>
                </a:solidFill>
              </a:defRPr>
            </a:lvl5pPr>
            <a:lvl6pPr algn="l">
              <a:defRPr sz="1800" b="1" i="0">
                <a:solidFill>
                  <a:srgbClr val="6757B8"/>
                </a:solidFill>
              </a:defRPr>
            </a:lvl6pPr>
            <a:lvl7pPr algn="l">
              <a:defRPr sz="1800" b="1" i="0">
                <a:solidFill>
                  <a:srgbClr val="6757B8"/>
                </a:solidFill>
              </a:defRPr>
            </a:lvl7pPr>
            <a:lvl8pPr algn="l">
              <a:defRPr sz="1800" b="1" i="0">
                <a:solidFill>
                  <a:srgbClr val="6757B8"/>
                </a:solidFill>
              </a:defRPr>
            </a:lvl8pPr>
            <a:lvl9pPr algn="l">
              <a:defRPr sz="1800" b="1" i="0">
                <a:solidFill>
                  <a:srgbClr val="6757B8"/>
                </a:solidFill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6757B8"/>
                </a:solidFill>
              </a:defRPr>
            </a:pPr>
            <a:r>
              <a:rPr sz="1800" b="1" i="0">
                <a:solidFill>
                  <a:srgbClr val="6757B8"/>
                </a:solidFill>
              </a:rPr>
              <a:t>Fenêtre de prédiction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81717-0DE0-40E7-B955-AEB77F75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67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mot t−2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DF53E-96D6-4836-A3F4-A778EBF4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6237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67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mot t−1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FD913-A667-432E-903D-551E5054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67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mot 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EF959-359B-4FB6-83AF-C51F9765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EBFA"/>
          </a:solidFill>
          <a:ln xmlns:a="http://schemas.openxmlformats.org/drawingml/2006/main" w="19050">
            <a:solidFill>
              <a:srgbClr val="67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32238"/>
                </a:solidFill>
              </a:defRPr>
            </a:defPPr>
            <a:lvl1pPr algn="ctr">
              <a:defRPr sz="1650" b="1">
                <a:solidFill>
                  <a:srgbClr val="132238"/>
                </a:solidFill>
              </a:defRPr>
            </a:lvl1pPr>
            <a:lvl2pPr algn="ctr">
              <a:defRPr sz="1650" b="1">
                <a:solidFill>
                  <a:srgbClr val="132238"/>
                </a:solidFill>
              </a:defRPr>
            </a:lvl2pPr>
            <a:lvl3pPr algn="ctr">
              <a:defRPr sz="1650" b="1">
                <a:solidFill>
                  <a:srgbClr val="132238"/>
                </a:solidFill>
              </a:defRPr>
            </a:lvl3pPr>
            <a:lvl4pPr algn="ctr">
              <a:defRPr sz="1650" b="1">
                <a:solidFill>
                  <a:srgbClr val="132238"/>
                </a:solidFill>
              </a:defRPr>
            </a:lvl4pPr>
            <a:lvl5pPr algn="ctr">
              <a:defRPr sz="1650" b="1">
                <a:solidFill>
                  <a:srgbClr val="132238"/>
                </a:solidFill>
              </a:defRPr>
            </a:lvl5pPr>
            <a:lvl6pPr algn="ctr">
              <a:defRPr sz="1650" b="1">
                <a:solidFill>
                  <a:srgbClr val="132238"/>
                </a:solidFill>
              </a:defRPr>
            </a:lvl6pPr>
            <a:lvl7pPr algn="ctr">
              <a:defRPr sz="1650" b="1">
                <a:solidFill>
                  <a:srgbClr val="132238"/>
                </a:solidFill>
              </a:defRPr>
            </a:lvl7pPr>
            <a:lvl8pPr algn="ctr">
              <a:defRPr sz="1650" b="1">
                <a:solidFill>
                  <a:srgbClr val="132238"/>
                </a:solidFill>
              </a:defRPr>
            </a:lvl8pPr>
            <a:lvl9pPr algn="ctr">
              <a:defRPr sz="165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mot suivant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EB7F7-16C3-4F90-AB99-CB893F0A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132238"/>
                </a:solidFill>
              </a:defRPr>
            </a:defPPr>
            <a:lvl1pPr algn="l">
              <a:defRPr sz="1575" b="1" i="0">
                <a:solidFill>
                  <a:srgbClr val="132238"/>
                </a:solidFill>
              </a:defRPr>
            </a:lvl1pPr>
            <a:lvl2pPr algn="l">
              <a:defRPr sz="1575" b="1" i="0">
                <a:solidFill>
                  <a:srgbClr val="132238"/>
                </a:solidFill>
              </a:defRPr>
            </a:lvl2pPr>
            <a:lvl3pPr algn="l">
              <a:defRPr sz="1575" b="1" i="0">
                <a:solidFill>
                  <a:srgbClr val="132238"/>
                </a:solidFill>
              </a:defRPr>
            </a:lvl3pPr>
            <a:lvl4pPr algn="l">
              <a:defRPr sz="1575" b="1" i="0">
                <a:solidFill>
                  <a:srgbClr val="132238"/>
                </a:solidFill>
              </a:defRPr>
            </a:lvl4pPr>
            <a:lvl5pPr algn="l">
              <a:defRPr sz="1575" b="1" i="0">
                <a:solidFill>
                  <a:srgbClr val="132238"/>
                </a:solidFill>
              </a:defRPr>
            </a:lvl5pPr>
            <a:lvl6pPr algn="l">
              <a:defRPr sz="1575" b="1" i="0">
                <a:solidFill>
                  <a:srgbClr val="132238"/>
                </a:solidFill>
              </a:defRPr>
            </a:lvl6pPr>
            <a:lvl7pPr algn="l">
              <a:defRPr sz="1575" b="1" i="0">
                <a:solidFill>
                  <a:srgbClr val="132238"/>
                </a:solidFill>
              </a:defRPr>
            </a:lvl7pPr>
            <a:lvl8pPr algn="l">
              <a:defRPr sz="1575" b="1" i="0">
                <a:solidFill>
                  <a:srgbClr val="132238"/>
                </a:solidFill>
              </a:defRPr>
            </a:lvl8pPr>
            <a:lvl9pPr algn="l">
              <a:defRPr sz="1575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32238"/>
                </a:solidFill>
              </a:defRPr>
            </a:pPr>
            <a:r>
              <a:rPr sz="1575" b="1" i="0">
                <a:solidFill>
                  <a:srgbClr val="132238"/>
                </a:solidFill>
              </a:rPr>
              <a:t>Chaque poème est vectorisé séparément. Une fenêtre ne traverse jamais la frontière entre deux poèmes.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2B436-D709-4AA3-925F-8F686E39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 i="0">
                <a:solidFill>
                  <a:srgbClr val="132238"/>
                </a:solidFill>
              </a:defRPr>
            </a:defPPr>
            <a:lvl1pPr algn="ctr">
              <a:defRPr sz="1575" b="0" i="0">
                <a:solidFill>
                  <a:srgbClr val="132238"/>
                </a:solidFill>
              </a:defRPr>
            </a:lvl1pPr>
            <a:lvl2pPr algn="ctr">
              <a:defRPr sz="1575" b="0" i="0">
                <a:solidFill>
                  <a:srgbClr val="132238"/>
                </a:solidFill>
              </a:defRPr>
            </a:lvl2pPr>
            <a:lvl3pPr algn="ctr">
              <a:defRPr sz="1575" b="0" i="0">
                <a:solidFill>
                  <a:srgbClr val="132238"/>
                </a:solidFill>
              </a:defRPr>
            </a:lvl3pPr>
            <a:lvl4pPr algn="ctr">
              <a:defRPr sz="1575" b="0" i="0">
                <a:solidFill>
                  <a:srgbClr val="132238"/>
                </a:solidFill>
              </a:defRPr>
            </a:lvl4pPr>
            <a:lvl5pPr algn="ctr">
              <a:defRPr sz="1575" b="0" i="0">
                <a:solidFill>
                  <a:srgbClr val="132238"/>
                </a:solidFill>
              </a:defRPr>
            </a:lvl5pPr>
            <a:lvl6pPr algn="ctr">
              <a:defRPr sz="1575" b="0" i="0">
                <a:solidFill>
                  <a:srgbClr val="132238"/>
                </a:solidFill>
              </a:defRPr>
            </a:lvl6pPr>
            <a:lvl7pPr algn="ctr">
              <a:defRPr sz="1575" b="0" i="0">
                <a:solidFill>
                  <a:srgbClr val="132238"/>
                </a:solidFill>
              </a:defRPr>
            </a:lvl7pPr>
            <a:lvl8pPr algn="ctr">
              <a:defRPr sz="1575" b="0" i="0">
                <a:solidFill>
                  <a:srgbClr val="132238"/>
                </a:solidFill>
              </a:defRPr>
            </a:lvl8pPr>
            <a:lvl9pPr algn="ctr">
              <a:defRPr sz="1575" b="0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11 242 fenêtres d’entraînement</a:t>
            </a:r>
          </a:p>
          <a:p xmlns:a="http://schemas.openxmlformats.org/drawingml/2006/main">
            <a:pPr algn="ctr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2 529 fenêtres de validation</a:t>
            </a:r>
          </a:p>
          <a:p xmlns:a="http://schemas.openxmlformats.org/drawingml/2006/main">
            <a:pPr algn="ctr">
              <a:defRPr sz="1575" b="0" i="0">
                <a:solidFill>
                  <a:srgbClr val="132238"/>
                </a:solidFill>
              </a:defRPr>
            </a:pPr>
            <a:r>
              <a:rPr sz="1575" b="0" i="0">
                <a:solidFill>
                  <a:srgbClr val="132238"/>
                </a:solidFill>
              </a:rPr>
              <a:t>Test encore scellé à ce stade</a:t>
            </a:r>
          </a:p>
        </p:txBody>
      </p:sp>
    </p:spTree>
    <p:extLst>
      <p:ext uri="{BB962C8B-B14F-4D97-AF65-F5344CB8AC3E}">
        <p14:creationId xmlns:p14="http://schemas.microsoft.com/office/powerpoint/2010/main" val="1464205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B5C43-D57A-44DA-9768-498693D9E3A1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429750" y="38100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57B8"/>
            </a:solidFill>
            <a:prstDash val="soli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F1A09-FE12-41F3-8738-12900C2EB6F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429750" y="27146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57B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B701C-5076-4C53-A644-0DAEEC12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132238"/>
                </a:solidFill>
              </a:defRPr>
            </a:defPPr>
            <a:lvl1pPr algn="l">
              <a:defRPr sz="2850" b="1" i="0">
                <a:solidFill>
                  <a:srgbClr val="132238"/>
                </a:solidFill>
              </a:defRPr>
            </a:lvl1pPr>
            <a:lvl2pPr algn="l">
              <a:defRPr sz="2850" b="1" i="0">
                <a:solidFill>
                  <a:srgbClr val="132238"/>
                </a:solidFill>
              </a:defRPr>
            </a:lvl2pPr>
            <a:lvl3pPr algn="l">
              <a:defRPr sz="2850" b="1" i="0">
                <a:solidFill>
                  <a:srgbClr val="132238"/>
                </a:solidFill>
              </a:defRPr>
            </a:lvl3pPr>
            <a:lvl4pPr algn="l">
              <a:defRPr sz="2850" b="1" i="0">
                <a:solidFill>
                  <a:srgbClr val="132238"/>
                </a:solidFill>
              </a:defRPr>
            </a:lvl4pPr>
            <a:lvl5pPr algn="l">
              <a:defRPr sz="2850" b="1" i="0">
                <a:solidFill>
                  <a:srgbClr val="132238"/>
                </a:solidFill>
              </a:defRPr>
            </a:lvl5pPr>
            <a:lvl6pPr algn="l">
              <a:defRPr sz="2850" b="1" i="0">
                <a:solidFill>
                  <a:srgbClr val="132238"/>
                </a:solidFill>
              </a:defRPr>
            </a:lvl6pPr>
            <a:lvl7pPr algn="l">
              <a:defRPr sz="2850" b="1" i="0">
                <a:solidFill>
                  <a:srgbClr val="132238"/>
                </a:solidFill>
              </a:defRPr>
            </a:lvl7pPr>
            <a:lvl8pPr algn="l">
              <a:defRPr sz="2850" b="1" i="0">
                <a:solidFill>
                  <a:srgbClr val="132238"/>
                </a:solidFill>
              </a:defRPr>
            </a:lvl8pPr>
            <a:lvl9pPr algn="l">
              <a:defRPr sz="28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32238"/>
                </a:solidFill>
              </a:defRPr>
            </a:pPr>
            <a:r>
              <a:rPr sz="2850" b="1" i="0">
                <a:solidFill>
                  <a:srgbClr val="132238"/>
                </a:solidFill>
              </a:rPr>
              <a:t>SimpleRNN : le modèle reste derrière les baselines de fréquence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E262A-2E3E-4F29-BC99-3386B900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7B8"/>
          </a:solidFill>
          <a:ln xmlns:a="http://schemas.openxmlformats.org/drawingml/2006/main" w="0">
            <a:solidFill>
              <a:srgbClr val="675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87FFD-772E-401E-94AB-CBA5F1FB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5E6B78"/>
                </a:solidFill>
              </a:defRPr>
            </a:defPPr>
            <a:lvl1pPr algn="r">
              <a:defRPr sz="1050" b="0" i="0">
                <a:solidFill>
                  <a:srgbClr val="5E6B78"/>
                </a:solidFill>
              </a:defRPr>
            </a:lvl1pPr>
            <a:lvl2pPr algn="r">
              <a:defRPr sz="1050" b="0" i="0">
                <a:solidFill>
                  <a:srgbClr val="5E6B78"/>
                </a:solidFill>
              </a:defRPr>
            </a:lvl2pPr>
            <a:lvl3pPr algn="r">
              <a:defRPr sz="1050" b="0" i="0">
                <a:solidFill>
                  <a:srgbClr val="5E6B78"/>
                </a:solidFill>
              </a:defRPr>
            </a:lvl3pPr>
            <a:lvl4pPr algn="r">
              <a:defRPr sz="1050" b="0" i="0">
                <a:solidFill>
                  <a:srgbClr val="5E6B78"/>
                </a:solidFill>
              </a:defRPr>
            </a:lvl4pPr>
            <a:lvl5pPr algn="r">
              <a:defRPr sz="1050" b="0" i="0">
                <a:solidFill>
                  <a:srgbClr val="5E6B78"/>
                </a:solidFill>
              </a:defRPr>
            </a:lvl5pPr>
            <a:lvl6pPr algn="r">
              <a:defRPr sz="1050" b="0" i="0">
                <a:solidFill>
                  <a:srgbClr val="5E6B78"/>
                </a:solidFill>
              </a:defRPr>
            </a:lvl6pPr>
            <a:lvl7pPr algn="r">
              <a:defRPr sz="1050" b="0" i="0">
                <a:solidFill>
                  <a:srgbClr val="5E6B78"/>
                </a:solidFill>
              </a:defRPr>
            </a:lvl7pPr>
            <a:lvl8pPr algn="r">
              <a:defRPr sz="1050" b="0" i="0">
                <a:solidFill>
                  <a:srgbClr val="5E6B78"/>
                </a:solidFill>
              </a:defRPr>
            </a:lvl8pPr>
            <a:lvl9pPr algn="r">
              <a:defRPr sz="10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5E6B78"/>
                </a:solidFill>
              </a:defRPr>
            </a:pPr>
            <a:r>
              <a:rPr sz="1050" b="0" i="0">
                <a:solidFill>
                  <a:srgbClr val="5E6B7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B0FBD-FB48-469F-AC81-C715DD5C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32238"/>
                </a:solidFill>
              </a:defRPr>
            </a:defPPr>
            <a:lvl1pPr algn="l">
              <a:defRPr sz="1650" b="1" i="0">
                <a:solidFill>
                  <a:srgbClr val="132238"/>
                </a:solidFill>
              </a:defRPr>
            </a:lvl1pPr>
            <a:lvl2pPr algn="l">
              <a:defRPr sz="1650" b="1" i="0">
                <a:solidFill>
                  <a:srgbClr val="132238"/>
                </a:solidFill>
              </a:defRPr>
            </a:lvl2pPr>
            <a:lvl3pPr algn="l">
              <a:defRPr sz="1650" b="1" i="0">
                <a:solidFill>
                  <a:srgbClr val="132238"/>
                </a:solidFill>
              </a:defRPr>
            </a:lvl3pPr>
            <a:lvl4pPr algn="l">
              <a:defRPr sz="1650" b="1" i="0">
                <a:solidFill>
                  <a:srgbClr val="132238"/>
                </a:solidFill>
              </a:defRPr>
            </a:lvl4pPr>
            <a:lvl5pPr algn="l">
              <a:defRPr sz="1650" b="1" i="0">
                <a:solidFill>
                  <a:srgbClr val="132238"/>
                </a:solidFill>
              </a:defRPr>
            </a:lvl5pPr>
            <a:lvl6pPr algn="l">
              <a:defRPr sz="1650" b="1" i="0">
                <a:solidFill>
                  <a:srgbClr val="132238"/>
                </a:solidFill>
              </a:defRPr>
            </a:lvl6pPr>
            <a:lvl7pPr algn="l">
              <a:defRPr sz="1650" b="1" i="0">
                <a:solidFill>
                  <a:srgbClr val="132238"/>
                </a:solidFill>
              </a:defRPr>
            </a:lvl7pPr>
            <a:lvl8pPr algn="l">
              <a:defRPr sz="1650" b="1" i="0">
                <a:solidFill>
                  <a:srgbClr val="132238"/>
                </a:solidFill>
              </a:defRPr>
            </a:lvl8pPr>
            <a:lvl9pPr algn="l">
              <a:defRPr sz="16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Résultats sur les 1 795 cibles connues du test (%)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C360ADD-2AD2-4E05-9150-ABD113F82949}"/>
              </a:ext>
            </a:extLst>
          </p:cNvPr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685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0708d642d34c6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44FD7-990A-4237-91AC-4ADD1FCD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 i="0">
                <a:solidFill>
                  <a:srgbClr val="6757B8"/>
                </a:solidFill>
              </a:defRPr>
            </a:defPPr>
            <a:lvl1pPr algn="ctr">
              <a:defRPr sz="1650" b="1" i="0">
                <a:solidFill>
                  <a:srgbClr val="6757B8"/>
                </a:solidFill>
              </a:defRPr>
            </a:lvl1pPr>
            <a:lvl2pPr algn="ctr">
              <a:defRPr sz="1650" b="1" i="0">
                <a:solidFill>
                  <a:srgbClr val="6757B8"/>
                </a:solidFill>
              </a:defRPr>
            </a:lvl2pPr>
            <a:lvl3pPr algn="ctr">
              <a:defRPr sz="1650" b="1" i="0">
                <a:solidFill>
                  <a:srgbClr val="6757B8"/>
                </a:solidFill>
              </a:defRPr>
            </a:lvl3pPr>
            <a:lvl4pPr algn="ctr">
              <a:defRPr sz="1650" b="1" i="0">
                <a:solidFill>
                  <a:srgbClr val="6757B8"/>
                </a:solidFill>
              </a:defRPr>
            </a:lvl4pPr>
            <a:lvl5pPr algn="ctr">
              <a:defRPr sz="1650" b="1" i="0">
                <a:solidFill>
                  <a:srgbClr val="6757B8"/>
                </a:solidFill>
              </a:defRPr>
            </a:lvl5pPr>
            <a:lvl6pPr algn="ctr">
              <a:defRPr sz="1650" b="1" i="0">
                <a:solidFill>
                  <a:srgbClr val="6757B8"/>
                </a:solidFill>
              </a:defRPr>
            </a:lvl6pPr>
            <a:lvl7pPr algn="ctr">
              <a:defRPr sz="1650" b="1" i="0">
                <a:solidFill>
                  <a:srgbClr val="6757B8"/>
                </a:solidFill>
              </a:defRPr>
            </a:lvl7pPr>
            <a:lvl8pPr algn="ctr">
              <a:defRPr sz="1650" b="1" i="0">
                <a:solidFill>
                  <a:srgbClr val="6757B8"/>
                </a:solidFill>
              </a:defRPr>
            </a:lvl8pPr>
            <a:lvl9pPr algn="ctr">
              <a:defRPr sz="1650" b="1" i="0">
                <a:solidFill>
                  <a:srgbClr val="6757B8"/>
                </a:solidFill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6757B8"/>
                </a:solidFill>
              </a:defRPr>
            </a:pPr>
            <a:r>
              <a:rPr sz="1650" b="1" i="0">
                <a:solidFill>
                  <a:srgbClr val="6757B8"/>
                </a:solidFill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0535A-DF8C-48FE-9D89-1BD1FBF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2952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EBFA"/>
          </a:solidFill>
          <a:ln xmlns:a="http://schemas.openxmlformats.org/drawingml/2006/main" w="19050">
            <a:solidFill>
              <a:srgbClr val="67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Embedding</a:t>
            </a:r>
          </a:p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64 dimensions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EA574-AA20-4D75-8E60-989DC8BB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2952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67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SimpleRNN</a:t>
            </a:r>
          </a:p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64 unités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1D0B6-BD90-4561-81F1-D05C7C0E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43375"/>
            <a:ext cx="2952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EBFA"/>
          </a:solidFill>
          <a:ln xmlns:a="http://schemas.openxmlformats.org/drawingml/2006/main" w="19050">
            <a:solidFill>
              <a:srgbClr val="6757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32238"/>
                </a:solidFill>
              </a:defRPr>
            </a:defPPr>
            <a:lvl1pPr algn="ctr">
              <a:defRPr sz="1500" b="1">
                <a:solidFill>
                  <a:srgbClr val="132238"/>
                </a:solidFill>
              </a:defRPr>
            </a:lvl1pPr>
            <a:lvl2pPr algn="ctr">
              <a:defRPr sz="1500" b="1">
                <a:solidFill>
                  <a:srgbClr val="132238"/>
                </a:solidFill>
              </a:defRPr>
            </a:lvl2pPr>
            <a:lvl3pPr algn="ctr">
              <a:defRPr sz="1500" b="1">
                <a:solidFill>
                  <a:srgbClr val="132238"/>
                </a:solidFill>
              </a:defRPr>
            </a:lvl3pPr>
            <a:lvl4pPr algn="ctr">
              <a:defRPr sz="1500" b="1">
                <a:solidFill>
                  <a:srgbClr val="132238"/>
                </a:solidFill>
              </a:defRPr>
            </a:lvl4pPr>
            <a:lvl5pPr algn="ctr">
              <a:defRPr sz="1500" b="1">
                <a:solidFill>
                  <a:srgbClr val="132238"/>
                </a:solidFill>
              </a:defRPr>
            </a:lvl5pPr>
            <a:lvl6pPr algn="ctr">
              <a:defRPr sz="1500" b="1">
                <a:solidFill>
                  <a:srgbClr val="132238"/>
                </a:solidFill>
              </a:defRPr>
            </a:lvl6pPr>
            <a:lvl7pPr algn="ctr">
              <a:defRPr sz="1500" b="1">
                <a:solidFill>
                  <a:srgbClr val="132238"/>
                </a:solidFill>
              </a:defRPr>
            </a:lvl7pPr>
            <a:lvl8pPr algn="ctr">
              <a:defRPr sz="1500" b="1">
                <a:solidFill>
                  <a:srgbClr val="132238"/>
                </a:solidFill>
              </a:defRPr>
            </a:lvl8pPr>
            <a:lvl9pPr algn="ctr">
              <a:defRPr sz="1500" b="1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Dense</a:t>
            </a:r>
          </a:p>
          <a:p xmlns:a="http://schemas.openxmlformats.org/drawingml/2006/main">
            <a:pPr algn="ctr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3 203 logits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7442A-4595-409F-96BB-ECB1C14B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2925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132238"/>
                </a:solidFill>
              </a:defRPr>
            </a:defPPr>
            <a:lvl1pPr algn="ctr">
              <a:defRPr sz="1500" b="1" i="0">
                <a:solidFill>
                  <a:srgbClr val="132238"/>
                </a:solidFill>
              </a:defRPr>
            </a:lvl1pPr>
            <a:lvl2pPr algn="ctr">
              <a:defRPr sz="1500" b="1" i="0">
                <a:solidFill>
                  <a:srgbClr val="132238"/>
                </a:solidFill>
              </a:defRPr>
            </a:lvl2pPr>
            <a:lvl3pPr algn="ctr">
              <a:defRPr sz="1500" b="1" i="0">
                <a:solidFill>
                  <a:srgbClr val="132238"/>
                </a:solidFill>
              </a:defRPr>
            </a:lvl3pPr>
            <a:lvl4pPr algn="ctr">
              <a:defRPr sz="1500" b="1" i="0">
                <a:solidFill>
                  <a:srgbClr val="132238"/>
                </a:solidFill>
              </a:defRPr>
            </a:lvl4pPr>
            <a:lvl5pPr algn="ctr">
              <a:defRPr sz="1500" b="1" i="0">
                <a:solidFill>
                  <a:srgbClr val="132238"/>
                </a:solidFill>
              </a:defRPr>
            </a:lvl5pPr>
            <a:lvl6pPr algn="ctr">
              <a:defRPr sz="1500" b="1" i="0">
                <a:solidFill>
                  <a:srgbClr val="132238"/>
                </a:solidFill>
              </a:defRPr>
            </a:lvl6pPr>
            <a:lvl7pPr algn="ctr">
              <a:defRPr sz="1500" b="1" i="0">
                <a:solidFill>
                  <a:srgbClr val="132238"/>
                </a:solidFill>
              </a:defRPr>
            </a:lvl7pPr>
            <a:lvl8pPr algn="ctr">
              <a:defRPr sz="1500" b="1" i="0">
                <a:solidFill>
                  <a:srgbClr val="132238"/>
                </a:solidFill>
              </a:defRPr>
            </a:lvl8pPr>
            <a:lvl9pPr algn="ctr">
              <a:defRPr sz="150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132238"/>
                </a:solidFill>
              </a:defRPr>
            </a:pPr>
            <a:r>
              <a:rPr sz="1500" b="1" i="0">
                <a:solidFill>
                  <a:srgbClr val="132238"/>
                </a:solidFill>
              </a:rPr>
              <a:t>65 identifiants prédits pour 597 classes connues présentes. Le réseau privilégie quelques mots fréquents et échoue sur les mots rares.</a:t>
            </a:r>
          </a:p>
        </p:txBody>
      </p:sp>
    </p:spTree>
    <p:extLst>
      <p:ext uri="{BB962C8B-B14F-4D97-AF65-F5344CB8AC3E}">
        <p14:creationId xmlns:p14="http://schemas.microsoft.com/office/powerpoint/2010/main" val="1808776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B804F-E45F-456F-877E-04503D2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132238"/>
                </a:solidFill>
              </a:defRPr>
            </a:defPPr>
            <a:lvl1pPr algn="l">
              <a:defRPr sz="2850" b="1" i="0">
                <a:solidFill>
                  <a:srgbClr val="132238"/>
                </a:solidFill>
              </a:defRPr>
            </a:lvl1pPr>
            <a:lvl2pPr algn="l">
              <a:defRPr sz="2850" b="1" i="0">
                <a:solidFill>
                  <a:srgbClr val="132238"/>
                </a:solidFill>
              </a:defRPr>
            </a:lvl2pPr>
            <a:lvl3pPr algn="l">
              <a:defRPr sz="2850" b="1" i="0">
                <a:solidFill>
                  <a:srgbClr val="132238"/>
                </a:solidFill>
              </a:defRPr>
            </a:lvl3pPr>
            <a:lvl4pPr algn="l">
              <a:defRPr sz="2850" b="1" i="0">
                <a:solidFill>
                  <a:srgbClr val="132238"/>
                </a:solidFill>
              </a:defRPr>
            </a:lvl4pPr>
            <a:lvl5pPr algn="l">
              <a:defRPr sz="2850" b="1" i="0">
                <a:solidFill>
                  <a:srgbClr val="132238"/>
                </a:solidFill>
              </a:defRPr>
            </a:lvl5pPr>
            <a:lvl6pPr algn="l">
              <a:defRPr sz="2850" b="1" i="0">
                <a:solidFill>
                  <a:srgbClr val="132238"/>
                </a:solidFill>
              </a:defRPr>
            </a:lvl6pPr>
            <a:lvl7pPr algn="l">
              <a:defRPr sz="2850" b="1" i="0">
                <a:solidFill>
                  <a:srgbClr val="132238"/>
                </a:solidFill>
              </a:defRPr>
            </a:lvl7pPr>
            <a:lvl8pPr algn="l">
              <a:defRPr sz="2850" b="1" i="0">
                <a:solidFill>
                  <a:srgbClr val="132238"/>
                </a:solidFill>
              </a:defRPr>
            </a:lvl8pPr>
            <a:lvl9pPr algn="l">
              <a:defRPr sz="28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32238"/>
                </a:solidFill>
              </a:defRPr>
            </a:pPr>
            <a:r>
              <a:rPr sz="2850" b="1" i="0">
                <a:solidFill>
                  <a:srgbClr val="132238"/>
                </a:solidFill>
              </a:rPr>
              <a:t>LSTM : un gain de validation, sans amélioration de la perte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1F00B-B6E3-471A-B702-F2B8B0BB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7B8"/>
          </a:solidFill>
          <a:ln xmlns:a="http://schemas.openxmlformats.org/drawingml/2006/main" w="0">
            <a:solidFill>
              <a:srgbClr val="675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CB2B5-AFC1-4685-B8FD-FB9B6A8A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5E6B78"/>
                </a:solidFill>
              </a:defRPr>
            </a:defPPr>
            <a:lvl1pPr algn="r">
              <a:defRPr sz="1050" b="0" i="0">
                <a:solidFill>
                  <a:srgbClr val="5E6B78"/>
                </a:solidFill>
              </a:defRPr>
            </a:lvl1pPr>
            <a:lvl2pPr algn="r">
              <a:defRPr sz="1050" b="0" i="0">
                <a:solidFill>
                  <a:srgbClr val="5E6B78"/>
                </a:solidFill>
              </a:defRPr>
            </a:lvl2pPr>
            <a:lvl3pPr algn="r">
              <a:defRPr sz="1050" b="0" i="0">
                <a:solidFill>
                  <a:srgbClr val="5E6B78"/>
                </a:solidFill>
              </a:defRPr>
            </a:lvl3pPr>
            <a:lvl4pPr algn="r">
              <a:defRPr sz="1050" b="0" i="0">
                <a:solidFill>
                  <a:srgbClr val="5E6B78"/>
                </a:solidFill>
              </a:defRPr>
            </a:lvl4pPr>
            <a:lvl5pPr algn="r">
              <a:defRPr sz="1050" b="0" i="0">
                <a:solidFill>
                  <a:srgbClr val="5E6B78"/>
                </a:solidFill>
              </a:defRPr>
            </a:lvl5pPr>
            <a:lvl6pPr algn="r">
              <a:defRPr sz="1050" b="0" i="0">
                <a:solidFill>
                  <a:srgbClr val="5E6B78"/>
                </a:solidFill>
              </a:defRPr>
            </a:lvl6pPr>
            <a:lvl7pPr algn="r">
              <a:defRPr sz="1050" b="0" i="0">
                <a:solidFill>
                  <a:srgbClr val="5E6B78"/>
                </a:solidFill>
              </a:defRPr>
            </a:lvl7pPr>
            <a:lvl8pPr algn="r">
              <a:defRPr sz="1050" b="0" i="0">
                <a:solidFill>
                  <a:srgbClr val="5E6B78"/>
                </a:solidFill>
              </a:defRPr>
            </a:lvl8pPr>
            <a:lvl9pPr algn="r">
              <a:defRPr sz="10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5E6B78"/>
                </a:solidFill>
              </a:defRPr>
            </a:pPr>
            <a:r>
              <a:rPr sz="1050" b="0" i="0">
                <a:solidFill>
                  <a:srgbClr val="5E6B7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65E22-9132-43D5-ABB9-70F6D228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6757B8"/>
                </a:solidFill>
              </a:defRPr>
            </a:defPPr>
            <a:lvl1pPr algn="l">
              <a:defRPr sz="1650" b="1" i="0">
                <a:solidFill>
                  <a:srgbClr val="6757B8"/>
                </a:solidFill>
              </a:defRPr>
            </a:lvl1pPr>
            <a:lvl2pPr algn="l">
              <a:defRPr sz="1650" b="1" i="0">
                <a:solidFill>
                  <a:srgbClr val="6757B8"/>
                </a:solidFill>
              </a:defRPr>
            </a:lvl2pPr>
            <a:lvl3pPr algn="l">
              <a:defRPr sz="1650" b="1" i="0">
                <a:solidFill>
                  <a:srgbClr val="6757B8"/>
                </a:solidFill>
              </a:defRPr>
            </a:lvl3pPr>
            <a:lvl4pPr algn="l">
              <a:defRPr sz="1650" b="1" i="0">
                <a:solidFill>
                  <a:srgbClr val="6757B8"/>
                </a:solidFill>
              </a:defRPr>
            </a:lvl4pPr>
            <a:lvl5pPr algn="l">
              <a:defRPr sz="1650" b="1" i="0">
                <a:solidFill>
                  <a:srgbClr val="6757B8"/>
                </a:solidFill>
              </a:defRPr>
            </a:lvl5pPr>
            <a:lvl6pPr algn="l">
              <a:defRPr sz="1650" b="1" i="0">
                <a:solidFill>
                  <a:srgbClr val="6757B8"/>
                </a:solidFill>
              </a:defRPr>
            </a:lvl6pPr>
            <a:lvl7pPr algn="l">
              <a:defRPr sz="1650" b="1" i="0">
                <a:solidFill>
                  <a:srgbClr val="6757B8"/>
                </a:solidFill>
              </a:defRPr>
            </a:lvl7pPr>
            <a:lvl8pPr algn="l">
              <a:defRPr sz="1650" b="1" i="0">
                <a:solidFill>
                  <a:srgbClr val="6757B8"/>
                </a:solidFill>
              </a:defRPr>
            </a:lvl8pPr>
            <a:lvl9pPr algn="l">
              <a:defRPr sz="1650" b="1" i="0">
                <a:solidFill>
                  <a:srgbClr val="6757B8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6757B8"/>
                </a:solidFill>
              </a:defRPr>
            </a:pPr>
            <a:r>
              <a:rPr sz="1650" b="1" i="0">
                <a:solidFill>
                  <a:srgbClr val="6757B8"/>
                </a:solidFill>
              </a:rPr>
              <a:t>Comparaison sur la validation uniquement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259A1-1FB9-476A-8168-470C135785B1}"/>
              </a:ext>
            </a:extLst>
          </p:cNvPr>
          <p:cNvGraphicFramePr/>
          <p:nvPr/>
        </p:nvGraphicFramePr>
        <p:xfrm>
          <a:off xmlns:a="http://schemas.openxmlformats.org/drawingml/2006/main" x="666750" y="1790700"/>
          <a:ext xmlns:a="http://schemas.openxmlformats.org/drawingml/2006/main" cx="6191250" cy="3143250"/>
        </p:xfrm>
        <a:graphic xmlns:a="http://schemas.openxmlformats.org/drawingml/2006/main">
          <a:graphicData uri="http://schemas.openxmlformats.org/drawingml/2006/table">
            <a:tbl>
              <a:tblPr firstRow="1" firstCol="0" bandRow="1">
                <a:tableStyleId>{5C22544A-7EE6-4342-B048-85BDC9FD1C3A}</a:tableStyleId>
              </a:tblPr>
              <a:tblGrid>
                <a:gridCol w="2857500"/>
                <a:gridCol w="1666875"/>
                <a:gridCol w="1666875"/>
              </a:tblGrid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Mesure</a:t>
                      </a:r>
                    </a:p>
                  </a:txBody>
                  <a:tcPr marL="91440" marR="91440" marT="45720" marB="45720">
                    <a:solidFill>
                      <a:srgbClr val="6757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SimpleRNN</a:t>
                      </a:r>
                    </a:p>
                  </a:txBody>
                  <a:tcPr marL="91440" marR="91440" marT="45720" marB="45720">
                    <a:solidFill>
                      <a:srgbClr val="6757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6757B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Paramètres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421 443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446 211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Accuracy connue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3,67 %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4,31 %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Top-5 connue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12,69 %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13,82 %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Perte connue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6,2977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6,4059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Perte globale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7,2272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7,6950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65021-85ED-48C6-822A-616EF315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450" b="1" i="0">
                <a:solidFill>
                  <a:srgbClr val="2F7D66"/>
                </a:solidFill>
              </a:defRPr>
            </a:defPPr>
            <a:lvl1pPr algn="ctr">
              <a:defRPr sz="3450" b="1" i="0">
                <a:solidFill>
                  <a:srgbClr val="2F7D66"/>
                </a:solidFill>
              </a:defRPr>
            </a:lvl1pPr>
            <a:lvl2pPr algn="ctr">
              <a:defRPr sz="3450" b="1" i="0">
                <a:solidFill>
                  <a:srgbClr val="2F7D66"/>
                </a:solidFill>
              </a:defRPr>
            </a:lvl2pPr>
            <a:lvl3pPr algn="ctr">
              <a:defRPr sz="3450" b="1" i="0">
                <a:solidFill>
                  <a:srgbClr val="2F7D66"/>
                </a:solidFill>
              </a:defRPr>
            </a:lvl3pPr>
            <a:lvl4pPr algn="ctr">
              <a:defRPr sz="3450" b="1" i="0">
                <a:solidFill>
                  <a:srgbClr val="2F7D66"/>
                </a:solidFill>
              </a:defRPr>
            </a:lvl4pPr>
            <a:lvl5pPr algn="ctr">
              <a:defRPr sz="3450" b="1" i="0">
                <a:solidFill>
                  <a:srgbClr val="2F7D66"/>
                </a:solidFill>
              </a:defRPr>
            </a:lvl5pPr>
            <a:lvl6pPr algn="ctr">
              <a:defRPr sz="3450" b="1" i="0">
                <a:solidFill>
                  <a:srgbClr val="2F7D66"/>
                </a:solidFill>
              </a:defRPr>
            </a:lvl6pPr>
            <a:lvl7pPr algn="ctr">
              <a:defRPr sz="3450" b="1" i="0">
                <a:solidFill>
                  <a:srgbClr val="2F7D66"/>
                </a:solidFill>
              </a:defRPr>
            </a:lvl7pPr>
            <a:lvl8pPr algn="ctr">
              <a:defRPr sz="3450" b="1" i="0">
                <a:solidFill>
                  <a:srgbClr val="2F7D66"/>
                </a:solidFill>
              </a:defRPr>
            </a:lvl8pPr>
            <a:lvl9pPr algn="ctr">
              <a:defRPr sz="3450" b="1" i="0">
                <a:solidFill>
                  <a:srgbClr val="2F7D66"/>
                </a:solidFill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2F7D66"/>
                </a:solidFill>
              </a:defRPr>
            </a:pPr>
            <a:r>
              <a:rPr sz="3450" b="1" i="0">
                <a:solidFill>
                  <a:srgbClr val="2F7D66"/>
                </a:solidFill>
              </a:rPr>
              <a:t>+13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5393D-9CD4-48FA-BF1E-5E10529F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prédictions correctes nettes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9C3E1-E023-4C8A-BF9B-F02C1484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 i="0">
                <a:solidFill>
                  <a:srgbClr val="6757B8"/>
                </a:solidFill>
              </a:defRPr>
            </a:defPPr>
            <a:lvl1pPr algn="ctr">
              <a:defRPr sz="1575" b="1" i="0">
                <a:solidFill>
                  <a:srgbClr val="6757B8"/>
                </a:solidFill>
              </a:defRPr>
            </a:lvl1pPr>
            <a:lvl2pPr algn="ctr">
              <a:defRPr sz="1575" b="1" i="0">
                <a:solidFill>
                  <a:srgbClr val="6757B8"/>
                </a:solidFill>
              </a:defRPr>
            </a:lvl2pPr>
            <a:lvl3pPr algn="ctr">
              <a:defRPr sz="1575" b="1" i="0">
                <a:solidFill>
                  <a:srgbClr val="6757B8"/>
                </a:solidFill>
              </a:defRPr>
            </a:lvl3pPr>
            <a:lvl4pPr algn="ctr">
              <a:defRPr sz="1575" b="1" i="0">
                <a:solidFill>
                  <a:srgbClr val="6757B8"/>
                </a:solidFill>
              </a:defRPr>
            </a:lvl4pPr>
            <a:lvl5pPr algn="ctr">
              <a:defRPr sz="1575" b="1" i="0">
                <a:solidFill>
                  <a:srgbClr val="6757B8"/>
                </a:solidFill>
              </a:defRPr>
            </a:lvl5pPr>
            <a:lvl6pPr algn="ctr">
              <a:defRPr sz="1575" b="1" i="0">
                <a:solidFill>
                  <a:srgbClr val="6757B8"/>
                </a:solidFill>
              </a:defRPr>
            </a:lvl6pPr>
            <a:lvl7pPr algn="ctr">
              <a:defRPr sz="1575" b="1" i="0">
                <a:solidFill>
                  <a:srgbClr val="6757B8"/>
                </a:solidFill>
              </a:defRPr>
            </a:lvl7pPr>
            <a:lvl8pPr algn="ctr">
              <a:defRPr sz="1575" b="1" i="0">
                <a:solidFill>
                  <a:srgbClr val="6757B8"/>
                </a:solidFill>
              </a:defRPr>
            </a:lvl8pPr>
            <a:lvl9pPr algn="ctr">
              <a:defRPr sz="1575" b="1" i="0">
                <a:solidFill>
                  <a:srgbClr val="6757B8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6757B8"/>
                </a:solidFill>
              </a:defRPr>
            </a:pPr>
            <a:r>
              <a:rPr sz="1575" b="1" i="0">
                <a:solidFill>
                  <a:srgbClr val="6757B8"/>
                </a:solidFill>
              </a:rPr>
              <a:t>Comparaison appariée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A8AA1-A659-4282-AA48-E37C2D91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813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 i="0">
                <a:solidFill>
                  <a:srgbClr val="132238"/>
                </a:solidFill>
              </a:defRPr>
            </a:defPPr>
            <a:lvl1pPr algn="ctr">
              <a:defRPr sz="1500" b="0" i="0">
                <a:solidFill>
                  <a:srgbClr val="132238"/>
                </a:solidFill>
              </a:defRPr>
            </a:lvl1pPr>
            <a:lvl2pPr algn="ctr">
              <a:defRPr sz="1500" b="0" i="0">
                <a:solidFill>
                  <a:srgbClr val="132238"/>
                </a:solidFill>
              </a:defRPr>
            </a:lvl2pPr>
            <a:lvl3pPr algn="ctr">
              <a:defRPr sz="1500" b="0" i="0">
                <a:solidFill>
                  <a:srgbClr val="132238"/>
                </a:solidFill>
              </a:defRPr>
            </a:lvl3pPr>
            <a:lvl4pPr algn="ctr">
              <a:defRPr sz="1500" b="0" i="0">
                <a:solidFill>
                  <a:srgbClr val="132238"/>
                </a:solidFill>
              </a:defRPr>
            </a:lvl4pPr>
            <a:lvl5pPr algn="ctr">
              <a:defRPr sz="1500" b="0" i="0">
                <a:solidFill>
                  <a:srgbClr val="132238"/>
                </a:solidFill>
              </a:defRPr>
            </a:lvl5pPr>
            <a:lvl6pPr algn="ctr">
              <a:defRPr sz="1500" b="0" i="0">
                <a:solidFill>
                  <a:srgbClr val="132238"/>
                </a:solidFill>
              </a:defRPr>
            </a:lvl6pPr>
            <a:lvl7pPr algn="ctr">
              <a:defRPr sz="1500" b="0" i="0">
                <a:solidFill>
                  <a:srgbClr val="132238"/>
                </a:solidFill>
              </a:defRPr>
            </a:lvl7pPr>
            <a:lvl8pPr algn="ctr">
              <a:defRPr sz="1500" b="0" i="0">
                <a:solidFill>
                  <a:srgbClr val="132238"/>
                </a:solidFill>
              </a:defRPr>
            </a:lvl8pPr>
            <a:lvl9pPr algn="ctr">
              <a:defRPr sz="1500" b="0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132238"/>
                </a:solidFill>
              </a:defRPr>
            </a:pPr>
            <a:r>
              <a:rPr sz="1500" b="0" i="0">
                <a:solidFill>
                  <a:srgbClr val="132238"/>
                </a:solidFill>
              </a:rPr>
              <a:t>59 corrects pour les deux</a:t>
            </a:r>
          </a:p>
          <a:p xmlns:a="http://schemas.openxmlformats.org/drawingml/2006/main">
            <a:pPr algn="ctr">
              <a:defRPr sz="1500" b="0" i="0">
                <a:solidFill>
                  <a:srgbClr val="132238"/>
                </a:solidFill>
              </a:defRPr>
            </a:pPr>
            <a:r>
              <a:rPr sz="1500" b="0" i="0">
                <a:solidFill>
                  <a:srgbClr val="132238"/>
                </a:solidFill>
              </a:rPr>
              <a:t>29 corrects pour le LSTM seul</a:t>
            </a:r>
          </a:p>
          <a:p xmlns:a="http://schemas.openxmlformats.org/drawingml/2006/main">
            <a:pPr algn="ctr">
              <a:defRPr sz="1500" b="0" i="0">
                <a:solidFill>
                  <a:srgbClr val="132238"/>
                </a:solidFill>
              </a:defRPr>
            </a:pPr>
            <a:r>
              <a:rPr sz="1500" b="0" i="0">
                <a:solidFill>
                  <a:srgbClr val="132238"/>
                </a:solidFill>
              </a:rPr>
              <a:t>16 corrects pour le SimpleRNN seul</a:t>
            </a:r>
          </a:p>
          <a:p xmlns:a="http://schemas.openxmlformats.org/drawingml/2006/main">
            <a:pPr algn="ctr">
              <a:defRPr sz="1500" b="0" i="0">
                <a:solidFill>
                  <a:srgbClr val="132238"/>
                </a:solidFill>
              </a:defRPr>
            </a:pPr>
            <a:r>
              <a:rPr sz="1500" b="0" i="0">
                <a:solidFill>
                  <a:srgbClr val="132238"/>
                </a:solidFill>
              </a:rPr>
              <a:t>1 937 faux pour les deux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663D8-9BAA-4B27-9362-4068775E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4350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132238"/>
                </a:solidFill>
              </a:defRPr>
            </a:defPPr>
            <a:lvl1pPr algn="ctr">
              <a:defRPr sz="1500" b="1" i="0">
                <a:solidFill>
                  <a:srgbClr val="132238"/>
                </a:solidFill>
              </a:defRPr>
            </a:lvl1pPr>
            <a:lvl2pPr algn="ctr">
              <a:defRPr sz="1500" b="1" i="0">
                <a:solidFill>
                  <a:srgbClr val="132238"/>
                </a:solidFill>
              </a:defRPr>
            </a:lvl2pPr>
            <a:lvl3pPr algn="ctr">
              <a:defRPr sz="1500" b="1" i="0">
                <a:solidFill>
                  <a:srgbClr val="132238"/>
                </a:solidFill>
              </a:defRPr>
            </a:lvl3pPr>
            <a:lvl4pPr algn="ctr">
              <a:defRPr sz="1500" b="1" i="0">
                <a:solidFill>
                  <a:srgbClr val="132238"/>
                </a:solidFill>
              </a:defRPr>
            </a:lvl4pPr>
            <a:lvl5pPr algn="ctr">
              <a:defRPr sz="1500" b="1" i="0">
                <a:solidFill>
                  <a:srgbClr val="132238"/>
                </a:solidFill>
              </a:defRPr>
            </a:lvl5pPr>
            <a:lvl6pPr algn="ctr">
              <a:defRPr sz="1500" b="1" i="0">
                <a:solidFill>
                  <a:srgbClr val="132238"/>
                </a:solidFill>
              </a:defRPr>
            </a:lvl6pPr>
            <a:lvl7pPr algn="ctr">
              <a:defRPr sz="1500" b="1" i="0">
                <a:solidFill>
                  <a:srgbClr val="132238"/>
                </a:solidFill>
              </a:defRPr>
            </a:lvl7pPr>
            <a:lvl8pPr algn="ctr">
              <a:defRPr sz="1500" b="1" i="0">
                <a:solidFill>
                  <a:srgbClr val="132238"/>
                </a:solidFill>
              </a:defRPr>
            </a:lvl8pPr>
            <a:lvl9pPr algn="ctr">
              <a:defRPr sz="150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132238"/>
                </a:solidFill>
              </a:defRPr>
            </a:pPr>
            <a:r>
              <a:rPr sz="1500" b="1" i="0">
                <a:solidFill>
                  <a:srgbClr val="132238"/>
                </a:solidFill>
              </a:rPr>
              <a:t>Le LSTM gagne 0,64 point d’accuracy connue, mais sa perte globale se dégrade. Il concentre ses top-1 sur 17 identifiants, contre 60.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FDE1C-17EC-4742-B679-8D121346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 i="0">
                <a:solidFill>
                  <a:srgbClr val="B94A48"/>
                </a:solidFill>
              </a:defRPr>
            </a:defPPr>
            <a:lvl1pPr algn="ctr">
              <a:defRPr sz="1650" b="1" i="0">
                <a:solidFill>
                  <a:srgbClr val="B94A48"/>
                </a:solidFill>
              </a:defRPr>
            </a:lvl1pPr>
            <a:lvl2pPr algn="ctr">
              <a:defRPr sz="1650" b="1" i="0">
                <a:solidFill>
                  <a:srgbClr val="B94A48"/>
                </a:solidFill>
              </a:defRPr>
            </a:lvl2pPr>
            <a:lvl3pPr algn="ctr">
              <a:defRPr sz="1650" b="1" i="0">
                <a:solidFill>
                  <a:srgbClr val="B94A48"/>
                </a:solidFill>
              </a:defRPr>
            </a:lvl3pPr>
            <a:lvl4pPr algn="ctr">
              <a:defRPr sz="1650" b="1" i="0">
                <a:solidFill>
                  <a:srgbClr val="B94A48"/>
                </a:solidFill>
              </a:defRPr>
            </a:lvl4pPr>
            <a:lvl5pPr algn="ctr">
              <a:defRPr sz="1650" b="1" i="0">
                <a:solidFill>
                  <a:srgbClr val="B94A48"/>
                </a:solidFill>
              </a:defRPr>
            </a:lvl5pPr>
            <a:lvl6pPr algn="ctr">
              <a:defRPr sz="1650" b="1" i="0">
                <a:solidFill>
                  <a:srgbClr val="B94A48"/>
                </a:solidFill>
              </a:defRPr>
            </a:lvl6pPr>
            <a:lvl7pPr algn="ctr">
              <a:defRPr sz="1650" b="1" i="0">
                <a:solidFill>
                  <a:srgbClr val="B94A48"/>
                </a:solidFill>
              </a:defRPr>
            </a:lvl7pPr>
            <a:lvl8pPr algn="ctr">
              <a:defRPr sz="1650" b="1" i="0">
                <a:solidFill>
                  <a:srgbClr val="B94A48"/>
                </a:solidFill>
              </a:defRPr>
            </a:lvl8pPr>
            <a:lvl9pPr algn="ctr">
              <a:defRPr sz="1650" b="1" i="0">
                <a:solidFill>
                  <a:srgbClr val="B94A48"/>
                </a:solidFill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B94A48"/>
                </a:solidFill>
              </a:defRPr>
            </a:pPr>
            <a:r>
              <a:rPr sz="1650" b="1" i="0">
                <a:solidFill>
                  <a:srgbClr val="B94A48"/>
                </a:solidFill>
              </a:rPr>
              <a:t>Aucune nouvelle passe sur le test</a:t>
            </a:r>
          </a:p>
        </p:txBody>
      </p:sp>
    </p:spTree>
    <p:extLst>
      <p:ext uri="{BB962C8B-B14F-4D97-AF65-F5344CB8AC3E}">
        <p14:creationId xmlns:p14="http://schemas.microsoft.com/office/powerpoint/2010/main" val="535897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2B80F-0351-45F1-BCB7-3E25F11D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132238"/>
                </a:solidFill>
              </a:defRPr>
            </a:defPPr>
            <a:lvl1pPr algn="l">
              <a:defRPr sz="2850" b="1" i="0">
                <a:solidFill>
                  <a:srgbClr val="132238"/>
                </a:solidFill>
              </a:defRPr>
            </a:lvl1pPr>
            <a:lvl2pPr algn="l">
              <a:defRPr sz="2850" b="1" i="0">
                <a:solidFill>
                  <a:srgbClr val="132238"/>
                </a:solidFill>
              </a:defRPr>
            </a:lvl2pPr>
            <a:lvl3pPr algn="l">
              <a:defRPr sz="2850" b="1" i="0">
                <a:solidFill>
                  <a:srgbClr val="132238"/>
                </a:solidFill>
              </a:defRPr>
            </a:lvl3pPr>
            <a:lvl4pPr algn="l">
              <a:defRPr sz="2850" b="1" i="0">
                <a:solidFill>
                  <a:srgbClr val="132238"/>
                </a:solidFill>
              </a:defRPr>
            </a:lvl4pPr>
            <a:lvl5pPr algn="l">
              <a:defRPr sz="2850" b="1" i="0">
                <a:solidFill>
                  <a:srgbClr val="132238"/>
                </a:solidFill>
              </a:defRPr>
            </a:lvl5pPr>
            <a:lvl6pPr algn="l">
              <a:defRPr sz="2850" b="1" i="0">
                <a:solidFill>
                  <a:srgbClr val="132238"/>
                </a:solidFill>
              </a:defRPr>
            </a:lvl6pPr>
            <a:lvl7pPr algn="l">
              <a:defRPr sz="2850" b="1" i="0">
                <a:solidFill>
                  <a:srgbClr val="132238"/>
                </a:solidFill>
              </a:defRPr>
            </a:lvl7pPr>
            <a:lvl8pPr algn="l">
              <a:defRPr sz="2850" b="1" i="0">
                <a:solidFill>
                  <a:srgbClr val="132238"/>
                </a:solidFill>
              </a:defRPr>
            </a:lvl8pPr>
            <a:lvl9pPr algn="l">
              <a:defRPr sz="28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32238"/>
                </a:solidFill>
              </a:defRPr>
            </a:pPr>
            <a:r>
              <a:rPr sz="2850" b="1" i="0">
                <a:solidFill>
                  <a:srgbClr val="132238"/>
                </a:solidFill>
              </a:rPr>
              <a:t>Génération : le LSTM produit ici un texte plus répétitif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B0AE9-46B5-4F75-A508-9F60EACB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7B8"/>
          </a:solidFill>
          <a:ln xmlns:a="http://schemas.openxmlformats.org/drawingml/2006/main" w="0">
            <a:solidFill>
              <a:srgbClr val="675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3078A-2FDE-40C2-A409-9C8C602E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5E6B78"/>
                </a:solidFill>
              </a:defRPr>
            </a:defPPr>
            <a:lvl1pPr algn="r">
              <a:defRPr sz="1050" b="0" i="0">
                <a:solidFill>
                  <a:srgbClr val="5E6B78"/>
                </a:solidFill>
              </a:defRPr>
            </a:lvl1pPr>
            <a:lvl2pPr algn="r">
              <a:defRPr sz="1050" b="0" i="0">
                <a:solidFill>
                  <a:srgbClr val="5E6B78"/>
                </a:solidFill>
              </a:defRPr>
            </a:lvl2pPr>
            <a:lvl3pPr algn="r">
              <a:defRPr sz="1050" b="0" i="0">
                <a:solidFill>
                  <a:srgbClr val="5E6B78"/>
                </a:solidFill>
              </a:defRPr>
            </a:lvl3pPr>
            <a:lvl4pPr algn="r">
              <a:defRPr sz="1050" b="0" i="0">
                <a:solidFill>
                  <a:srgbClr val="5E6B78"/>
                </a:solidFill>
              </a:defRPr>
            </a:lvl4pPr>
            <a:lvl5pPr algn="r">
              <a:defRPr sz="1050" b="0" i="0">
                <a:solidFill>
                  <a:srgbClr val="5E6B78"/>
                </a:solidFill>
              </a:defRPr>
            </a:lvl5pPr>
            <a:lvl6pPr algn="r">
              <a:defRPr sz="1050" b="0" i="0">
                <a:solidFill>
                  <a:srgbClr val="5E6B78"/>
                </a:solidFill>
              </a:defRPr>
            </a:lvl6pPr>
            <a:lvl7pPr algn="r">
              <a:defRPr sz="1050" b="0" i="0">
                <a:solidFill>
                  <a:srgbClr val="5E6B78"/>
                </a:solidFill>
              </a:defRPr>
            </a:lvl7pPr>
            <a:lvl8pPr algn="r">
              <a:defRPr sz="1050" b="0" i="0">
                <a:solidFill>
                  <a:srgbClr val="5E6B78"/>
                </a:solidFill>
              </a:defRPr>
            </a:lvl8pPr>
            <a:lvl9pPr algn="r">
              <a:defRPr sz="10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5E6B78"/>
                </a:solidFill>
              </a:defRPr>
            </a:pPr>
            <a:r>
              <a:rPr sz="1050" b="0" i="0">
                <a:solidFill>
                  <a:srgbClr val="5E6B78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FBAAB-D6CA-4C84-86C1-6EDAF95B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6757B8"/>
                </a:solidFill>
              </a:defRPr>
            </a:defPPr>
            <a:lvl1pPr algn="l">
              <a:defRPr sz="1725" b="1" i="0">
                <a:solidFill>
                  <a:srgbClr val="6757B8"/>
                </a:solidFill>
              </a:defRPr>
            </a:lvl1pPr>
            <a:lvl2pPr algn="l">
              <a:defRPr sz="1725" b="1" i="0">
                <a:solidFill>
                  <a:srgbClr val="6757B8"/>
                </a:solidFill>
              </a:defRPr>
            </a:lvl2pPr>
            <a:lvl3pPr algn="l">
              <a:defRPr sz="1725" b="1" i="0">
                <a:solidFill>
                  <a:srgbClr val="6757B8"/>
                </a:solidFill>
              </a:defRPr>
            </a:lvl3pPr>
            <a:lvl4pPr algn="l">
              <a:defRPr sz="1725" b="1" i="0">
                <a:solidFill>
                  <a:srgbClr val="6757B8"/>
                </a:solidFill>
              </a:defRPr>
            </a:lvl4pPr>
            <a:lvl5pPr algn="l">
              <a:defRPr sz="1725" b="1" i="0">
                <a:solidFill>
                  <a:srgbClr val="6757B8"/>
                </a:solidFill>
              </a:defRPr>
            </a:lvl5pPr>
            <a:lvl6pPr algn="l">
              <a:defRPr sz="1725" b="1" i="0">
                <a:solidFill>
                  <a:srgbClr val="6757B8"/>
                </a:solidFill>
              </a:defRPr>
            </a:lvl6pPr>
            <a:lvl7pPr algn="l">
              <a:defRPr sz="1725" b="1" i="0">
                <a:solidFill>
                  <a:srgbClr val="6757B8"/>
                </a:solidFill>
              </a:defRPr>
            </a:lvl7pPr>
            <a:lvl8pPr algn="l">
              <a:defRPr sz="1725" b="1" i="0">
                <a:solidFill>
                  <a:srgbClr val="6757B8"/>
                </a:solidFill>
              </a:defRPr>
            </a:lvl8pPr>
            <a:lvl9pPr algn="l">
              <a:defRPr sz="1725" b="1" i="0">
                <a:solidFill>
                  <a:srgbClr val="6757B8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6757B8"/>
                </a:solidFill>
              </a:defRPr>
            </a:pPr>
            <a:r>
              <a:rPr sz="1725" b="1" i="0">
                <a:solidFill>
                  <a:srgbClr val="6757B8"/>
                </a:solidFill>
              </a:rPr>
              <a:t>Amorce commune : « j’aime l’araignée et »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9C97044-C7CD-4DC0-85E4-F11D7CDE0CF7}"/>
              </a:ext>
            </a:extLst>
          </p:cNvPr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d6e26726f34b5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5B7D7-EEF2-4FB7-AC77-80A732DE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5E6B78"/>
                </a:solidFill>
              </a:defRPr>
            </a:defPPr>
            <a:lvl1pPr algn="ctr">
              <a:defRPr sz="1350" b="0" i="0">
                <a:solidFill>
                  <a:srgbClr val="5E6B78"/>
                </a:solidFill>
              </a:defRPr>
            </a:lvl1pPr>
            <a:lvl2pPr algn="ctr">
              <a:defRPr sz="1350" b="0" i="0">
                <a:solidFill>
                  <a:srgbClr val="5E6B78"/>
                </a:solidFill>
              </a:defRPr>
            </a:lvl2pPr>
            <a:lvl3pPr algn="ctr">
              <a:defRPr sz="1350" b="0" i="0">
                <a:solidFill>
                  <a:srgbClr val="5E6B78"/>
                </a:solidFill>
              </a:defRPr>
            </a:lvl3pPr>
            <a:lvl4pPr algn="ctr">
              <a:defRPr sz="1350" b="0" i="0">
                <a:solidFill>
                  <a:srgbClr val="5E6B78"/>
                </a:solidFill>
              </a:defRPr>
            </a:lvl4pPr>
            <a:lvl5pPr algn="ctr">
              <a:defRPr sz="1350" b="0" i="0">
                <a:solidFill>
                  <a:srgbClr val="5E6B78"/>
                </a:solidFill>
              </a:defRPr>
            </a:lvl5pPr>
            <a:lvl6pPr algn="ctr">
              <a:defRPr sz="1350" b="0" i="0">
                <a:solidFill>
                  <a:srgbClr val="5E6B78"/>
                </a:solidFill>
              </a:defRPr>
            </a:lvl6pPr>
            <a:lvl7pPr algn="ctr">
              <a:defRPr sz="1350" b="0" i="0">
                <a:solidFill>
                  <a:srgbClr val="5E6B78"/>
                </a:solidFill>
              </a:defRPr>
            </a:lvl7pPr>
            <a:lvl8pPr algn="ctr">
              <a:defRPr sz="1350" b="0" i="0">
                <a:solidFill>
                  <a:srgbClr val="5E6B78"/>
                </a:solidFill>
              </a:defRPr>
            </a:lvl8pPr>
            <a:lvl9pPr algn="ctr">
              <a:defRPr sz="13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E6B78"/>
                </a:solidFill>
              </a:defRPr>
            </a:pPr>
            <a:r>
              <a:rPr sz="1350" b="0" i="0">
                <a:solidFill>
                  <a:srgbClr val="5E6B78"/>
                </a:solidFill>
              </a:rPr>
              <a:t>Diversité types / tokens sur 30 mots (%)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6536D-CC85-4592-AD1A-1A8E6B92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 i="0">
                <a:solidFill>
                  <a:srgbClr val="6757B8"/>
                </a:solidFill>
              </a:defRPr>
            </a:defPPr>
            <a:lvl1pPr algn="ctr">
              <a:defRPr sz="1650" b="1" i="0">
                <a:solidFill>
                  <a:srgbClr val="6757B8"/>
                </a:solidFill>
              </a:defRPr>
            </a:lvl1pPr>
            <a:lvl2pPr algn="ctr">
              <a:defRPr sz="1650" b="1" i="0">
                <a:solidFill>
                  <a:srgbClr val="6757B8"/>
                </a:solidFill>
              </a:defRPr>
            </a:lvl2pPr>
            <a:lvl3pPr algn="ctr">
              <a:defRPr sz="1650" b="1" i="0">
                <a:solidFill>
                  <a:srgbClr val="6757B8"/>
                </a:solidFill>
              </a:defRPr>
            </a:lvl3pPr>
            <a:lvl4pPr algn="ctr">
              <a:defRPr sz="1650" b="1" i="0">
                <a:solidFill>
                  <a:srgbClr val="6757B8"/>
                </a:solidFill>
              </a:defRPr>
            </a:lvl4pPr>
            <a:lvl5pPr algn="ctr">
              <a:defRPr sz="1650" b="1" i="0">
                <a:solidFill>
                  <a:srgbClr val="6757B8"/>
                </a:solidFill>
              </a:defRPr>
            </a:lvl5pPr>
            <a:lvl6pPr algn="ctr">
              <a:defRPr sz="1650" b="1" i="0">
                <a:solidFill>
                  <a:srgbClr val="6757B8"/>
                </a:solidFill>
              </a:defRPr>
            </a:lvl6pPr>
            <a:lvl7pPr algn="ctr">
              <a:defRPr sz="1650" b="1" i="0">
                <a:solidFill>
                  <a:srgbClr val="6757B8"/>
                </a:solidFill>
              </a:defRPr>
            </a:lvl7pPr>
            <a:lvl8pPr algn="ctr">
              <a:defRPr sz="1650" b="1" i="0">
                <a:solidFill>
                  <a:srgbClr val="6757B8"/>
                </a:solidFill>
              </a:defRPr>
            </a:lvl8pPr>
            <a:lvl9pPr algn="ctr">
              <a:defRPr sz="1650" b="1" i="0">
                <a:solidFill>
                  <a:srgbClr val="6757B8"/>
                </a:solidFill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6757B8"/>
                </a:solidFill>
              </a:defRPr>
            </a:pPr>
            <a:r>
              <a:rPr sz="1650" b="1" i="0">
                <a:solidFill>
                  <a:srgbClr val="6757B8"/>
                </a:solidFill>
              </a:rPr>
              <a:t>Décodage glouton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7A1C8-6D14-4235-AF80-C0C22EED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0" i="0">
                <a:solidFill>
                  <a:srgbClr val="132238"/>
                </a:solidFill>
              </a:defRPr>
            </a:defPPr>
            <a:lvl1pPr algn="ctr">
              <a:defRPr sz="1500" b="0" i="0">
                <a:solidFill>
                  <a:srgbClr val="132238"/>
                </a:solidFill>
              </a:defRPr>
            </a:lvl1pPr>
            <a:lvl2pPr algn="ctr">
              <a:defRPr sz="1500" b="0" i="0">
                <a:solidFill>
                  <a:srgbClr val="132238"/>
                </a:solidFill>
              </a:defRPr>
            </a:lvl2pPr>
            <a:lvl3pPr algn="ctr">
              <a:defRPr sz="1500" b="0" i="0">
                <a:solidFill>
                  <a:srgbClr val="132238"/>
                </a:solidFill>
              </a:defRPr>
            </a:lvl3pPr>
            <a:lvl4pPr algn="ctr">
              <a:defRPr sz="1500" b="0" i="0">
                <a:solidFill>
                  <a:srgbClr val="132238"/>
                </a:solidFill>
              </a:defRPr>
            </a:lvl4pPr>
            <a:lvl5pPr algn="ctr">
              <a:defRPr sz="1500" b="0" i="0">
                <a:solidFill>
                  <a:srgbClr val="132238"/>
                </a:solidFill>
              </a:defRPr>
            </a:lvl5pPr>
            <a:lvl6pPr algn="ctr">
              <a:defRPr sz="1500" b="0" i="0">
                <a:solidFill>
                  <a:srgbClr val="132238"/>
                </a:solidFill>
              </a:defRPr>
            </a:lvl6pPr>
            <a:lvl7pPr algn="ctr">
              <a:defRPr sz="1500" b="0" i="0">
                <a:solidFill>
                  <a:srgbClr val="132238"/>
                </a:solidFill>
              </a:defRPr>
            </a:lvl7pPr>
            <a:lvl8pPr algn="ctr">
              <a:defRPr sz="1500" b="0" i="0">
                <a:solidFill>
                  <a:srgbClr val="132238"/>
                </a:solidFill>
              </a:defRPr>
            </a:lvl8pPr>
            <a:lvl9pPr algn="ctr">
              <a:defRPr sz="1500" b="0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132238"/>
                </a:solidFill>
              </a:defRPr>
            </a:pPr>
            <a:r>
              <a:rPr sz="1500" b="0" i="0">
                <a:solidFill>
                  <a:srgbClr val="132238"/>
                </a:solidFill>
              </a:rPr>
              <a:t>SimpleRNN</a:t>
            </a:r>
          </a:p>
          <a:p xmlns:a="http://schemas.openxmlformats.org/drawingml/2006/main">
            <a:pPr algn="ctr">
              <a:defRPr sz="1500" b="0" i="0">
                <a:solidFill>
                  <a:srgbClr val="132238"/>
                </a:solidFill>
              </a:defRPr>
            </a:pPr>
            <a:r>
              <a:rPr sz="1500" b="0" i="0">
                <a:solidFill>
                  <a:srgbClr val="132238"/>
                </a:solidFill>
              </a:rPr>
              <a:t>« … et la nuit et la nuit … 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992EA-7F7F-4309-82A6-2E265852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0" i="0">
                <a:solidFill>
                  <a:srgbClr val="132238"/>
                </a:solidFill>
              </a:defRPr>
            </a:defPPr>
            <a:lvl1pPr algn="ctr">
              <a:defRPr sz="1500" b="0" i="0">
                <a:solidFill>
                  <a:srgbClr val="132238"/>
                </a:solidFill>
              </a:defRPr>
            </a:lvl1pPr>
            <a:lvl2pPr algn="ctr">
              <a:defRPr sz="1500" b="0" i="0">
                <a:solidFill>
                  <a:srgbClr val="132238"/>
                </a:solidFill>
              </a:defRPr>
            </a:lvl2pPr>
            <a:lvl3pPr algn="ctr">
              <a:defRPr sz="1500" b="0" i="0">
                <a:solidFill>
                  <a:srgbClr val="132238"/>
                </a:solidFill>
              </a:defRPr>
            </a:lvl3pPr>
            <a:lvl4pPr algn="ctr">
              <a:defRPr sz="1500" b="0" i="0">
                <a:solidFill>
                  <a:srgbClr val="132238"/>
                </a:solidFill>
              </a:defRPr>
            </a:lvl4pPr>
            <a:lvl5pPr algn="ctr">
              <a:defRPr sz="1500" b="0" i="0">
                <a:solidFill>
                  <a:srgbClr val="132238"/>
                </a:solidFill>
              </a:defRPr>
            </a:lvl5pPr>
            <a:lvl6pPr algn="ctr">
              <a:defRPr sz="1500" b="0" i="0">
                <a:solidFill>
                  <a:srgbClr val="132238"/>
                </a:solidFill>
              </a:defRPr>
            </a:lvl6pPr>
            <a:lvl7pPr algn="ctr">
              <a:defRPr sz="1500" b="0" i="0">
                <a:solidFill>
                  <a:srgbClr val="132238"/>
                </a:solidFill>
              </a:defRPr>
            </a:lvl7pPr>
            <a:lvl8pPr algn="ctr">
              <a:defRPr sz="1500" b="0" i="0">
                <a:solidFill>
                  <a:srgbClr val="132238"/>
                </a:solidFill>
              </a:defRPr>
            </a:lvl8pPr>
            <a:lvl9pPr algn="ctr">
              <a:defRPr sz="1500" b="0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132238"/>
                </a:solidFill>
              </a:defRPr>
            </a:pPr>
            <a:r>
              <a:rPr sz="1500" b="0" i="0">
                <a:solidFill>
                  <a:srgbClr val="132238"/>
                </a:solidFill>
              </a:rPr>
              <a:t>LSTM</a:t>
            </a:r>
          </a:p>
          <a:p xmlns:a="http://schemas.openxmlformats.org/drawingml/2006/main">
            <a:pPr algn="ctr">
              <a:defRPr sz="1500" b="0" i="0">
                <a:solidFill>
                  <a:srgbClr val="132238"/>
                </a:solidFill>
              </a:defRPr>
            </a:pPr>
            <a:r>
              <a:rPr sz="1500" b="0" i="0">
                <a:solidFill>
                  <a:srgbClr val="132238"/>
                </a:solidFill>
              </a:rPr>
              <a:t>« … et la nuit et la nuit et la nuit … 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CC184-961C-46AE-949C-97896073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1012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 i="0">
                <a:solidFill>
                  <a:srgbClr val="B94A48"/>
                </a:solidFill>
              </a:defRPr>
            </a:defPPr>
            <a:lvl1pPr algn="ctr">
              <a:defRPr sz="1575" b="1" i="0">
                <a:solidFill>
                  <a:srgbClr val="B94A48"/>
                </a:solidFill>
              </a:defRPr>
            </a:lvl1pPr>
            <a:lvl2pPr algn="ctr">
              <a:defRPr sz="1575" b="1" i="0">
                <a:solidFill>
                  <a:srgbClr val="B94A48"/>
                </a:solidFill>
              </a:defRPr>
            </a:lvl2pPr>
            <a:lvl3pPr algn="ctr">
              <a:defRPr sz="1575" b="1" i="0">
                <a:solidFill>
                  <a:srgbClr val="B94A48"/>
                </a:solidFill>
              </a:defRPr>
            </a:lvl3pPr>
            <a:lvl4pPr algn="ctr">
              <a:defRPr sz="1575" b="1" i="0">
                <a:solidFill>
                  <a:srgbClr val="B94A48"/>
                </a:solidFill>
              </a:defRPr>
            </a:lvl4pPr>
            <a:lvl5pPr algn="ctr">
              <a:defRPr sz="1575" b="1" i="0">
                <a:solidFill>
                  <a:srgbClr val="B94A48"/>
                </a:solidFill>
              </a:defRPr>
            </a:lvl5pPr>
            <a:lvl6pPr algn="ctr">
              <a:defRPr sz="1575" b="1" i="0">
                <a:solidFill>
                  <a:srgbClr val="B94A48"/>
                </a:solidFill>
              </a:defRPr>
            </a:lvl6pPr>
            <a:lvl7pPr algn="ctr">
              <a:defRPr sz="1575" b="1" i="0">
                <a:solidFill>
                  <a:srgbClr val="B94A48"/>
                </a:solidFill>
              </a:defRPr>
            </a:lvl7pPr>
            <a:lvl8pPr algn="ctr">
              <a:defRPr sz="1575" b="1" i="0">
                <a:solidFill>
                  <a:srgbClr val="B94A48"/>
                </a:solidFill>
              </a:defRPr>
            </a:lvl8pPr>
            <a:lvl9pPr algn="ctr">
              <a:defRPr sz="1575" b="1" i="0">
                <a:solidFill>
                  <a:srgbClr val="B94A48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B94A48"/>
                </a:solidFill>
              </a:defRPr>
            </a:pPr>
            <a:r>
              <a:rPr sz="1575" b="1" i="0">
                <a:solidFill>
                  <a:srgbClr val="B94A48"/>
                </a:solidFill>
              </a:rPr>
              <a:t>Une seule amorce et un seul tirage par température ne suffisent pas pour mesurer la qualité littéraire.</a:t>
            </a:r>
          </a:p>
        </p:txBody>
      </p:sp>
    </p:spTree>
    <p:extLst>
      <p:ext uri="{BB962C8B-B14F-4D97-AF65-F5344CB8AC3E}">
        <p14:creationId xmlns:p14="http://schemas.microsoft.com/office/powerpoint/2010/main" val="5484502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8F003-24BA-475D-8D12-5255885B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132238"/>
                </a:solidFill>
              </a:defRPr>
            </a:defPPr>
            <a:lvl1pPr algn="l">
              <a:defRPr sz="2850" b="1" i="0">
                <a:solidFill>
                  <a:srgbClr val="132238"/>
                </a:solidFill>
              </a:defRPr>
            </a:lvl1pPr>
            <a:lvl2pPr algn="l">
              <a:defRPr sz="2850" b="1" i="0">
                <a:solidFill>
                  <a:srgbClr val="132238"/>
                </a:solidFill>
              </a:defRPr>
            </a:lvl2pPr>
            <a:lvl3pPr algn="l">
              <a:defRPr sz="2850" b="1" i="0">
                <a:solidFill>
                  <a:srgbClr val="132238"/>
                </a:solidFill>
              </a:defRPr>
            </a:lvl3pPr>
            <a:lvl4pPr algn="l">
              <a:defRPr sz="2850" b="1" i="0">
                <a:solidFill>
                  <a:srgbClr val="132238"/>
                </a:solidFill>
              </a:defRPr>
            </a:lvl4pPr>
            <a:lvl5pPr algn="l">
              <a:defRPr sz="2850" b="1" i="0">
                <a:solidFill>
                  <a:srgbClr val="132238"/>
                </a:solidFill>
              </a:defRPr>
            </a:lvl5pPr>
            <a:lvl6pPr algn="l">
              <a:defRPr sz="2850" b="1" i="0">
                <a:solidFill>
                  <a:srgbClr val="132238"/>
                </a:solidFill>
              </a:defRPr>
            </a:lvl6pPr>
            <a:lvl7pPr algn="l">
              <a:defRPr sz="2850" b="1" i="0">
                <a:solidFill>
                  <a:srgbClr val="132238"/>
                </a:solidFill>
              </a:defRPr>
            </a:lvl7pPr>
            <a:lvl8pPr algn="l">
              <a:defRPr sz="2850" b="1" i="0">
                <a:solidFill>
                  <a:srgbClr val="132238"/>
                </a:solidFill>
              </a:defRPr>
            </a:lvl8pPr>
            <a:lvl9pPr algn="l">
              <a:defRPr sz="2850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32238"/>
                </a:solidFill>
              </a:defRPr>
            </a:pPr>
            <a:r>
              <a:rPr sz="2850" b="1" i="0">
                <a:solidFill>
                  <a:srgbClr val="132238"/>
                </a:solidFill>
              </a:rPr>
              <a:t>Bilan : la qualité dépend autant du protocole que du modèle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618F7-3B64-4DD6-B34C-5039EC6D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E"/>
          </a:solidFill>
          <a:ln xmlns:a="http://schemas.openxmlformats.org/drawingml/2006/main" w="0">
            <a:solidFill>
              <a:srgbClr val="D5A6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42CE9-C904-44C7-83F7-1395E662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 i="0">
                <a:solidFill>
                  <a:srgbClr val="5E6B78"/>
                </a:solidFill>
              </a:defRPr>
            </a:defPPr>
            <a:lvl1pPr algn="r">
              <a:defRPr sz="1050" b="0" i="0">
                <a:solidFill>
                  <a:srgbClr val="5E6B78"/>
                </a:solidFill>
              </a:defRPr>
            </a:lvl1pPr>
            <a:lvl2pPr algn="r">
              <a:defRPr sz="1050" b="0" i="0">
                <a:solidFill>
                  <a:srgbClr val="5E6B78"/>
                </a:solidFill>
              </a:defRPr>
            </a:lvl2pPr>
            <a:lvl3pPr algn="r">
              <a:defRPr sz="1050" b="0" i="0">
                <a:solidFill>
                  <a:srgbClr val="5E6B78"/>
                </a:solidFill>
              </a:defRPr>
            </a:lvl3pPr>
            <a:lvl4pPr algn="r">
              <a:defRPr sz="1050" b="0" i="0">
                <a:solidFill>
                  <a:srgbClr val="5E6B78"/>
                </a:solidFill>
              </a:defRPr>
            </a:lvl4pPr>
            <a:lvl5pPr algn="r">
              <a:defRPr sz="1050" b="0" i="0">
                <a:solidFill>
                  <a:srgbClr val="5E6B78"/>
                </a:solidFill>
              </a:defRPr>
            </a:lvl5pPr>
            <a:lvl6pPr algn="r">
              <a:defRPr sz="1050" b="0" i="0">
                <a:solidFill>
                  <a:srgbClr val="5E6B78"/>
                </a:solidFill>
              </a:defRPr>
            </a:lvl6pPr>
            <a:lvl7pPr algn="r">
              <a:defRPr sz="1050" b="0" i="0">
                <a:solidFill>
                  <a:srgbClr val="5E6B78"/>
                </a:solidFill>
              </a:defRPr>
            </a:lvl7pPr>
            <a:lvl8pPr algn="r">
              <a:defRPr sz="1050" b="0" i="0">
                <a:solidFill>
                  <a:srgbClr val="5E6B78"/>
                </a:solidFill>
              </a:defRPr>
            </a:lvl8pPr>
            <a:lvl9pPr algn="r">
              <a:defRPr sz="1050" b="0" i="0">
                <a:solidFill>
                  <a:srgbClr val="5E6B78"/>
                </a:solidFill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5E6B78"/>
                </a:solidFill>
              </a:defRPr>
            </a:pPr>
            <a:r>
              <a:rPr sz="1050" b="0" i="0">
                <a:solidFill>
                  <a:srgbClr val="5E6B78"/>
                </a:solidFill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A6928-3590-4DF9-B3DB-B6E9108CF857}"/>
              </a:ext>
            </a:extLst>
          </p:cNvPr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10858500" cy="2952750"/>
        </p:xfrm>
        <a:graphic xmlns:a="http://schemas.openxmlformats.org/drawingml/2006/main">
          <a:graphicData uri="http://schemas.openxmlformats.org/drawingml/2006/table">
            <a:tbl>
              <a:tblPr firstRow="1" firstCol="0" bandRow="1">
                <a:tableStyleId>{5C22544A-7EE6-4342-B048-85BDC9FD1C3A}</a:tableStyleId>
              </a:tblPr>
              <a:tblGrid>
                <a:gridCol w="2095500"/>
                <a:gridCol w="1905000"/>
                <a:gridCol w="3143250"/>
                <a:gridCol w="3714750"/>
              </a:tblGrid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Données</a:t>
                      </a:r>
                    </a:p>
                  </a:txBody>
                  <a:tcPr marL="91440" marR="91440" marT="45720" marB="45720"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Modèle</a:t>
                      </a:r>
                    </a:p>
                  </a:txBody>
                  <a:tcPr marL="91440" marR="91440" marT="45720" marB="45720"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Résultat retenu</a:t>
                      </a:r>
                    </a:p>
                  </a:txBody>
                  <a:tcPr marL="91440" marR="91440" marT="45720" marB="45720"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Limite principale</a:t>
                      </a:r>
                    </a:p>
                  </a:txBody>
                  <a:tcPr marL="91440" marR="91440" marT="45720" marB="45720">
                    <a:solidFill>
                      <a:srgbClr val="0D203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Titanic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MLP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80,4 % accuracy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Rappel survivant : 58,0 %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Fashion-MNIST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CNN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91,3 % accuracy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Chemise : F1 de 0,729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Victor Hugo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SimpleRNN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4,12 % top-1 connu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Sous la baseline à 5,52 %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Victor Hugo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LSTM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4,31 % top-1 connu 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238"/>
                          </a:solidFill>
                          <a:latin typeface="Aptos"/>
                          <a:ea typeface="Aptos"/>
                          <a:cs typeface="Aptos"/>
                        </a:rPr>
                        <a:t>Perte globale de validation plus forte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8384D-2BA9-4FD7-8A72-FF49C943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 i="0">
                <a:solidFill>
                  <a:srgbClr val="D5A62E"/>
                </a:solidFill>
              </a:defRPr>
            </a:defPPr>
            <a:lvl1pPr algn="ctr">
              <a:defRPr sz="2550" b="1" i="0">
                <a:solidFill>
                  <a:srgbClr val="D5A62E"/>
                </a:solidFill>
              </a:defRPr>
            </a:lvl1pPr>
            <a:lvl2pPr algn="ctr">
              <a:defRPr sz="2550" b="1" i="0">
                <a:solidFill>
                  <a:srgbClr val="D5A62E"/>
                </a:solidFill>
              </a:defRPr>
            </a:lvl2pPr>
            <a:lvl3pPr algn="ctr">
              <a:defRPr sz="2550" b="1" i="0">
                <a:solidFill>
                  <a:srgbClr val="D5A62E"/>
                </a:solidFill>
              </a:defRPr>
            </a:lvl3pPr>
            <a:lvl4pPr algn="ctr">
              <a:defRPr sz="2550" b="1" i="0">
                <a:solidFill>
                  <a:srgbClr val="D5A62E"/>
                </a:solidFill>
              </a:defRPr>
            </a:lvl4pPr>
            <a:lvl5pPr algn="ctr">
              <a:defRPr sz="2550" b="1" i="0">
                <a:solidFill>
                  <a:srgbClr val="D5A62E"/>
                </a:solidFill>
              </a:defRPr>
            </a:lvl5pPr>
            <a:lvl6pPr algn="ctr">
              <a:defRPr sz="2550" b="1" i="0">
                <a:solidFill>
                  <a:srgbClr val="D5A62E"/>
                </a:solidFill>
              </a:defRPr>
            </a:lvl6pPr>
            <a:lvl7pPr algn="ctr">
              <a:defRPr sz="2550" b="1" i="0">
                <a:solidFill>
                  <a:srgbClr val="D5A62E"/>
                </a:solidFill>
              </a:defRPr>
            </a:lvl7pPr>
            <a:lvl8pPr algn="ctr">
              <a:defRPr sz="2550" b="1" i="0">
                <a:solidFill>
                  <a:srgbClr val="D5A62E"/>
                </a:solidFill>
              </a:defRPr>
            </a:lvl8pPr>
            <a:lvl9pPr algn="ctr">
              <a:defRPr sz="2550" b="1" i="0">
                <a:solidFill>
                  <a:srgbClr val="D5A62E"/>
                </a:solidFill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D5A62E"/>
                </a:solidFill>
              </a:defRPr>
            </a:pPr>
            <a:r>
              <a:rPr sz="2550" b="1" i="0">
                <a:solidFill>
                  <a:srgbClr val="D5A62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C5E3F-BC13-4002-A8B9-62C8D914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132238"/>
                </a:solidFill>
              </a:defRPr>
            </a:defPPr>
            <a:lvl1pPr algn="l">
              <a:defRPr sz="1575" b="1" i="0">
                <a:solidFill>
                  <a:srgbClr val="132238"/>
                </a:solidFill>
              </a:defRPr>
            </a:lvl1pPr>
            <a:lvl2pPr algn="l">
              <a:defRPr sz="1575" b="1" i="0">
                <a:solidFill>
                  <a:srgbClr val="132238"/>
                </a:solidFill>
              </a:defRPr>
            </a:lvl2pPr>
            <a:lvl3pPr algn="l">
              <a:defRPr sz="1575" b="1" i="0">
                <a:solidFill>
                  <a:srgbClr val="132238"/>
                </a:solidFill>
              </a:defRPr>
            </a:lvl3pPr>
            <a:lvl4pPr algn="l">
              <a:defRPr sz="1575" b="1" i="0">
                <a:solidFill>
                  <a:srgbClr val="132238"/>
                </a:solidFill>
              </a:defRPr>
            </a:lvl4pPr>
            <a:lvl5pPr algn="l">
              <a:defRPr sz="1575" b="1" i="0">
                <a:solidFill>
                  <a:srgbClr val="132238"/>
                </a:solidFill>
              </a:defRPr>
            </a:lvl5pPr>
            <a:lvl6pPr algn="l">
              <a:defRPr sz="1575" b="1" i="0">
                <a:solidFill>
                  <a:srgbClr val="132238"/>
                </a:solidFill>
              </a:defRPr>
            </a:lvl6pPr>
            <a:lvl7pPr algn="l">
              <a:defRPr sz="1575" b="1" i="0">
                <a:solidFill>
                  <a:srgbClr val="132238"/>
                </a:solidFill>
              </a:defRPr>
            </a:lvl7pPr>
            <a:lvl8pPr algn="l">
              <a:defRPr sz="1575" b="1" i="0">
                <a:solidFill>
                  <a:srgbClr val="132238"/>
                </a:solidFill>
              </a:defRPr>
            </a:lvl8pPr>
            <a:lvl9pPr algn="l">
              <a:defRPr sz="1575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32238"/>
                </a:solidFill>
              </a:defRPr>
            </a:pPr>
            <a:r>
              <a:rPr sz="1575" b="1" i="0">
                <a:solidFill>
                  <a:srgbClr val="132238"/>
                </a:solidFill>
              </a:rPr>
              <a:t>Séparer avant de préparer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88808-9C6B-4979-A630-C5E60678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 i="0">
                <a:solidFill>
                  <a:srgbClr val="D5A62E"/>
                </a:solidFill>
              </a:defRPr>
            </a:defPPr>
            <a:lvl1pPr algn="ctr">
              <a:defRPr sz="2550" b="1" i="0">
                <a:solidFill>
                  <a:srgbClr val="D5A62E"/>
                </a:solidFill>
              </a:defRPr>
            </a:lvl1pPr>
            <a:lvl2pPr algn="ctr">
              <a:defRPr sz="2550" b="1" i="0">
                <a:solidFill>
                  <a:srgbClr val="D5A62E"/>
                </a:solidFill>
              </a:defRPr>
            </a:lvl2pPr>
            <a:lvl3pPr algn="ctr">
              <a:defRPr sz="2550" b="1" i="0">
                <a:solidFill>
                  <a:srgbClr val="D5A62E"/>
                </a:solidFill>
              </a:defRPr>
            </a:lvl3pPr>
            <a:lvl4pPr algn="ctr">
              <a:defRPr sz="2550" b="1" i="0">
                <a:solidFill>
                  <a:srgbClr val="D5A62E"/>
                </a:solidFill>
              </a:defRPr>
            </a:lvl4pPr>
            <a:lvl5pPr algn="ctr">
              <a:defRPr sz="2550" b="1" i="0">
                <a:solidFill>
                  <a:srgbClr val="D5A62E"/>
                </a:solidFill>
              </a:defRPr>
            </a:lvl5pPr>
            <a:lvl6pPr algn="ctr">
              <a:defRPr sz="2550" b="1" i="0">
                <a:solidFill>
                  <a:srgbClr val="D5A62E"/>
                </a:solidFill>
              </a:defRPr>
            </a:lvl6pPr>
            <a:lvl7pPr algn="ctr">
              <a:defRPr sz="2550" b="1" i="0">
                <a:solidFill>
                  <a:srgbClr val="D5A62E"/>
                </a:solidFill>
              </a:defRPr>
            </a:lvl7pPr>
            <a:lvl8pPr algn="ctr">
              <a:defRPr sz="2550" b="1" i="0">
                <a:solidFill>
                  <a:srgbClr val="D5A62E"/>
                </a:solidFill>
              </a:defRPr>
            </a:lvl8pPr>
            <a:lvl9pPr algn="ctr">
              <a:defRPr sz="2550" b="1" i="0">
                <a:solidFill>
                  <a:srgbClr val="D5A62E"/>
                </a:solidFill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D5A62E"/>
                </a:solidFill>
              </a:defRPr>
            </a:pPr>
            <a:r>
              <a:rPr sz="2550" b="1" i="0">
                <a:solidFill>
                  <a:srgbClr val="D5A62E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A3E91-8F50-4EB7-8A94-F71C0542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0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132238"/>
                </a:solidFill>
              </a:defRPr>
            </a:defPPr>
            <a:lvl1pPr algn="l">
              <a:defRPr sz="1575" b="1" i="0">
                <a:solidFill>
                  <a:srgbClr val="132238"/>
                </a:solidFill>
              </a:defRPr>
            </a:lvl1pPr>
            <a:lvl2pPr algn="l">
              <a:defRPr sz="1575" b="1" i="0">
                <a:solidFill>
                  <a:srgbClr val="132238"/>
                </a:solidFill>
              </a:defRPr>
            </a:lvl2pPr>
            <a:lvl3pPr algn="l">
              <a:defRPr sz="1575" b="1" i="0">
                <a:solidFill>
                  <a:srgbClr val="132238"/>
                </a:solidFill>
              </a:defRPr>
            </a:lvl3pPr>
            <a:lvl4pPr algn="l">
              <a:defRPr sz="1575" b="1" i="0">
                <a:solidFill>
                  <a:srgbClr val="132238"/>
                </a:solidFill>
              </a:defRPr>
            </a:lvl4pPr>
            <a:lvl5pPr algn="l">
              <a:defRPr sz="1575" b="1" i="0">
                <a:solidFill>
                  <a:srgbClr val="132238"/>
                </a:solidFill>
              </a:defRPr>
            </a:lvl5pPr>
            <a:lvl6pPr algn="l">
              <a:defRPr sz="1575" b="1" i="0">
                <a:solidFill>
                  <a:srgbClr val="132238"/>
                </a:solidFill>
              </a:defRPr>
            </a:lvl6pPr>
            <a:lvl7pPr algn="l">
              <a:defRPr sz="1575" b="1" i="0">
                <a:solidFill>
                  <a:srgbClr val="132238"/>
                </a:solidFill>
              </a:defRPr>
            </a:lvl7pPr>
            <a:lvl8pPr algn="l">
              <a:defRPr sz="1575" b="1" i="0">
                <a:solidFill>
                  <a:srgbClr val="132238"/>
                </a:solidFill>
              </a:defRPr>
            </a:lvl8pPr>
            <a:lvl9pPr algn="l">
              <a:defRPr sz="1575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32238"/>
                </a:solidFill>
              </a:defRPr>
            </a:pPr>
            <a:r>
              <a:rPr sz="1575" b="1" i="0">
                <a:solidFill>
                  <a:srgbClr val="132238"/>
                </a:solidFill>
              </a:rPr>
              <a:t>Choisir avec la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9B5D4-4B78-43F8-9A37-2F7501FC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 i="0">
                <a:solidFill>
                  <a:srgbClr val="D5A62E"/>
                </a:solidFill>
              </a:defRPr>
            </a:defPPr>
            <a:lvl1pPr algn="ctr">
              <a:defRPr sz="2550" b="1" i="0">
                <a:solidFill>
                  <a:srgbClr val="D5A62E"/>
                </a:solidFill>
              </a:defRPr>
            </a:lvl1pPr>
            <a:lvl2pPr algn="ctr">
              <a:defRPr sz="2550" b="1" i="0">
                <a:solidFill>
                  <a:srgbClr val="D5A62E"/>
                </a:solidFill>
              </a:defRPr>
            </a:lvl2pPr>
            <a:lvl3pPr algn="ctr">
              <a:defRPr sz="2550" b="1" i="0">
                <a:solidFill>
                  <a:srgbClr val="D5A62E"/>
                </a:solidFill>
              </a:defRPr>
            </a:lvl3pPr>
            <a:lvl4pPr algn="ctr">
              <a:defRPr sz="2550" b="1" i="0">
                <a:solidFill>
                  <a:srgbClr val="D5A62E"/>
                </a:solidFill>
              </a:defRPr>
            </a:lvl4pPr>
            <a:lvl5pPr algn="ctr">
              <a:defRPr sz="2550" b="1" i="0">
                <a:solidFill>
                  <a:srgbClr val="D5A62E"/>
                </a:solidFill>
              </a:defRPr>
            </a:lvl5pPr>
            <a:lvl6pPr algn="ctr">
              <a:defRPr sz="2550" b="1" i="0">
                <a:solidFill>
                  <a:srgbClr val="D5A62E"/>
                </a:solidFill>
              </a:defRPr>
            </a:lvl6pPr>
            <a:lvl7pPr algn="ctr">
              <a:defRPr sz="2550" b="1" i="0">
                <a:solidFill>
                  <a:srgbClr val="D5A62E"/>
                </a:solidFill>
              </a:defRPr>
            </a:lvl7pPr>
            <a:lvl8pPr algn="ctr">
              <a:defRPr sz="2550" b="1" i="0">
                <a:solidFill>
                  <a:srgbClr val="D5A62E"/>
                </a:solidFill>
              </a:defRPr>
            </a:lvl8pPr>
            <a:lvl9pPr algn="ctr">
              <a:defRPr sz="2550" b="1" i="0">
                <a:solidFill>
                  <a:srgbClr val="D5A62E"/>
                </a:solidFill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D5A62E"/>
                </a:solidFill>
              </a:defRPr>
            </a:pPr>
            <a:r>
              <a:rPr sz="2550" b="1" i="0">
                <a:solidFill>
                  <a:srgbClr val="D5A62E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7A93B-48AA-4427-B900-17760B85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132238"/>
                </a:solidFill>
              </a:defRPr>
            </a:defPPr>
            <a:lvl1pPr algn="l">
              <a:defRPr sz="1575" b="1" i="0">
                <a:solidFill>
                  <a:srgbClr val="132238"/>
                </a:solidFill>
              </a:defRPr>
            </a:lvl1pPr>
            <a:lvl2pPr algn="l">
              <a:defRPr sz="1575" b="1" i="0">
                <a:solidFill>
                  <a:srgbClr val="132238"/>
                </a:solidFill>
              </a:defRPr>
            </a:lvl2pPr>
            <a:lvl3pPr algn="l">
              <a:defRPr sz="1575" b="1" i="0">
                <a:solidFill>
                  <a:srgbClr val="132238"/>
                </a:solidFill>
              </a:defRPr>
            </a:lvl3pPr>
            <a:lvl4pPr algn="l">
              <a:defRPr sz="1575" b="1" i="0">
                <a:solidFill>
                  <a:srgbClr val="132238"/>
                </a:solidFill>
              </a:defRPr>
            </a:lvl4pPr>
            <a:lvl5pPr algn="l">
              <a:defRPr sz="1575" b="1" i="0">
                <a:solidFill>
                  <a:srgbClr val="132238"/>
                </a:solidFill>
              </a:defRPr>
            </a:lvl5pPr>
            <a:lvl6pPr algn="l">
              <a:defRPr sz="1575" b="1" i="0">
                <a:solidFill>
                  <a:srgbClr val="132238"/>
                </a:solidFill>
              </a:defRPr>
            </a:lvl6pPr>
            <a:lvl7pPr algn="l">
              <a:defRPr sz="1575" b="1" i="0">
                <a:solidFill>
                  <a:srgbClr val="132238"/>
                </a:solidFill>
              </a:defRPr>
            </a:lvl7pPr>
            <a:lvl8pPr algn="l">
              <a:defRPr sz="1575" b="1" i="0">
                <a:solidFill>
                  <a:srgbClr val="132238"/>
                </a:solidFill>
              </a:defRPr>
            </a:lvl8pPr>
            <a:lvl9pPr algn="l">
              <a:defRPr sz="1575" b="1" i="0">
                <a:solidFill>
                  <a:srgbClr val="132238"/>
                </a:solidFill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32238"/>
                </a:solidFill>
              </a:defRPr>
            </a:pPr>
            <a:r>
              <a:rPr sz="1575" b="1" i="0">
                <a:solidFill>
                  <a:srgbClr val="132238"/>
                </a:solidFill>
              </a:rPr>
              <a:t>Ouvrir le test une seule fois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1A2EB-8AC2-4AE7-B069-A3DD8573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 i="0">
                <a:solidFill>
                  <a:srgbClr val="0D2035"/>
                </a:solidFill>
              </a:defRPr>
            </a:defPPr>
            <a:lvl1pPr algn="ctr">
              <a:defRPr sz="1725" b="1" i="0">
                <a:solidFill>
                  <a:srgbClr val="0D2035"/>
                </a:solidFill>
              </a:defRPr>
            </a:lvl1pPr>
            <a:lvl2pPr algn="ctr">
              <a:defRPr sz="1725" b="1" i="0">
                <a:solidFill>
                  <a:srgbClr val="0D2035"/>
                </a:solidFill>
              </a:defRPr>
            </a:lvl2pPr>
            <a:lvl3pPr algn="ctr">
              <a:defRPr sz="1725" b="1" i="0">
                <a:solidFill>
                  <a:srgbClr val="0D2035"/>
                </a:solidFill>
              </a:defRPr>
            </a:lvl3pPr>
            <a:lvl4pPr algn="ctr">
              <a:defRPr sz="1725" b="1" i="0">
                <a:solidFill>
                  <a:srgbClr val="0D2035"/>
                </a:solidFill>
              </a:defRPr>
            </a:lvl4pPr>
            <a:lvl5pPr algn="ctr">
              <a:defRPr sz="1725" b="1" i="0">
                <a:solidFill>
                  <a:srgbClr val="0D2035"/>
                </a:solidFill>
              </a:defRPr>
            </a:lvl5pPr>
            <a:lvl6pPr algn="ctr">
              <a:defRPr sz="1725" b="1" i="0">
                <a:solidFill>
                  <a:srgbClr val="0D2035"/>
                </a:solidFill>
              </a:defRPr>
            </a:lvl6pPr>
            <a:lvl7pPr algn="ctr">
              <a:defRPr sz="1725" b="1" i="0">
                <a:solidFill>
                  <a:srgbClr val="0D2035"/>
                </a:solidFill>
              </a:defRPr>
            </a:lvl7pPr>
            <a:lvl8pPr algn="ctr">
              <a:defRPr sz="1725" b="1" i="0">
                <a:solidFill>
                  <a:srgbClr val="0D2035"/>
                </a:solidFill>
              </a:defRPr>
            </a:lvl8pPr>
            <a:lvl9pPr algn="ctr">
              <a:defRPr sz="1725" b="1" i="0">
                <a:solidFill>
                  <a:srgbClr val="0D2035"/>
                </a:solidFill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0D2035"/>
                </a:solidFill>
              </a:defRPr>
            </a:pPr>
            <a:r>
              <a:rPr sz="1725" b="1" i="0">
                <a:solidFill>
                  <a:srgbClr val="0D2035"/>
                </a:solidFill>
              </a:rPr>
              <a:t>Les courbes signalent le surapprentissage. Les matrices de confusion et les baselines expliquent ensuite où le modèle réussit ou échoue.</a:t>
            </a:r>
          </a:p>
        </p:txBody>
      </p:sp>
    </p:spTree>
    <p:extLst>
      <p:ext uri="{BB962C8B-B14F-4D97-AF65-F5344CB8AC3E}">
        <p14:creationId xmlns:p14="http://schemas.microsoft.com/office/powerpoint/2010/main" val="126024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2026-10-20T09:21:32.7450000Z</dcterms:created>
  <dcterms:modified xsi:type="dcterms:W3CDTF">2026-10-20T09:21:32.7450000Z</dcterms:modified>
</coreProperties>
</file>